
<file path=[Content_Types].xml><?xml version="1.0" encoding="utf-8"?>
<Types xmlns="http://schemas.openxmlformats.org/package/2006/content-types">
  <Default Extension="jpg" ContentType="image/jpeg"/>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Guten Tag. Mein Name ist Alex Urban, ich bin Auszubildender zum Industriekaufmann bei der METALLART Treppen GmbH in Salach, mein Einsatzgebiet ist der Einkauf.
Ich stelle Ihnen heute die Beschaffung von Grobblechen für unsere Laserfertigung vor, den Vorgang AF-103134-2000 vom August. Interessant ist er, weil das rechnerisch günstigste Angebot am Ende genau das war, das wir nicht bestellen konnten, und weil uns mitten im Vorgang ein Lieferant ausgefallen ist.
[ca. 0:35]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zum Betrieb, damit Sie den Vorgang einordnen können.
Die METALLART Treppen GmbH in Salach fertigt Treppen und Metallbaukonstruktionen. Das Bild rechts zeigt, wie so etwas am Ende aussieht.
Für die Fertigung brauchen wir laufend Rohmaterial, unter anderem warmgewalzte Grobbleche aus S235JR. Die gehen an unser Werk III in Süßen, dort schneidet der Laser die Teile zu.
Ich arbeite im Einkauf und beschaffe genau dieses Rohmaterial: Ich werte die Materialanforderungen aus, hole Angebote ein, vergleiche sie, löse die Bestellungen aus und verfolge sie bis zur Rechnungsprüfung. Genau dieser Ablauf ist meine Fachaufgabe.
[ca.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 10. August erreichten den Einkauf sechs Materialanforderungen unseres Laserteams. Die erzeugt unsere Plattenverwaltung automatisch aus der Rohplatten-Datenbank, mit Lagerbestand, Meldebestand und Reservierungen.
Bei fünf Artikeln war noch Restbestand da, dort war jeweils ein Paket nachzubestellen. Ein Paket ist die Verpackungseinheit des Lieferanten und enthält je nach Blech unterschiedlich viele Tafeln.
Kritisch war die sechste Position, das Blech 15 Millimeter im Maxiformat: null Tafeln auf Lager, gleichzeitig fünf Tafeln fest reserviert für einen Auftrag in Kalenderwoche 34. Weil ein Paket bei diesem Blech drei Tafeln enthält, habe ich zwei Pakete angefragt, also sechs Tafeln mit zusammen 5.652 Kilogramm.
Dazu kommt die Wiederbeschaffungszeit von sieben Tagen. Der Meldebestand steht bei allen sechs Artikeln auf null, der Bedarf wird also erst gemeldet, wenn das Lager schon leer ist. Diese Position stand damit von Anfang an unter Zeitdruck, und das erklärt später, warum ein Angebot mit zwei Wochen Lieferzeit ausgeschieden ist.
[ca. 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zugrunde liegende Geschäftsprozess ist unser Standardablauf im Einkauf, wie hier dargestellt, und wiederholt sich regelmäßig. Der Schwerpunkt meiner Fachaufgabe liegt bei den drei dunkel markierten Schritten.
Unten sehen Sie die Schnittstellen. Vorgelagert das Laserteam als Bedarfsträger und die Plattenverwaltung. Im Einkauf gibt die Einkaufsleitung jede Bestellung einzeln frei, auch die später stornierte. Nachgelagert der Wareneingang in Werk III, der Ware und Prüfbescheinigungen kontrolliert, und die Buchhaltung, die die Rechnung gegen Bestellung, Auftragsbestätigung und Lieferschein prüft.
[ca. 0:40]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Noch am selben Tag ging die Anfrage AF-103134-2000 über sieben Positionen an fünf Stahlhändler, mit Wunschtermin 13. August. Vier haben am selben Tag geantwortet, Sülzle Hagmeyer nicht.
Drei Punkte waren für die Bewertung wichtig.
Erstens waren alle Angebote ausdrücklich freibleibend, bei Klöckner sogar mit dem Zusatz Zwischenverkauf vorbehalten. Ein freibleibendes Angebot ist keine verbindliche Zusage. Der Vertrag kommt erst mit der Auftragsbestätigung zustande. Dieser Punkt wird gleich noch wichtig.
Zweitens die Versandbedingungen. Unsere Anfrage geht mit der Lieferbedingung ab Werk raus, die Fracht ist also nicht Teil des Materialpreises. Jeder Händler nennt dann seine eigenen Frachtkosten und Zuschläge, und die sind sehr unterschiedlich.
Drittens die Zeugnisart. Die Anfrage nennt in Position sieben „Werkszeugnisse / Abnahmeprüfzeugnis 3.1“ über sechs Stück, also eine Bescheinigung je Blechposition. Die Position nennt damit beide Stufen nebeneinander, und welche wirklich gebraucht wird, hängt vom Bauteil ab.
[ca. 1:05]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vier Angebote habe ich positionsweise in unseren Preisspiegel eingetragen.
Entscheidend ist die Vergleichsmenge. Der Preisspiegel rechnet jede Position auf genau ein Paket um und weist das in Tafeln und Kilogramm aus. Beim Blech 8 Millimeter sind das zum Beispiel acht Tafeln mit 2.260,8 Kilogramm. Ohne diese Umrechnung würde ich Mengen vergleichen und nicht Preise, denn jeder Händler bietet eine etwas andere Menge an.
Hier sehen Sie die Summe der fünf Positionen, bei denen noch Restbestand vorhanden war, für jeden der vier Anbieter.
[ca. 0:40]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Klöckner liegt mit 9.451,87 Euro vorn, und zwar nicht nur in der Summe, sondern bei jeder einzelnen der fünf Positionen. Zum zweitbesten Anbieter sind es 359,49 Euro Unterschied, also 3,7 Prozent, zum teuersten 703,89 Euro.</a:t>
            </a:r>
          </a:p>
          <a:p/>
          <a:p>
            <a:r>
              <a:t>Vier dieser Positionen sind sofort gebündelt an Klöckner gegangen. Das Blech 8 mm ist zunächst zusammen mit dem Blech 15 mm bei Spaeter bestellt worden und kam erst nach der Stornierung ebenfalls zu Klöckner. Warum, sehen Sie auf Folie elf.</a:t>
            </a:r>
          </a:p>
          <a:p/>
          <a:p>
            <a:r>
              <a:t>Bei der sechsten Position, dem Blech 15 Millimeter, hat mir der Preisspiegel dagegen nicht weitergeholfen. Warum, sehen Sie auf der nächsten Folie.</a:t>
            </a:r>
          </a:p>
          <a:p/>
          <a:p>
            <a:r>
              <a:t>[ca. 0:40]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damit sind wir beim fachlichen Kern. Angefragt war Blech 15 Millimeter aus S235JR, gebeizt und geölt. Gebeizt heißt, dass die Zunderschicht aus dem Warmwalzen chemisch entfernt und die Oberfläche anschließend leicht geölt wird. Genau diese Ausführung brauchen wir für den Zuschnitt.
Walzblau bedeutet, dass diese Zunderschicht noch drauf ist. Das Material ist deutlich billiger, für uns aber nicht verwendbar. Güte und Maße sind identisch, die Oberfläche nicht. Deshalb sind das zwei verschiedene Waren und keine vergleichbaren Angebote.
Beim Durchsehen ist mir aufgefallen, dass drei der vier Angebote genau an dieser einen Position abweichen. Klöckner vermerkt alternativ in walzblau, und im Artikeltext fehlt der Zusatz gebeizt und geölt, den alle anderen Klöckner-Positionen tragen. Salzgitter schreibt es ausdrücklich hin: Achtung, walzblau, nicht gebeizt und gefettet. Und bei Lotter fehlen an dieser einen Position der Artikelzusatz GEB und der Vermerk geb.gef., den alle übrigen Lotter-Positionen haben.
Am Preis sieht man das nicht. Das steht nur im Text des Angebots.
[ca.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der Vergleich für diese eine Position, und zwar so, wie er im Preisspiegel steht.
Klöckner war mit 870 Euro je Tonne mit Abstand am günstigsten, rund 140 Euro je Tonne unter Spaeter. Auf unsere sechs Tafeln sind das etwa 790 Euro. Genau dieses Angebot war aber nicht verwendbar, weil es walzblau ist. Deshalb steht Klöckner im Preisspiegel bei dieser Position mit 0,00 Euro, ebenso Salzgitter.
Der niedrigste dort bewertete Wert kommt von Lotter mit 5.597,98 Euro. Auch den konnte ich nicht nehmen, weil bei Lotter an dieser einen Position der Artikelzusatz GEB und der Vermerk geb.gef. fehlen, die Ausführung also nicht bestätigt war.
Salzgitter hat mir eine Alternative angeboten, nachträglich tafelgebeizt zu 1.250 Euro je Tonne, aber mit rund zwei Wochen Lieferzeit. Damit hätten wir den Termin in Kalenderwoche 34 nicht gehalten.
Übrig blieb aus der Anfrage genau ein Angebot, das gebeizt und geölt ausdrücklich zusagt: Spaeter mit 1.010 Euro je Tonne und Liefertermin 12. August. Der Auftrag ist deshalb dorthin gegangen. Bucher in der letzten Zeile kam erst am Folgetag dazu, dazu gleich mehr.
[ca. 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Ein Punkt, der beim reinen Tonnenpreis untergeht: Die Lieferung kostet bei jedem Händler etwas anderes.</a:t>
            </a:r>
          </a:p>
          <a:p/>
          <a:p>
            <a:r>
              <a:t>Klöckner liefert CPT frachtfrei Süßen und berechnet zusätzlich 95 Euro Fiskalkosten und 35,45 Euro Diesel je Anlieferung. Bucher liefert frei Haus mit 89,80 Euro je Liefertag.</a:t>
            </a:r>
          </a:p>
          <a:p/>
          <a:p>
            <a:r>
              <a:t>Spaeter nennt zwar auch CPT, aber ohne den Zusatz frachtfrei, den Klöckner und Salzgitter führen. In unserem Einkaufssystem ist Spaeter mit der Versandbedingung unfrei hinterlegt, dazu kommt ein Energiekostenzuschlag von 24,50 Euro. Die Fracht steckt bei Spaeter also nicht im Materialpreis. Das deckt sich mit Spaeters eigenen Lieferbedingungen: Frei Haus gilt dort nur, wenn es ausdrücklich vereinbart ist.</a:t>
            </a:r>
          </a:p>
          <a:p/>
          <a:p>
            <a:r>
              <a:t>Wichtig ist: Diese Kosten fallen je Lieferung an, nicht je Position. Eine Lieferung mit nur einer Position trägt sie allein. Das war mein Maßstab, als ich gleich darauf entscheiden musste, wie die Bestellung bei Spaeter aussehen soll.</a:t>
            </a:r>
          </a:p>
          <a:p/>
          <a:p>
            <a:r>
              <a:t>Im Preisspiegel stehen diese Kosten bisher nicht drin, das ist einer meiner Verbesserungsvorschläge.</a:t>
            </a:r>
          </a:p>
          <a:p/>
          <a:p>
            <a:r>
              <a:t>[ca. 1:10]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Am 11. August habe ich die Bestellungen ausgelöst, jede einzeln freigegeben durch die Einkaufsleitung.</a:t>
            </a:r>
          </a:p>
          <a:p/>
          <a:p>
            <a:r>
              <a:t>Bestellt wurde durchgängig auf Grundlage des Werkszeugnisses 2.2. Für unlegierten Baustahl ist das die übliche Stufe, und die Zeugnisposition der Anfrage deckt sie ab. Die vier Positionen mit Restbestand gingen an Klöckner.</a:t>
            </a:r>
          </a:p>
          <a:p/>
          <a:p>
            <a:r>
              <a:t>Das Blech 15 Millimeter konnte nur Spaeter in der geforderten Ausführung liefern, und dort kam noch ein Abnahmeprüfzeugnis 3.1 dazu, weil die Tafeln bereits einem laufenden Auftrag zugeordnet waren. Auf meine Rückfrage zur Bestellung hat Spaeter mitgeteilt, dass diese Position nicht als einzelne Lieferung ausgeführt werden kann, sondern eine weitere Position braucht. Ich habe deshalb geprüft, welche der offenen Positionen sich dafür eignet, und das Blech 8 Millimeter gewählt. Es war bei Spaeter angeboten, der Mehrpreis gegenüber dem günstigsten Angebot lag bei 113,04 Euro, und dem stand gegenüber, dass die festen Kosten einer Lieferung ohnehin angefallen wären.</a:t>
            </a:r>
          </a:p>
          <a:p/>
          <a:p>
            <a:r>
              <a:t>Noch am selben Tag kam die Rückmeldung: Das Blech 15 war zwischen Angebot und Auftrag bereits verkauft. Weil das Angebot freibleibend war, war meine Bestellung rechtlich das Vertragsangebot. Ohne Auftragsbestätigung ist kein Vertrag zustande gekommen, wir hatten also keinen Lieferanspruch. Ich habe storniert und den Grund im System dokumentiert.</a:t>
            </a:r>
          </a:p>
          <a:p/>
          <a:p>
            <a:r>
              <a:t>Danach zwei Schritte. Erstens habe ich sofort telefonisch bei Bucher nach Lagerware gefragt. Bucher hatte sechs Tafeln am Lager und hat 105 Euro je 100 Kilogramm angeboten. Ich habe dann noch einmal angerufen und über den Preis gesprochen: Ausgehandelt habe ich 102 Euro, so steht es auch in der Auftragsbestätigung.</a:t>
            </a:r>
          </a:p>
          <a:p/>
          <a:p>
            <a:r>
              <a:t>Zweitens ist mit der Stornierung der Grund entfallen, das Blech 8 Millimeter bei Spaeter zu bestellen. Ohne das Blech 15 wäre daraus eine einzelne Lieferung geworden. Ich habe die Position deshalb Klöckner zugeordnet, dort 850 statt 900 Euro je Tonne und ohne zusätzliche Fracht.</a:t>
            </a:r>
          </a:p>
          <a:p/>
          <a:p>
            <a:r>
              <a:t>Am 13. und 14. August war die Ware da, der reservierte Auftrag konnte planmäßig bedient werden.</a:t>
            </a:r>
          </a:p>
          <a:p/>
          <a:p>
            <a:r>
              <a:t>[ca. 1:45]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Damit zum wirtschaftlichen Ergebnis. Drei Punkte haben Geld gebracht.
Die Vergabe der fünf Positionen an Klöckner bringt 359,49 Euro gegenüber dem zweitgünstigsten Angebot.
Die Preisverhandlung mit Bucher bringt 172,80 Euro.
Und die Umdisposition des Blechs 8 Millimeter zu Klöckner bringt 113,04 Euro.
[ca. 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 stehen Mehrkosten gegenüber. Die Ersatzbeschaffung war teurer als der stornierte Auftrag, und für die zweite Anlieferung fielen 89,80 Euro Fracht an, zusammen 146,32 Euro. Dabei ist der Wert von Spaeter ein reiner Warenwert ohne Fracht, mit Lieferung wären dort mindestens die 24,50 Euro Energiekostenzuschlag dazugekommen.</a:t>
            </a:r>
          </a:p>
          <a:p/>
          <a:p>
            <a:r>
              <a:t>Ein Hinweis zu den Bezugsgrößen, falls Sie nachrechnen: Die 146,32 Euro und die 113,04 Euro sind auf die einheitliche Vergleichsmenge des Preisspiegels gerechnet. Die 172,80 Euro aus der Verhandlung beziehen sich auf die tatsächlich gelieferten 5.760 Kilogramm; auf die Vergleichsmenge sind es 169,56 Euro.</a:t>
            </a:r>
          </a:p>
          <a:p/>
          <a:p>
            <a:r>
              <a:t>Rechnet man die Einsparung beim Blech 8 dagegen, bleiben unter dem Strich 33,28 Euro Mehrkosten. Dafür war die Ware sofort verfügbar und der Fertigungstermin in Kalenderwoche 34 konnte gehalten werden. Ein Stillstand am Laser hätte ein Vielfaches gekostet.</a:t>
            </a:r>
          </a:p>
          <a:p/>
          <a:p>
            <a:r>
              <a:t>Ein Punkt noch zur Kontrolle der Belege: Die Auftragsbestätigung von Klöckner lag 840,29 Euro über der Bestellung, weil bei zwei Positionen auf volle Pakete aufgerundet und mit den höheren Handelsgewichten gerechnet wurde. Die Rechnung lag nochmals 194,20 Euro darüber, weil nach verwogenem Gewicht abgerechnet wird; darauf weist das Angebot ausdrücklich hin. Das ist durch die Bedingungen gedeckt, ich habe es Position für Position geprüft und freigegeben.</a:t>
            </a:r>
          </a:p>
          <a:p/>
          <a:p>
            <a:r>
              <a:t>[ca. 1:10]</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Mein Fazit besteht aus drei Punkten.
Erstens: Der niedrigste Preis ist keine Entscheidungsgrundlage, solange nicht geprüft ist, ob das Angebot der Anfrage überhaupt entspricht. Genau das war hier der Fall.
Zweitens: Ein freibleibendes Angebot ist keine Liefergarantie. Bei einer Position mit Bestand null würde ich mir die Verfügbarkeit künftig vor der Bestellung bestätigen lassen.
Drittens: In den Gesamtkostenvergleich gehören auch Zeugnis- und Versandkosten, nicht nur der Blechpreis je Position.
Daraus folgen zwei Verbesserungsvorschläge. Erstens eine zusätzliche Spalte im Preisspiegel für Ausführung, Zeugnisart sowie Zeugnis- und Versandkosten. Heute steht in der Zeugniszeile bei Klöckner 0,00 Euro, obwohl das Angebot je Position 15 Euro für das Abnahmeprüfzeugnis 3.1 ausweist. Und zweitens realistische Meldebestände, die sich am Verbrauch während der Wiederbeschaffungszeit orientieren. Dann wäre der Zeitdruck bei dieser Position gar nicht erst entstanden.
[ca. 1:05]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Abschluss der vorgeschriebene Hinweis zur KI-Nutzung. Für die sprachliche Überarbeitung der Texte und die grafische Gestaltung dieser Präsentation habe ich Claude von Anthropic eingesetzt. Der Vorgang selbst und alle Zahlen, Entscheidungen und Bewertungen stammen aus meiner Arbeit im Einkauf und aus den betrieblichen Unterlagen.
Vielen Dank für Ihre Aufmerksamkeit. Gerne beantworte ich Ihre Fragen.
[ca.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63F46"/>
        </a:solidFill>
      </p:bgPr>
    </p:bg>
    <p:spTree>
      <p:nvGrpSpPr>
        <p:cNvPr id="1" name=""/>
        <p:cNvGrpSpPr/>
        <p:nvPr/>
      </p:nvGrpSpPr>
      <p:grpSpPr>
        <a:xfrm>
          <a:off x="0" y="0"/>
          <a:ext cx="0" cy="0"/>
          <a:chOff x="0" y="0"/>
          <a:chExt cx="0" cy="0"/>
        </a:xfrm>
      </p:grpSpPr>
      <p:pic>
        <p:nvPicPr>
          <p:cNvPr id="2" name="Image 0" descr="/home/claude/fachaufgabe/logo.png">    </p:cNvPr>
          <p:cNvPicPr>
            <a:picLocks noChangeAspect="1"/>
          </p:cNvPicPr>
          <p:nvPr/>
        </p:nvPicPr>
        <p:blipFill>
          <a:blip r:embed="rId1"/>
          <a:stretch>
            <a:fillRect/>
          </a:stretch>
        </p:blipFill>
        <p:spPr>
          <a:xfrm>
            <a:off x="566928" y="475488"/>
            <a:ext cx="2331720" cy="581558"/>
          </a:xfrm>
          <a:prstGeom prst="rect">
            <a:avLst/>
          </a:prstGeom>
        </p:spPr>
      </p:pic>
      <p:sp>
        <p:nvSpPr>
          <p:cNvPr id="3" name="Text 0"/>
          <p:cNvSpPr txBox="1"/>
          <p:nvPr/>
        </p:nvSpPr>
        <p:spPr>
          <a:xfrm>
            <a:off x="566928" y="1755648"/>
            <a:ext cx="8010144" cy="219456"/>
          </a:xfrm>
          <a:prstGeom prst="rect">
            <a:avLst/>
          </a:prstGeom>
          <a:noFill/>
          <a:ln/>
        </p:spPr>
        <p:txBody>
          <a:bodyPr wrap="square" lIns="0" tIns="0" rIns="0" bIns="0" rtlCol="0" anchor="ctr"/>
          <a:lstStyle/>
          <a:p>
            <a:pPr indent="0" marL="0">
              <a:buNone/>
            </a:pPr>
            <a:r>
              <a:rPr lang="en-US" sz="1050" b="1" spc="200" kern="0" dirty="0">
                <a:solidFill>
                  <a:srgbClr val="AD9467"/>
                </a:solidFill>
                <a:latin typeface="Calibri" pitchFamily="34" charset="0"/>
                <a:ea typeface="Calibri" pitchFamily="34" charset="-122"/>
                <a:cs typeface="Calibri" pitchFamily="34" charset="-120"/>
              </a:rPr>
              <a:t>FACHAUFGABE IM EINSATZGEBIET EINKAUF</a:t>
            </a:r>
            <a:endParaRPr lang="en-US" sz="1050" dirty="0"/>
          </a:p>
        </p:txBody>
      </p:sp>
      <p:sp>
        <p:nvSpPr>
          <p:cNvPr id="4" name="Text 1"/>
          <p:cNvSpPr txBox="1"/>
          <p:nvPr/>
        </p:nvSpPr>
        <p:spPr>
          <a:xfrm>
            <a:off x="566928" y="2048256"/>
            <a:ext cx="7863840" cy="1188720"/>
          </a:xfrm>
          <a:prstGeom prst="rect">
            <a:avLst/>
          </a:prstGeom>
          <a:noFill/>
          <a:ln/>
        </p:spPr>
        <p:txBody>
          <a:bodyPr wrap="square" lIns="0" tIns="0" rIns="0" bIns="0" rtlCol="0" anchor="ctr"/>
          <a:lstStyle/>
          <a:p>
            <a:pPr indent="0" marL="0">
              <a:lnSpc>
                <a:spcPct val="106000"/>
              </a:lnSpc>
              <a:buNone/>
            </a:pPr>
            <a:r>
              <a:rPr lang="en-US" sz="3800" dirty="0">
                <a:solidFill>
                  <a:srgbClr val="FFFFFF"/>
                </a:solidFill>
                <a:latin typeface="Calibri Light" pitchFamily="34" charset="0"/>
                <a:ea typeface="Calibri Light" pitchFamily="34" charset="-122"/>
                <a:cs typeface="Calibri Light" pitchFamily="34" charset="-120"/>
              </a:rPr>
              <a:t>Beschaffung von Grobblechen</a:t>
            </a:r>
            <a:endParaRPr lang="en-US" sz="3800" dirty="0"/>
          </a:p>
          <a:p>
            <a:pPr indent="0" marL="0">
              <a:lnSpc>
                <a:spcPct val="106000"/>
              </a:lnSpc>
              <a:buNone/>
            </a:pPr>
            <a:r>
              <a:rPr lang="en-US" sz="3800" dirty="0">
                <a:solidFill>
                  <a:srgbClr val="FFFFFF"/>
                </a:solidFill>
                <a:latin typeface="Calibri Light" pitchFamily="34" charset="0"/>
                <a:ea typeface="Calibri Light" pitchFamily="34" charset="-122"/>
                <a:cs typeface="Calibri Light" pitchFamily="34" charset="-120"/>
              </a:rPr>
              <a:t>für die Fertigung</a:t>
            </a:r>
            <a:endParaRPr lang="en-US" sz="3800" dirty="0"/>
          </a:p>
        </p:txBody>
      </p:sp>
      <p:sp>
        <p:nvSpPr>
          <p:cNvPr id="5" name="Shape 2"/>
          <p:cNvSpPr/>
          <p:nvPr/>
        </p:nvSpPr>
        <p:spPr>
          <a:xfrm>
            <a:off x="566928" y="3401568"/>
            <a:ext cx="1371600" cy="18288"/>
          </a:xfrm>
          <a:prstGeom prst="rect">
            <a:avLst/>
          </a:prstGeom>
          <a:solidFill>
            <a:srgbClr val="AD9467"/>
          </a:solidFill>
          <a:ln w="12700">
            <a:solidFill>
              <a:srgbClr val="AD9467"/>
            </a:solidFill>
            <a:prstDash val="solid"/>
          </a:ln>
        </p:spPr>
        <p:txBody>
          <a:bodyPr/>
          <a:p/>
        </p:txBody>
      </p:sp>
      <p:sp>
        <p:nvSpPr>
          <p:cNvPr id="6" name="Text 3"/>
          <p:cNvSpPr txBox="1"/>
          <p:nvPr/>
        </p:nvSpPr>
        <p:spPr>
          <a:xfrm>
            <a:off x="566928" y="3566160"/>
            <a:ext cx="7498080" cy="310896"/>
          </a:xfrm>
          <a:prstGeom prst="rect">
            <a:avLst/>
          </a:prstGeom>
          <a:noFill/>
          <a:ln/>
        </p:spPr>
        <p:txBody>
          <a:bodyPr wrap="square" lIns="0" tIns="0" rIns="0" bIns="0" rtlCol="0" anchor="ctr"/>
          <a:lstStyle/>
          <a:p>
            <a:pPr indent="0" marL="0">
              <a:buNone/>
            </a:pPr>
            <a:r>
              <a:rPr lang="en-US" sz="1400" dirty="0">
                <a:solidFill>
                  <a:srgbClr val="AFB2B5"/>
                </a:solidFill>
                <a:latin typeface="Calibri" pitchFamily="34" charset="0"/>
                <a:ea typeface="Calibri" pitchFamily="34" charset="-122"/>
                <a:cs typeface="Calibri" pitchFamily="34" charset="-120"/>
              </a:rPr>
              <a:t>Angebotsvergleich, Versandbedingungen und Ersatzbeschaffung bei Blech 15 mm</a:t>
            </a:r>
            <a:endParaRPr lang="en-US" sz="1400" dirty="0"/>
          </a:p>
        </p:txBody>
      </p:sp>
      <p:sp>
        <p:nvSpPr>
          <p:cNvPr id="7" name="Text 4"/>
          <p:cNvSpPr txBox="1"/>
          <p:nvPr/>
        </p:nvSpPr>
        <p:spPr>
          <a:xfrm>
            <a:off x="566928" y="4224528"/>
            <a:ext cx="8010144" cy="274320"/>
          </a:xfrm>
          <a:prstGeom prst="rect">
            <a:avLst/>
          </a:prstGeom>
          <a:noFill/>
          <a:ln/>
        </p:spPr>
        <p:txBody>
          <a:bodyPr wrap="square" lIns="0" tIns="0" rIns="0" bIns="0" rtlCol="0" anchor="ctr"/>
          <a:lstStyle/>
          <a:p>
            <a:pPr indent="0" marL="0">
              <a:buNone/>
            </a:pPr>
            <a:r>
              <a:rPr lang="en-US" sz="1150" b="1" dirty="0">
                <a:solidFill>
                  <a:srgbClr val="AD9467"/>
                </a:solidFill>
                <a:latin typeface="Calibri" pitchFamily="34" charset="0"/>
                <a:ea typeface="Calibri" pitchFamily="34" charset="-122"/>
                <a:cs typeface="Calibri" pitchFamily="34" charset="-120"/>
              </a:rPr>
              <a:t>Alex Urban</a:t>
            </a:r>
            <a:pPr indent="0" marL="0">
              <a:buNone/>
            </a:pPr>
            <a:r>
              <a:rPr lang="en-US" sz="1150" dirty="0">
                <a:solidFill>
                  <a:srgbClr val="AFB2B5"/>
                </a:solidFill>
                <a:latin typeface="Calibri" pitchFamily="34" charset="0"/>
                <a:ea typeface="Calibri" pitchFamily="34" charset="-122"/>
                <a:cs typeface="Calibri" pitchFamily="34" charset="-120"/>
              </a:rPr>
              <a:t>   ·   Industriekaufmann   ·   Vorgang AF-103134-2000   ·   Winterprüfung 2026/27</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63F46"/>
        </a:solidFill>
      </p:bgPr>
    </p:bg>
    <p:spTree>
      <p:nvGrpSpPr>
        <p:cNvPr id="1" name=""/>
        <p:cNvGrpSpPr/>
        <p:nvPr/>
      </p:nvGrpSpPr>
      <p:grpSpPr>
        <a:xfrm>
          <a:off x="0" y="0"/>
          <a:ext cx="0" cy="0"/>
          <a:chOff x="0" y="0"/>
          <a:chExt cx="0" cy="0"/>
        </a:xfrm>
      </p:grpSpPr>
      <p:sp>
        <p:nvSpPr>
          <p:cNvPr id="2" name="Text 0"/>
          <p:cNvSpPr txBox="1"/>
          <p:nvPr/>
        </p:nvSpPr>
        <p:spPr>
          <a:xfrm>
            <a:off x="8275320" y="4718304"/>
            <a:ext cx="365760" cy="237744"/>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66928" y="4718304"/>
            <a:ext cx="5943600" cy="237744"/>
          </a:xfrm>
          <a:prstGeom prst="rect">
            <a:avLst/>
          </a:prstGeom>
          <a:noFill/>
          <a:ln/>
        </p:spPr>
        <p:txBody>
          <a:bodyPr wrap="square" lIns="0" tIns="0" rIns="0" bIns="0" rtlCol="0" anchor="ctr"/>
          <a:lstStyle/>
          <a:p>
            <a:pPr indent="0" marL="0">
              <a:buNone/>
            </a:pPr>
            <a:r>
              <a:rPr lang="en-US" sz="900" dirty="0">
                <a:solidFill>
                  <a:srgbClr val="AFB2B5"/>
                </a:solidFill>
                <a:latin typeface="Calibri" pitchFamily="34" charset="0"/>
                <a:ea typeface="Calibri" pitchFamily="34" charset="-122"/>
                <a:cs typeface="Calibri" pitchFamily="34" charset="-120"/>
              </a:rPr>
              <a:t>METALLART Treppen GmbH  ·  Fachaufgabe im Einsatzgebiet  ·  Alex Urban</a:t>
            </a:r>
            <a:endParaRPr lang="en-US" sz="900" dirty="0"/>
          </a:p>
        </p:txBody>
      </p:sp>
      <p:pic>
        <p:nvPicPr>
          <p:cNvPr id="4" name="Image 0" descr="/home/claude/fachaufgabe/panel.jpg">    </p:cNvPr>
          <p:cNvPicPr>
            <a:picLocks noChangeAspect="1"/>
          </p:cNvPicPr>
          <p:nvPr/>
        </p:nvPicPr>
        <p:blipFill>
          <a:blip r:embed="rId1"/>
          <a:stretch>
            <a:fillRect/>
          </a:stretch>
        </p:blipFill>
        <p:spPr>
          <a:xfrm>
            <a:off x="5394960" y="0"/>
            <a:ext cx="3749040" cy="5143500"/>
          </a:xfrm>
          <a:prstGeom prst="rect">
            <a:avLst/>
          </a:prstGeom>
        </p:spPr>
      </p:pic>
      <p:sp>
        <p:nvSpPr>
          <p:cNvPr id="5" name="Shape 2"/>
          <p:cNvSpPr/>
          <p:nvPr/>
        </p:nvSpPr>
        <p:spPr>
          <a:xfrm>
            <a:off x="5394960" y="0"/>
            <a:ext cx="502920" cy="5143500"/>
          </a:xfrm>
          <a:prstGeom prst="rect">
            <a:avLst/>
          </a:prstGeom>
          <a:solidFill>
            <a:srgbClr val="363F46">
              <a:alpha val="65000"/>
            </a:srgbClr>
          </a:solidFill>
          <a:ln w="12700">
            <a:solidFill>
              <a:srgbClr val="363F46"/>
            </a:solidFill>
            <a:prstDash val="solid"/>
          </a:ln>
        </p:spPr>
        <p:txBody>
          <a:bodyPr/>
          <a:p/>
        </p:txBody>
      </p:sp>
      <p:sp>
        <p:nvSpPr>
          <p:cNvPr id="6" name="Text 3"/>
          <p:cNvSpPr txBox="1"/>
          <p:nvPr/>
        </p:nvSpPr>
        <p:spPr>
          <a:xfrm>
            <a:off x="566928" y="365760"/>
            <a:ext cx="8010144" cy="201168"/>
          </a:xfrm>
          <a:prstGeom prst="rect">
            <a:avLst/>
          </a:prstGeom>
          <a:noFill/>
          <a:ln/>
        </p:spPr>
        <p:txBody>
          <a:bodyPr wrap="square" lIns="0" tIns="0" rIns="0" bIns="0" rtlCol="0" anchor="ctr"/>
          <a:lstStyle/>
          <a:p>
            <a:pPr indent="0" marL="0">
              <a:buNone/>
            </a:pPr>
            <a:r>
              <a:rPr lang="en-US" sz="1000" b="1" spc="200" kern="0" dirty="0">
                <a:solidFill>
                  <a:srgbClr val="AD9467"/>
                </a:solidFill>
                <a:latin typeface="Calibri" pitchFamily="34" charset="0"/>
                <a:ea typeface="Calibri" pitchFamily="34" charset="-122"/>
                <a:cs typeface="Calibri" pitchFamily="34" charset="-120"/>
              </a:rPr>
              <a:t>DER AUSBILDUNGSBETRIEB</a:t>
            </a:r>
            <a:endParaRPr lang="en-US" sz="1000" dirty="0"/>
          </a:p>
        </p:txBody>
      </p:sp>
      <p:sp>
        <p:nvSpPr>
          <p:cNvPr id="7" name="Text 4"/>
          <p:cNvSpPr txBox="1"/>
          <p:nvPr/>
        </p:nvSpPr>
        <p:spPr>
          <a:xfrm>
            <a:off x="566928" y="566928"/>
            <a:ext cx="4663440" cy="914400"/>
          </a:xfrm>
          <a:prstGeom prst="rect">
            <a:avLst/>
          </a:prstGeom>
          <a:noFill/>
          <a:ln/>
        </p:spPr>
        <p:txBody>
          <a:bodyPr wrap="square" lIns="0" tIns="0" rIns="0" bIns="0" rtlCol="0" anchor="t"/>
          <a:lstStyle/>
          <a:p>
            <a:pPr indent="0" marL="0">
              <a:buNone/>
            </a:pPr>
            <a:r>
              <a:rPr lang="en-US" sz="2600" dirty="0">
                <a:solidFill>
                  <a:srgbClr val="FFFFFF"/>
                </a:solidFill>
                <a:latin typeface="Calibri Light" pitchFamily="34" charset="0"/>
                <a:ea typeface="Calibri Light" pitchFamily="34" charset="-122"/>
                <a:cs typeface="Calibri Light" pitchFamily="34" charset="-120"/>
              </a:rPr>
              <a:t>METALLART Treppen GmbH</a:t>
            </a:r>
            <a:endParaRPr lang="en-US" sz="2600" dirty="0"/>
          </a:p>
        </p:txBody>
      </p:sp>
      <p:sp>
        <p:nvSpPr>
          <p:cNvPr id="8" name="Shape 5"/>
          <p:cNvSpPr/>
          <p:nvPr/>
        </p:nvSpPr>
        <p:spPr>
          <a:xfrm>
            <a:off x="566928" y="1417320"/>
            <a:ext cx="384048" cy="18288"/>
          </a:xfrm>
          <a:prstGeom prst="rect">
            <a:avLst/>
          </a:prstGeom>
          <a:solidFill>
            <a:srgbClr val="AD9467"/>
          </a:solidFill>
          <a:ln w="12700">
            <a:solidFill>
              <a:srgbClr val="AD9467"/>
            </a:solidFill>
            <a:prstDash val="solid"/>
          </a:ln>
        </p:spPr>
        <p:txBody>
          <a:bodyPr/>
          <a:p/>
        </p:txBody>
      </p:sp>
      <p:sp>
        <p:nvSpPr>
          <p:cNvPr id="9" name="Text 6"/>
          <p:cNvSpPr txBox="1"/>
          <p:nvPr/>
        </p:nvSpPr>
        <p:spPr>
          <a:xfrm>
            <a:off x="566928" y="1508760"/>
            <a:ext cx="4480560" cy="237744"/>
          </a:xfrm>
          <a:prstGeom prst="rect">
            <a:avLst/>
          </a:prstGeom>
          <a:noFill/>
          <a:ln/>
        </p:spPr>
        <p:txBody>
          <a:bodyPr wrap="square" lIns="0" tIns="0" rIns="0" bIns="0" rtlCol="0" anchor="ctr"/>
          <a:lstStyle/>
          <a:p>
            <a:pPr indent="0" marL="0">
              <a:buNone/>
            </a:pPr>
            <a:r>
              <a:rPr lang="en-US" sz="1250" b="1" dirty="0">
                <a:solidFill>
                  <a:srgbClr val="AD9467"/>
                </a:solidFill>
                <a:latin typeface="Calibri" pitchFamily="34" charset="0"/>
                <a:ea typeface="Calibri" pitchFamily="34" charset="-122"/>
                <a:cs typeface="Calibri" pitchFamily="34" charset="-120"/>
              </a:rPr>
              <a:t>Was wir machen</a:t>
            </a:r>
            <a:endParaRPr lang="en-US" sz="1250" dirty="0"/>
          </a:p>
        </p:txBody>
      </p:sp>
      <p:sp>
        <p:nvSpPr>
          <p:cNvPr id="10" name="Text 7"/>
          <p:cNvSpPr txBox="1"/>
          <p:nvPr/>
        </p:nvSpPr>
        <p:spPr>
          <a:xfrm>
            <a:off x="566928" y="1764792"/>
            <a:ext cx="4434840" cy="502920"/>
          </a:xfrm>
          <a:prstGeom prst="rect">
            <a:avLst/>
          </a:prstGeom>
          <a:noFill/>
          <a:ln/>
        </p:spPr>
        <p:txBody>
          <a:bodyPr wrap="square" lIns="0" tIns="0" rIns="0" bIns="0" rtlCol="0" anchor="ctr"/>
          <a:lstStyle/>
          <a:p>
            <a:pPr indent="0" marL="0">
              <a:lnSpc>
                <a:spcPct val="120000"/>
              </a:lnSpc>
              <a:buNone/>
            </a:pPr>
            <a:r>
              <a:rPr lang="en-US" sz="1250" dirty="0">
                <a:solidFill>
                  <a:srgbClr val="AFB2B5"/>
                </a:solidFill>
                <a:latin typeface="Calibri" pitchFamily="34" charset="0"/>
                <a:ea typeface="Calibri" pitchFamily="34" charset="-122"/>
                <a:cs typeface="Calibri" pitchFamily="34" charset="-120"/>
              </a:rPr>
              <a:t>Treppen und Metallbaukonstruktionen, gefertigt in Salach.</a:t>
            </a:r>
            <a:endParaRPr lang="en-US" sz="1250" dirty="0"/>
          </a:p>
        </p:txBody>
      </p:sp>
      <p:sp>
        <p:nvSpPr>
          <p:cNvPr id="11" name="Shape 8"/>
          <p:cNvSpPr/>
          <p:nvPr/>
        </p:nvSpPr>
        <p:spPr>
          <a:xfrm>
            <a:off x="566928" y="2423160"/>
            <a:ext cx="384048" cy="18288"/>
          </a:xfrm>
          <a:prstGeom prst="rect">
            <a:avLst/>
          </a:prstGeom>
          <a:solidFill>
            <a:srgbClr val="AD9467"/>
          </a:solidFill>
          <a:ln w="12700">
            <a:solidFill>
              <a:srgbClr val="AD9467"/>
            </a:solidFill>
            <a:prstDash val="solid"/>
          </a:ln>
        </p:spPr>
        <p:txBody>
          <a:bodyPr/>
          <a:p/>
        </p:txBody>
      </p:sp>
      <p:sp>
        <p:nvSpPr>
          <p:cNvPr id="12" name="Text 9"/>
          <p:cNvSpPr txBox="1"/>
          <p:nvPr/>
        </p:nvSpPr>
        <p:spPr>
          <a:xfrm>
            <a:off x="566928" y="2514600"/>
            <a:ext cx="4480560" cy="237744"/>
          </a:xfrm>
          <a:prstGeom prst="rect">
            <a:avLst/>
          </a:prstGeom>
          <a:noFill/>
          <a:ln/>
        </p:spPr>
        <p:txBody>
          <a:bodyPr wrap="square" lIns="0" tIns="0" rIns="0" bIns="0" rtlCol="0" anchor="ctr"/>
          <a:lstStyle/>
          <a:p>
            <a:pPr indent="0" marL="0">
              <a:buNone/>
            </a:pPr>
            <a:r>
              <a:rPr lang="en-US" sz="1250" b="1" dirty="0">
                <a:solidFill>
                  <a:srgbClr val="AD9467"/>
                </a:solidFill>
                <a:latin typeface="Calibri" pitchFamily="34" charset="0"/>
                <a:ea typeface="Calibri" pitchFamily="34" charset="-122"/>
                <a:cs typeface="Calibri" pitchFamily="34" charset="-120"/>
              </a:rPr>
              <a:t>Wo mein Material hingeht</a:t>
            </a:r>
            <a:endParaRPr lang="en-US" sz="1250" dirty="0"/>
          </a:p>
        </p:txBody>
      </p:sp>
      <p:sp>
        <p:nvSpPr>
          <p:cNvPr id="13" name="Text 10"/>
          <p:cNvSpPr txBox="1"/>
          <p:nvPr/>
        </p:nvSpPr>
        <p:spPr>
          <a:xfrm>
            <a:off x="566928" y="2770632"/>
            <a:ext cx="4434840" cy="502920"/>
          </a:xfrm>
          <a:prstGeom prst="rect">
            <a:avLst/>
          </a:prstGeom>
          <a:noFill/>
          <a:ln/>
        </p:spPr>
        <p:txBody>
          <a:bodyPr wrap="square" lIns="0" tIns="0" rIns="0" bIns="0" rtlCol="0" anchor="ctr"/>
          <a:lstStyle/>
          <a:p>
            <a:pPr indent="0" marL="0">
              <a:lnSpc>
                <a:spcPct val="120000"/>
              </a:lnSpc>
              <a:buNone/>
            </a:pPr>
            <a:r>
              <a:rPr lang="en-US" sz="1250" dirty="0">
                <a:solidFill>
                  <a:srgbClr val="AFB2B5"/>
                </a:solidFill>
                <a:latin typeface="Calibri" pitchFamily="34" charset="0"/>
                <a:ea typeface="Calibri" pitchFamily="34" charset="-122"/>
                <a:cs typeface="Calibri" pitchFamily="34" charset="-120"/>
              </a:rPr>
              <a:t>Werk III in Süßen, dort schneidet der Laser die Grobbleche zu.</a:t>
            </a:r>
            <a:endParaRPr lang="en-US" sz="1250" dirty="0"/>
          </a:p>
        </p:txBody>
      </p:sp>
      <p:sp>
        <p:nvSpPr>
          <p:cNvPr id="14" name="Shape 11"/>
          <p:cNvSpPr/>
          <p:nvPr/>
        </p:nvSpPr>
        <p:spPr>
          <a:xfrm>
            <a:off x="566928" y="3429000"/>
            <a:ext cx="384048" cy="18288"/>
          </a:xfrm>
          <a:prstGeom prst="rect">
            <a:avLst/>
          </a:prstGeom>
          <a:solidFill>
            <a:srgbClr val="AD9467"/>
          </a:solidFill>
          <a:ln w="12700">
            <a:solidFill>
              <a:srgbClr val="AD9467"/>
            </a:solidFill>
            <a:prstDash val="solid"/>
          </a:ln>
        </p:spPr>
        <p:txBody>
          <a:bodyPr/>
          <a:p/>
        </p:txBody>
      </p:sp>
      <p:sp>
        <p:nvSpPr>
          <p:cNvPr id="15" name="Text 12"/>
          <p:cNvSpPr txBox="1"/>
          <p:nvPr/>
        </p:nvSpPr>
        <p:spPr>
          <a:xfrm>
            <a:off x="566928" y="3520440"/>
            <a:ext cx="4480560" cy="237744"/>
          </a:xfrm>
          <a:prstGeom prst="rect">
            <a:avLst/>
          </a:prstGeom>
          <a:noFill/>
          <a:ln/>
        </p:spPr>
        <p:txBody>
          <a:bodyPr wrap="square" lIns="0" tIns="0" rIns="0" bIns="0" rtlCol="0" anchor="ctr"/>
          <a:lstStyle/>
          <a:p>
            <a:pPr indent="0" marL="0">
              <a:buNone/>
            </a:pPr>
            <a:r>
              <a:rPr lang="en-US" sz="1250" b="1" dirty="0">
                <a:solidFill>
                  <a:srgbClr val="AD9467"/>
                </a:solidFill>
                <a:latin typeface="Calibri" pitchFamily="34" charset="0"/>
                <a:ea typeface="Calibri" pitchFamily="34" charset="-122"/>
                <a:cs typeface="Calibri" pitchFamily="34" charset="-120"/>
              </a:rPr>
              <a:t>Wo ich arbeite</a:t>
            </a:r>
            <a:endParaRPr lang="en-US" sz="1250" dirty="0"/>
          </a:p>
        </p:txBody>
      </p:sp>
      <p:sp>
        <p:nvSpPr>
          <p:cNvPr id="16" name="Text 13"/>
          <p:cNvSpPr txBox="1"/>
          <p:nvPr/>
        </p:nvSpPr>
        <p:spPr>
          <a:xfrm>
            <a:off x="566928" y="3776472"/>
            <a:ext cx="4434840" cy="502920"/>
          </a:xfrm>
          <a:prstGeom prst="rect">
            <a:avLst/>
          </a:prstGeom>
          <a:noFill/>
          <a:ln/>
        </p:spPr>
        <p:txBody>
          <a:bodyPr wrap="square" lIns="0" tIns="0" rIns="0" bIns="0" rtlCol="0" anchor="ctr"/>
          <a:lstStyle/>
          <a:p>
            <a:pPr indent="0" marL="0">
              <a:lnSpc>
                <a:spcPct val="120000"/>
              </a:lnSpc>
              <a:buNone/>
            </a:pPr>
            <a:r>
              <a:rPr lang="en-US" sz="1250" dirty="0">
                <a:solidFill>
                  <a:srgbClr val="AFB2B5"/>
                </a:solidFill>
                <a:latin typeface="Calibri" pitchFamily="34" charset="0"/>
                <a:ea typeface="Calibri" pitchFamily="34" charset="-122"/>
                <a:cs typeface="Calibri" pitchFamily="34" charset="-120"/>
              </a:rPr>
              <a:t>Im Einkauf: Anfrage, Angebotsvergleich, Bestellung, Termine, Rechnungsprüfung.</a:t>
            </a:r>
            <a:endParaRPr lang="en-US" sz="1250" dirty="0"/>
          </a:p>
        </p:txBody>
      </p:sp>
      <p:sp>
        <p:nvSpPr>
          <p:cNvPr id="17" name="Text 14"/>
          <p:cNvSpPr txBox="1"/>
          <p:nvPr/>
        </p:nvSpPr>
        <p:spPr>
          <a:xfrm>
            <a:off x="566928" y="4443984"/>
            <a:ext cx="4572000" cy="274320"/>
          </a:xfrm>
          <a:prstGeom prst="rect">
            <a:avLst/>
          </a:prstGeom>
          <a:noFill/>
          <a:ln/>
        </p:spPr>
        <p:txBody>
          <a:bodyPr wrap="square" lIns="0" tIns="0" rIns="0" bIns="0" rtlCol="0" anchor="ctr"/>
          <a:lstStyle/>
          <a:p>
            <a:pPr indent="0" marL="0">
              <a:buNone/>
            </a:pPr>
            <a:r>
              <a:rPr lang="en-US" sz="1100" i="1" dirty="0">
                <a:solidFill>
                  <a:srgbClr val="AFB2B5"/>
                </a:solidFill>
                <a:latin typeface="Calibri" pitchFamily="34" charset="0"/>
                <a:ea typeface="Calibri" pitchFamily="34" charset="-122"/>
                <a:cs typeface="Calibri" pitchFamily="34" charset="-120"/>
              </a:rPr>
              <a:t>Rohmaterial für die Fertigung: warmgewalzte Grobbleche aus S235JR.</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75320" y="4718304"/>
            <a:ext cx="365760" cy="237744"/>
          </a:xfrm>
          <a:prstGeom prst="rect">
            <a:avLst/>
          </a:prstGeom>
          <a:noFill/>
          <a:ln/>
        </p:spPr>
        <p:txBody>
          <a:bodyPr wrap="square" lIns="0" tIns="0" rIns="0" bIns="0" rtlCol="0" anchor="ctr"/>
          <a:lstStyle/>
          <a:p>
            <a:pPr algn="r" indent="0" marL="0">
              <a:buNone/>
            </a:pPr>
            <a:r>
              <a:rPr lang="en-US" sz="1000" dirty="0">
                <a:solidFill>
                  <a:srgbClr val="636A70"/>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66928" y="4718304"/>
            <a:ext cx="5943600" cy="237744"/>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METALLART Treppen GmbH  ·  Fachaufgabe im Einsatzgebiet  ·  Alex Urban</a:t>
            </a:r>
            <a:endParaRPr lang="en-US" sz="900" dirty="0"/>
          </a:p>
        </p:txBody>
      </p:sp>
      <p:sp>
        <p:nvSpPr>
          <p:cNvPr id="4" name="Text 2"/>
          <p:cNvSpPr txBox="1"/>
          <p:nvPr/>
        </p:nvSpPr>
        <p:spPr>
          <a:xfrm>
            <a:off x="566928" y="365760"/>
            <a:ext cx="8010144" cy="201168"/>
          </a:xfrm>
          <a:prstGeom prst="rect">
            <a:avLst/>
          </a:prstGeom>
          <a:noFill/>
          <a:ln/>
        </p:spPr>
        <p:txBody>
          <a:bodyPr wrap="square" lIns="0" tIns="0" rIns="0" bIns="0" rtlCol="0" anchor="ctr"/>
          <a:lstStyle/>
          <a:p>
            <a:pPr indent="0" marL="0">
              <a:buNone/>
            </a:pPr>
            <a:r>
              <a:rPr lang="en-US" sz="1000" b="1" spc="200" kern="0" dirty="0">
                <a:solidFill>
                  <a:srgbClr val="806A45"/>
                </a:solidFill>
                <a:latin typeface="Calibri" pitchFamily="34" charset="0"/>
                <a:ea typeface="Calibri" pitchFamily="34" charset="-122"/>
                <a:cs typeface="Calibri" pitchFamily="34" charset="-120"/>
              </a:rPr>
              <a:t>AUSGANGSSITUATION</a:t>
            </a:r>
            <a:endParaRPr lang="en-US" sz="1000" dirty="0"/>
          </a:p>
        </p:txBody>
      </p:sp>
      <p:sp>
        <p:nvSpPr>
          <p:cNvPr id="5" name="Text 3"/>
          <p:cNvSpPr txBox="1"/>
          <p:nvPr/>
        </p:nvSpPr>
        <p:spPr>
          <a:xfrm>
            <a:off x="566928" y="566928"/>
            <a:ext cx="8010144" cy="914400"/>
          </a:xfrm>
          <a:prstGeom prst="rect">
            <a:avLst/>
          </a:prstGeom>
          <a:noFill/>
          <a:ln/>
        </p:spPr>
        <p:txBody>
          <a:bodyPr wrap="square" lIns="0" tIns="0" rIns="0" bIns="0" rtlCol="0" anchor="t"/>
          <a:lstStyle/>
          <a:p>
            <a:pPr indent="0" marL="0">
              <a:buNone/>
            </a:pPr>
            <a:r>
              <a:rPr lang="en-US" sz="2600" dirty="0">
                <a:solidFill>
                  <a:srgbClr val="363F46"/>
                </a:solidFill>
                <a:latin typeface="Calibri Light" pitchFamily="34" charset="0"/>
                <a:ea typeface="Calibri Light" pitchFamily="34" charset="-122"/>
                <a:cs typeface="Calibri Light" pitchFamily="34" charset="-120"/>
              </a:rPr>
              <a:t>Sechs Anforderungen, eine kritische Position</a:t>
            </a:r>
            <a:endParaRPr lang="en-US" sz="2600" dirty="0"/>
          </a:p>
        </p:txBody>
      </p:sp>
      <p:sp>
        <p:nvSpPr>
          <p:cNvPr id="6" name="Shape 4"/>
          <p:cNvSpPr/>
          <p:nvPr/>
        </p:nvSpPr>
        <p:spPr>
          <a:xfrm>
            <a:off x="566935" y="1298448"/>
            <a:ext cx="1242195" cy="1188720"/>
          </a:xfrm>
          <a:prstGeom prst="roundRect">
            <a:avLst>
              <a:gd name="adj" fmla="val 3846"/>
            </a:avLst>
          </a:prstGeom>
          <a:solidFill>
            <a:srgbClr val="F2F2F2"/>
          </a:solidFill>
          <a:ln w="12700">
            <a:solidFill>
              <a:srgbClr val="F2F2F2"/>
            </a:solidFill>
            <a:prstDash val="solid"/>
          </a:ln>
        </p:spPr>
        <p:txBody>
          <a:bodyPr/>
          <a:p/>
        </p:txBody>
      </p:sp>
      <p:sp>
        <p:nvSpPr>
          <p:cNvPr id="7" name="Text 5"/>
          <p:cNvSpPr txBox="1"/>
          <p:nvPr/>
        </p:nvSpPr>
        <p:spPr>
          <a:xfrm>
            <a:off x="678176" y="1417320"/>
            <a:ext cx="1019712" cy="402336"/>
          </a:xfrm>
          <a:prstGeom prst="rect">
            <a:avLst/>
          </a:prstGeom>
          <a:noFill/>
          <a:ln/>
        </p:spPr>
        <p:txBody>
          <a:bodyPr wrap="square" lIns="0" tIns="0" rIns="0" bIns="0" rtlCol="0" anchor="ctr"/>
          <a:lstStyle/>
          <a:p>
            <a:pPr indent="0" marL="0">
              <a:lnSpc>
                <a:spcPct val="105000"/>
              </a:lnSpc>
              <a:buNone/>
            </a:pPr>
            <a:r>
              <a:rPr lang="en-US" sz="1050" dirty="0">
                <a:solidFill>
                  <a:srgbClr val="5E656B"/>
                </a:solidFill>
                <a:latin typeface="Calibri" pitchFamily="34" charset="0"/>
                <a:ea typeface="Calibri" pitchFamily="34" charset="-122"/>
                <a:cs typeface="Calibri" pitchFamily="34" charset="-120"/>
              </a:rPr>
              <a:t>Blech 5 mm</a:t>
            </a:r>
            <a:endParaRPr lang="en-US" sz="1050" dirty="0"/>
          </a:p>
        </p:txBody>
      </p:sp>
      <p:sp>
        <p:nvSpPr>
          <p:cNvPr id="8" name="Text 6"/>
          <p:cNvSpPr txBox="1"/>
          <p:nvPr/>
        </p:nvSpPr>
        <p:spPr>
          <a:xfrm>
            <a:off x="678176" y="1847088"/>
            <a:ext cx="1019712" cy="402336"/>
          </a:xfrm>
          <a:prstGeom prst="rect">
            <a:avLst/>
          </a:prstGeom>
          <a:noFill/>
          <a:ln/>
        </p:spPr>
        <p:txBody>
          <a:bodyPr wrap="square" lIns="0" tIns="0" rIns="0" bIns="0" rtlCol="0" anchor="ctr"/>
          <a:lstStyle/>
          <a:p>
            <a:pPr indent="0" marL="0">
              <a:buNone/>
            </a:pPr>
            <a:r>
              <a:rPr lang="en-US" sz="2400" dirty="0">
                <a:solidFill>
                  <a:srgbClr val="363F46"/>
                </a:solidFill>
                <a:latin typeface="Calibri Light" pitchFamily="34" charset="0"/>
                <a:ea typeface="Calibri Light" pitchFamily="34" charset="-122"/>
                <a:cs typeface="Calibri Light" pitchFamily="34" charset="-120"/>
              </a:rPr>
              <a:t>34</a:t>
            </a:r>
            <a:endParaRPr lang="en-US" sz="2400" dirty="0"/>
          </a:p>
        </p:txBody>
      </p:sp>
      <p:sp>
        <p:nvSpPr>
          <p:cNvPr id="9" name="Text 7"/>
          <p:cNvSpPr txBox="1"/>
          <p:nvPr/>
        </p:nvSpPr>
        <p:spPr>
          <a:xfrm>
            <a:off x="678176" y="2231136"/>
            <a:ext cx="1019712" cy="182880"/>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Tafeln</a:t>
            </a:r>
            <a:endParaRPr lang="en-US" sz="900" dirty="0"/>
          </a:p>
        </p:txBody>
      </p:sp>
      <p:sp>
        <p:nvSpPr>
          <p:cNvPr id="10" name="Shape 8"/>
          <p:cNvSpPr/>
          <p:nvPr/>
        </p:nvSpPr>
        <p:spPr>
          <a:xfrm>
            <a:off x="1920371" y="1298448"/>
            <a:ext cx="1242195" cy="1188720"/>
          </a:xfrm>
          <a:prstGeom prst="roundRect">
            <a:avLst>
              <a:gd name="adj" fmla="val 3846"/>
            </a:avLst>
          </a:prstGeom>
          <a:solidFill>
            <a:srgbClr val="F2F2F2"/>
          </a:solidFill>
          <a:ln w="12700">
            <a:solidFill>
              <a:srgbClr val="F2F2F2"/>
            </a:solidFill>
            <a:prstDash val="solid"/>
          </a:ln>
        </p:spPr>
        <p:txBody>
          <a:bodyPr/>
          <a:p/>
        </p:txBody>
      </p:sp>
      <p:sp>
        <p:nvSpPr>
          <p:cNvPr id="11" name="Text 9"/>
          <p:cNvSpPr txBox="1"/>
          <p:nvPr/>
        </p:nvSpPr>
        <p:spPr>
          <a:xfrm>
            <a:off x="2031612" y="1417320"/>
            <a:ext cx="1019712" cy="402336"/>
          </a:xfrm>
          <a:prstGeom prst="rect">
            <a:avLst/>
          </a:prstGeom>
          <a:noFill/>
          <a:ln/>
        </p:spPr>
        <p:txBody>
          <a:bodyPr wrap="square" lIns="0" tIns="0" rIns="0" bIns="0" rtlCol="0" anchor="ctr"/>
          <a:lstStyle/>
          <a:p>
            <a:pPr indent="0" marL="0">
              <a:lnSpc>
                <a:spcPct val="105000"/>
              </a:lnSpc>
              <a:buNone/>
            </a:pPr>
            <a:r>
              <a:rPr lang="en-US" sz="1050" dirty="0">
                <a:solidFill>
                  <a:srgbClr val="5E656B"/>
                </a:solidFill>
                <a:latin typeface="Calibri" pitchFamily="34" charset="0"/>
                <a:ea typeface="Calibri" pitchFamily="34" charset="-122"/>
                <a:cs typeface="Calibri" pitchFamily="34" charset="-120"/>
              </a:rPr>
              <a:t>Blech 6 mm</a:t>
            </a:r>
            <a:endParaRPr lang="en-US" sz="1050" dirty="0"/>
          </a:p>
        </p:txBody>
      </p:sp>
      <p:sp>
        <p:nvSpPr>
          <p:cNvPr id="12" name="Text 10"/>
          <p:cNvSpPr txBox="1"/>
          <p:nvPr/>
        </p:nvSpPr>
        <p:spPr>
          <a:xfrm>
            <a:off x="2031612" y="1847088"/>
            <a:ext cx="1019712" cy="402336"/>
          </a:xfrm>
          <a:prstGeom prst="rect">
            <a:avLst/>
          </a:prstGeom>
          <a:noFill/>
          <a:ln/>
        </p:spPr>
        <p:txBody>
          <a:bodyPr wrap="square" lIns="0" tIns="0" rIns="0" bIns="0" rtlCol="0" anchor="ctr"/>
          <a:lstStyle/>
          <a:p>
            <a:pPr indent="0" marL="0">
              <a:buNone/>
            </a:pPr>
            <a:r>
              <a:rPr lang="en-US" sz="2400" dirty="0">
                <a:solidFill>
                  <a:srgbClr val="363F46"/>
                </a:solidFill>
                <a:latin typeface="Calibri Light" pitchFamily="34" charset="0"/>
                <a:ea typeface="Calibri Light" pitchFamily="34" charset="-122"/>
                <a:cs typeface="Calibri Light" pitchFamily="34" charset="-120"/>
              </a:rPr>
              <a:t>7</a:t>
            </a:r>
            <a:endParaRPr lang="en-US" sz="2400" dirty="0"/>
          </a:p>
        </p:txBody>
      </p:sp>
      <p:sp>
        <p:nvSpPr>
          <p:cNvPr id="13" name="Text 11"/>
          <p:cNvSpPr txBox="1"/>
          <p:nvPr/>
        </p:nvSpPr>
        <p:spPr>
          <a:xfrm>
            <a:off x="2031612" y="2231136"/>
            <a:ext cx="1019712" cy="182880"/>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Tafeln</a:t>
            </a:r>
            <a:endParaRPr lang="en-US" sz="900" dirty="0"/>
          </a:p>
        </p:txBody>
      </p:sp>
      <p:sp>
        <p:nvSpPr>
          <p:cNvPr id="14" name="Shape 12"/>
          <p:cNvSpPr/>
          <p:nvPr/>
        </p:nvSpPr>
        <p:spPr>
          <a:xfrm>
            <a:off x="3273807" y="1298448"/>
            <a:ext cx="1242195" cy="1188720"/>
          </a:xfrm>
          <a:prstGeom prst="roundRect">
            <a:avLst>
              <a:gd name="adj" fmla="val 3846"/>
            </a:avLst>
          </a:prstGeom>
          <a:solidFill>
            <a:srgbClr val="F2F2F2"/>
          </a:solidFill>
          <a:ln w="12700">
            <a:solidFill>
              <a:srgbClr val="F2F2F2"/>
            </a:solidFill>
            <a:prstDash val="solid"/>
          </a:ln>
        </p:spPr>
        <p:txBody>
          <a:bodyPr/>
          <a:p/>
        </p:txBody>
      </p:sp>
      <p:sp>
        <p:nvSpPr>
          <p:cNvPr id="15" name="Text 13"/>
          <p:cNvSpPr txBox="1"/>
          <p:nvPr/>
        </p:nvSpPr>
        <p:spPr>
          <a:xfrm>
            <a:off x="3385048" y="1417320"/>
            <a:ext cx="1019712" cy="402336"/>
          </a:xfrm>
          <a:prstGeom prst="rect">
            <a:avLst/>
          </a:prstGeom>
          <a:noFill/>
          <a:ln/>
        </p:spPr>
        <p:txBody>
          <a:bodyPr wrap="square" lIns="0" tIns="0" rIns="0" bIns="0" rtlCol="0" anchor="ctr"/>
          <a:lstStyle/>
          <a:p>
            <a:pPr indent="0" marL="0">
              <a:lnSpc>
                <a:spcPct val="105000"/>
              </a:lnSpc>
              <a:buNone/>
            </a:pPr>
            <a:r>
              <a:rPr lang="en-US" sz="1050" dirty="0">
                <a:solidFill>
                  <a:srgbClr val="5E656B"/>
                </a:solidFill>
                <a:latin typeface="Calibri" pitchFamily="34" charset="0"/>
                <a:ea typeface="Calibri" pitchFamily="34" charset="-122"/>
                <a:cs typeface="Calibri" pitchFamily="34" charset="-120"/>
              </a:rPr>
              <a:t>Blech 8 mm</a:t>
            </a:r>
            <a:endParaRPr lang="en-US" sz="1050" dirty="0"/>
          </a:p>
        </p:txBody>
      </p:sp>
      <p:sp>
        <p:nvSpPr>
          <p:cNvPr id="16" name="Text 14"/>
          <p:cNvSpPr txBox="1"/>
          <p:nvPr/>
        </p:nvSpPr>
        <p:spPr>
          <a:xfrm>
            <a:off x="3385048" y="1847088"/>
            <a:ext cx="1019712" cy="402336"/>
          </a:xfrm>
          <a:prstGeom prst="rect">
            <a:avLst/>
          </a:prstGeom>
          <a:noFill/>
          <a:ln/>
        </p:spPr>
        <p:txBody>
          <a:bodyPr wrap="square" lIns="0" tIns="0" rIns="0" bIns="0" rtlCol="0" anchor="ctr"/>
          <a:lstStyle/>
          <a:p>
            <a:pPr indent="0" marL="0">
              <a:buNone/>
            </a:pPr>
            <a:r>
              <a:rPr lang="en-US" sz="2400" dirty="0">
                <a:solidFill>
                  <a:srgbClr val="363F46"/>
                </a:solidFill>
                <a:latin typeface="Calibri Light" pitchFamily="34" charset="0"/>
                <a:ea typeface="Calibri Light" pitchFamily="34" charset="-122"/>
                <a:cs typeface="Calibri Light" pitchFamily="34" charset="-120"/>
              </a:rPr>
              <a:t>33</a:t>
            </a:r>
            <a:endParaRPr lang="en-US" sz="2400" dirty="0"/>
          </a:p>
        </p:txBody>
      </p:sp>
      <p:sp>
        <p:nvSpPr>
          <p:cNvPr id="17" name="Text 15"/>
          <p:cNvSpPr txBox="1"/>
          <p:nvPr/>
        </p:nvSpPr>
        <p:spPr>
          <a:xfrm>
            <a:off x="3385048" y="2231136"/>
            <a:ext cx="1019712" cy="182880"/>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Tafeln</a:t>
            </a:r>
            <a:endParaRPr lang="en-US" sz="900" dirty="0"/>
          </a:p>
        </p:txBody>
      </p:sp>
      <p:sp>
        <p:nvSpPr>
          <p:cNvPr id="18" name="Shape 16"/>
          <p:cNvSpPr/>
          <p:nvPr/>
        </p:nvSpPr>
        <p:spPr>
          <a:xfrm>
            <a:off x="4627243" y="1298448"/>
            <a:ext cx="1242195" cy="1188720"/>
          </a:xfrm>
          <a:prstGeom prst="roundRect">
            <a:avLst>
              <a:gd name="adj" fmla="val 3846"/>
            </a:avLst>
          </a:prstGeom>
          <a:solidFill>
            <a:srgbClr val="F2F2F2"/>
          </a:solidFill>
          <a:ln w="12700">
            <a:solidFill>
              <a:srgbClr val="F2F2F2"/>
            </a:solidFill>
            <a:prstDash val="solid"/>
          </a:ln>
        </p:spPr>
        <p:txBody>
          <a:bodyPr/>
          <a:p/>
        </p:txBody>
      </p:sp>
      <p:sp>
        <p:nvSpPr>
          <p:cNvPr id="19" name="Text 17"/>
          <p:cNvSpPr txBox="1"/>
          <p:nvPr/>
        </p:nvSpPr>
        <p:spPr>
          <a:xfrm>
            <a:off x="4738484" y="1417320"/>
            <a:ext cx="1019712" cy="402336"/>
          </a:xfrm>
          <a:prstGeom prst="rect">
            <a:avLst/>
          </a:prstGeom>
          <a:noFill/>
          <a:ln/>
        </p:spPr>
        <p:txBody>
          <a:bodyPr wrap="square" lIns="0" tIns="0" rIns="0" bIns="0" rtlCol="0" anchor="ctr"/>
          <a:lstStyle/>
          <a:p>
            <a:pPr indent="0" marL="0">
              <a:lnSpc>
                <a:spcPct val="105000"/>
              </a:lnSpc>
              <a:buNone/>
            </a:pPr>
            <a:r>
              <a:rPr lang="en-US" sz="1050" dirty="0">
                <a:solidFill>
                  <a:srgbClr val="5E656B"/>
                </a:solidFill>
                <a:latin typeface="Calibri" pitchFamily="34" charset="0"/>
                <a:ea typeface="Calibri" pitchFamily="34" charset="-122"/>
                <a:cs typeface="Calibri" pitchFamily="34" charset="-120"/>
              </a:rPr>
              <a:t>Blech 10 mm GF</a:t>
            </a:r>
            <a:endParaRPr lang="en-US" sz="1050" dirty="0"/>
          </a:p>
        </p:txBody>
      </p:sp>
      <p:sp>
        <p:nvSpPr>
          <p:cNvPr id="20" name="Text 18"/>
          <p:cNvSpPr txBox="1"/>
          <p:nvPr/>
        </p:nvSpPr>
        <p:spPr>
          <a:xfrm>
            <a:off x="4738484" y="1847088"/>
            <a:ext cx="1019712" cy="402336"/>
          </a:xfrm>
          <a:prstGeom prst="rect">
            <a:avLst/>
          </a:prstGeom>
          <a:noFill/>
          <a:ln/>
        </p:spPr>
        <p:txBody>
          <a:bodyPr wrap="square" lIns="0" tIns="0" rIns="0" bIns="0" rtlCol="0" anchor="ctr"/>
          <a:lstStyle/>
          <a:p>
            <a:pPr indent="0" marL="0">
              <a:buNone/>
            </a:pPr>
            <a:r>
              <a:rPr lang="en-US" sz="2400" dirty="0">
                <a:solidFill>
                  <a:srgbClr val="363F46"/>
                </a:solidFill>
                <a:latin typeface="Calibri Light" pitchFamily="34" charset="0"/>
                <a:ea typeface="Calibri Light" pitchFamily="34" charset="-122"/>
                <a:cs typeface="Calibri Light" pitchFamily="34" charset="-120"/>
              </a:rPr>
              <a:t>22</a:t>
            </a:r>
            <a:endParaRPr lang="en-US" sz="2400" dirty="0"/>
          </a:p>
        </p:txBody>
      </p:sp>
      <p:sp>
        <p:nvSpPr>
          <p:cNvPr id="21" name="Text 19"/>
          <p:cNvSpPr txBox="1"/>
          <p:nvPr/>
        </p:nvSpPr>
        <p:spPr>
          <a:xfrm>
            <a:off x="4738484" y="2231136"/>
            <a:ext cx="1019712" cy="182880"/>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Tafeln</a:t>
            </a:r>
            <a:endParaRPr lang="en-US" sz="900" dirty="0"/>
          </a:p>
        </p:txBody>
      </p:sp>
      <p:sp>
        <p:nvSpPr>
          <p:cNvPr id="22" name="Shape 20"/>
          <p:cNvSpPr/>
          <p:nvPr/>
        </p:nvSpPr>
        <p:spPr>
          <a:xfrm>
            <a:off x="5980679" y="1298448"/>
            <a:ext cx="1242195" cy="1188720"/>
          </a:xfrm>
          <a:prstGeom prst="roundRect">
            <a:avLst>
              <a:gd name="adj" fmla="val 3846"/>
            </a:avLst>
          </a:prstGeom>
          <a:solidFill>
            <a:srgbClr val="F2F2F2"/>
          </a:solidFill>
          <a:ln w="12700">
            <a:solidFill>
              <a:srgbClr val="F2F2F2"/>
            </a:solidFill>
            <a:prstDash val="solid"/>
          </a:ln>
        </p:spPr>
        <p:txBody>
          <a:bodyPr/>
          <a:p/>
        </p:txBody>
      </p:sp>
      <p:sp>
        <p:nvSpPr>
          <p:cNvPr id="23" name="Text 21"/>
          <p:cNvSpPr txBox="1"/>
          <p:nvPr/>
        </p:nvSpPr>
        <p:spPr>
          <a:xfrm>
            <a:off x="6091921" y="1417320"/>
            <a:ext cx="1019712" cy="402336"/>
          </a:xfrm>
          <a:prstGeom prst="rect">
            <a:avLst/>
          </a:prstGeom>
          <a:noFill/>
          <a:ln/>
        </p:spPr>
        <p:txBody>
          <a:bodyPr wrap="square" lIns="0" tIns="0" rIns="0" bIns="0" rtlCol="0" anchor="ctr"/>
          <a:lstStyle/>
          <a:p>
            <a:pPr indent="0" marL="0">
              <a:lnSpc>
                <a:spcPct val="105000"/>
              </a:lnSpc>
              <a:buNone/>
            </a:pPr>
            <a:r>
              <a:rPr lang="en-US" sz="1050" dirty="0">
                <a:solidFill>
                  <a:srgbClr val="5E656B"/>
                </a:solidFill>
                <a:latin typeface="Calibri" pitchFamily="34" charset="0"/>
                <a:ea typeface="Calibri" pitchFamily="34" charset="-122"/>
                <a:cs typeface="Calibri" pitchFamily="34" charset="-120"/>
              </a:rPr>
              <a:t>Blech 10 mm MX</a:t>
            </a:r>
            <a:endParaRPr lang="en-US" sz="1050" dirty="0"/>
          </a:p>
        </p:txBody>
      </p:sp>
      <p:sp>
        <p:nvSpPr>
          <p:cNvPr id="24" name="Text 22"/>
          <p:cNvSpPr txBox="1"/>
          <p:nvPr/>
        </p:nvSpPr>
        <p:spPr>
          <a:xfrm>
            <a:off x="6091921" y="1847088"/>
            <a:ext cx="1019712" cy="402336"/>
          </a:xfrm>
          <a:prstGeom prst="rect">
            <a:avLst/>
          </a:prstGeom>
          <a:noFill/>
          <a:ln/>
        </p:spPr>
        <p:txBody>
          <a:bodyPr wrap="square" lIns="0" tIns="0" rIns="0" bIns="0" rtlCol="0" anchor="ctr"/>
          <a:lstStyle/>
          <a:p>
            <a:pPr indent="0" marL="0">
              <a:buNone/>
            </a:pPr>
            <a:r>
              <a:rPr lang="en-US" sz="2400" dirty="0">
                <a:solidFill>
                  <a:srgbClr val="363F46"/>
                </a:solidFill>
                <a:latin typeface="Calibri Light" pitchFamily="34" charset="0"/>
                <a:ea typeface="Calibri Light" pitchFamily="34" charset="-122"/>
                <a:cs typeface="Calibri Light" pitchFamily="34" charset="-120"/>
              </a:rPr>
              <a:t>2</a:t>
            </a:r>
            <a:endParaRPr lang="en-US" sz="2400" dirty="0"/>
          </a:p>
        </p:txBody>
      </p:sp>
      <p:sp>
        <p:nvSpPr>
          <p:cNvPr id="25" name="Text 23"/>
          <p:cNvSpPr txBox="1"/>
          <p:nvPr/>
        </p:nvSpPr>
        <p:spPr>
          <a:xfrm>
            <a:off x="6091921" y="2231136"/>
            <a:ext cx="1019712" cy="182880"/>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Tafeln</a:t>
            </a:r>
            <a:endParaRPr lang="en-US" sz="900" dirty="0"/>
          </a:p>
        </p:txBody>
      </p:sp>
      <p:sp>
        <p:nvSpPr>
          <p:cNvPr id="26" name="Shape 24"/>
          <p:cNvSpPr/>
          <p:nvPr/>
        </p:nvSpPr>
        <p:spPr>
          <a:xfrm>
            <a:off x="7334115" y="1298448"/>
            <a:ext cx="1242195" cy="1188720"/>
          </a:xfrm>
          <a:prstGeom prst="roundRect">
            <a:avLst>
              <a:gd name="adj" fmla="val 3846"/>
            </a:avLst>
          </a:prstGeom>
          <a:solidFill>
            <a:srgbClr val="AD9467"/>
          </a:solidFill>
          <a:ln w="12700">
            <a:solidFill>
              <a:srgbClr val="AD9467"/>
            </a:solidFill>
            <a:prstDash val="solid"/>
          </a:ln>
        </p:spPr>
        <p:txBody>
          <a:bodyPr/>
          <a:p/>
        </p:txBody>
      </p:sp>
      <p:sp>
        <p:nvSpPr>
          <p:cNvPr id="27" name="Text 25"/>
          <p:cNvSpPr txBox="1"/>
          <p:nvPr/>
        </p:nvSpPr>
        <p:spPr>
          <a:xfrm>
            <a:off x="7445357" y="1417320"/>
            <a:ext cx="1019712" cy="402336"/>
          </a:xfrm>
          <a:prstGeom prst="rect">
            <a:avLst/>
          </a:prstGeom>
          <a:noFill/>
          <a:ln/>
        </p:spPr>
        <p:txBody>
          <a:bodyPr wrap="square" lIns="0" tIns="0" rIns="0" bIns="0" rtlCol="0" anchor="ctr"/>
          <a:lstStyle/>
          <a:p>
            <a:pPr indent="0" marL="0">
              <a:buNone/>
            </a:pPr>
            <a:r>
              <a:rPr lang="en-US" sz="1050" b="1" dirty="0">
                <a:solidFill>
                  <a:srgbClr val="1F262B"/>
                </a:solidFill>
                <a:latin typeface="Calibri" pitchFamily="34" charset="0"/>
                <a:ea typeface="Calibri" pitchFamily="34" charset="-122"/>
                <a:cs typeface="Calibri" pitchFamily="34" charset="-120"/>
              </a:rPr>
              <a:t>Blech 15 mm</a:t>
            </a:r>
            <a:endParaRPr lang="en-US" sz="1050" dirty="0"/>
          </a:p>
        </p:txBody>
      </p:sp>
      <p:sp>
        <p:nvSpPr>
          <p:cNvPr id="28" name="Text 26"/>
          <p:cNvSpPr txBox="1"/>
          <p:nvPr/>
        </p:nvSpPr>
        <p:spPr>
          <a:xfrm>
            <a:off x="7445357" y="1847088"/>
            <a:ext cx="1019712" cy="402336"/>
          </a:xfrm>
          <a:prstGeom prst="rect">
            <a:avLst/>
          </a:prstGeom>
          <a:noFill/>
          <a:ln/>
        </p:spPr>
        <p:txBody>
          <a:bodyPr wrap="square" lIns="0" tIns="0" rIns="0" bIns="0" rtlCol="0" anchor="ctr"/>
          <a:lstStyle/>
          <a:p>
            <a:pPr indent="0" marL="0">
              <a:buNone/>
            </a:pPr>
            <a:r>
              <a:rPr lang="en-US" sz="2400" b="1" dirty="0">
                <a:solidFill>
                  <a:srgbClr val="1F262B"/>
                </a:solidFill>
                <a:latin typeface="Calibri Light" pitchFamily="34" charset="0"/>
                <a:ea typeface="Calibri Light" pitchFamily="34" charset="-122"/>
                <a:cs typeface="Calibri Light" pitchFamily="34" charset="-120"/>
              </a:rPr>
              <a:t>0</a:t>
            </a:r>
            <a:endParaRPr lang="en-US" sz="2400" dirty="0"/>
          </a:p>
        </p:txBody>
      </p:sp>
      <p:sp>
        <p:nvSpPr>
          <p:cNvPr id="29" name="Text 27"/>
          <p:cNvSpPr txBox="1"/>
          <p:nvPr/>
        </p:nvSpPr>
        <p:spPr>
          <a:xfrm>
            <a:off x="7445357" y="2231136"/>
            <a:ext cx="1019712" cy="182880"/>
          </a:xfrm>
          <a:prstGeom prst="rect">
            <a:avLst/>
          </a:prstGeom>
          <a:noFill/>
          <a:ln/>
        </p:spPr>
        <p:txBody>
          <a:bodyPr wrap="square" lIns="0" tIns="0" rIns="0" bIns="0" rtlCol="0" anchor="ctr"/>
          <a:lstStyle/>
          <a:p>
            <a:pPr indent="0" marL="0">
              <a:buNone/>
            </a:pPr>
            <a:r>
              <a:rPr lang="en-US" sz="900" dirty="0">
                <a:solidFill>
                  <a:srgbClr val="1F262B"/>
                </a:solidFill>
                <a:latin typeface="Calibri" pitchFamily="34" charset="0"/>
                <a:ea typeface="Calibri" pitchFamily="34" charset="-122"/>
                <a:cs typeface="Calibri" pitchFamily="34" charset="-120"/>
              </a:rPr>
              <a:t>Tafeln</a:t>
            </a:r>
            <a:endParaRPr lang="en-US" sz="900" dirty="0"/>
          </a:p>
        </p:txBody>
      </p:sp>
      <p:sp>
        <p:nvSpPr>
          <p:cNvPr id="30" name="Text 28"/>
          <p:cNvSpPr txBox="1"/>
          <p:nvPr/>
        </p:nvSpPr>
        <p:spPr>
          <a:xfrm>
            <a:off x="566928" y="2560320"/>
            <a:ext cx="8010144" cy="219456"/>
          </a:xfrm>
          <a:prstGeom prst="rect">
            <a:avLst/>
          </a:prstGeom>
          <a:noFill/>
          <a:ln/>
        </p:spPr>
        <p:txBody>
          <a:bodyPr wrap="square" lIns="0" tIns="0" rIns="0" bIns="0" rtlCol="0" anchor="ctr"/>
          <a:lstStyle/>
          <a:p>
            <a:pPr indent="0" marL="0">
              <a:buNone/>
            </a:pPr>
            <a:r>
              <a:rPr lang="en-US" sz="1000" i="1" dirty="0">
                <a:solidFill>
                  <a:srgbClr val="636A70"/>
                </a:solidFill>
                <a:latin typeface="Calibri" pitchFamily="34" charset="0"/>
                <a:ea typeface="Calibri" pitchFamily="34" charset="-122"/>
                <a:cs typeface="Calibri" pitchFamily="34" charset="-120"/>
              </a:rPr>
              <a:t>Lagerbestand am 10.08.2026 laut Plattenverwaltung</a:t>
            </a:r>
            <a:endParaRPr lang="en-US" sz="1000" dirty="0"/>
          </a:p>
        </p:txBody>
      </p:sp>
      <p:sp>
        <p:nvSpPr>
          <p:cNvPr id="31" name="Shape 29"/>
          <p:cNvSpPr/>
          <p:nvPr/>
        </p:nvSpPr>
        <p:spPr>
          <a:xfrm>
            <a:off x="566928" y="2944368"/>
            <a:ext cx="8010144" cy="1481328"/>
          </a:xfrm>
          <a:prstGeom prst="roundRect">
            <a:avLst>
              <a:gd name="adj" fmla="val 3086"/>
            </a:avLst>
          </a:prstGeom>
          <a:solidFill>
            <a:srgbClr val="363F46"/>
          </a:solidFill>
          <a:ln w="12700">
            <a:solidFill>
              <a:srgbClr val="363F46"/>
            </a:solidFill>
            <a:prstDash val="solid"/>
          </a:ln>
        </p:spPr>
        <p:txBody>
          <a:bodyPr/>
          <a:p/>
        </p:txBody>
      </p:sp>
      <p:sp>
        <p:nvSpPr>
          <p:cNvPr id="32" name="Text 30"/>
          <p:cNvSpPr txBox="1"/>
          <p:nvPr/>
        </p:nvSpPr>
        <p:spPr>
          <a:xfrm>
            <a:off x="877824" y="3108960"/>
            <a:ext cx="3840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Blech 15 mm Maxiformat</a:t>
            </a:r>
            <a:endParaRPr lang="en-US" sz="1300" dirty="0"/>
          </a:p>
        </p:txBody>
      </p:sp>
      <p:sp>
        <p:nvSpPr>
          <p:cNvPr id="33" name="Text 31"/>
          <p:cNvSpPr txBox="1"/>
          <p:nvPr/>
        </p:nvSpPr>
        <p:spPr>
          <a:xfrm>
            <a:off x="877824" y="3456432"/>
            <a:ext cx="2286000" cy="457200"/>
          </a:xfrm>
          <a:prstGeom prst="rect">
            <a:avLst/>
          </a:prstGeom>
          <a:noFill/>
          <a:ln/>
        </p:spPr>
        <p:txBody>
          <a:bodyPr wrap="square" lIns="0" tIns="0" rIns="0" bIns="0" rtlCol="0" anchor="ctr"/>
          <a:lstStyle/>
          <a:p>
            <a:pPr indent="0" marL="0">
              <a:buNone/>
            </a:pPr>
            <a:r>
              <a:rPr lang="en-US" sz="2600" dirty="0">
                <a:solidFill>
                  <a:srgbClr val="AD9467"/>
                </a:solidFill>
                <a:latin typeface="Calibri Light" pitchFamily="34" charset="0"/>
                <a:ea typeface="Calibri Light" pitchFamily="34" charset="-122"/>
                <a:cs typeface="Calibri Light" pitchFamily="34" charset="-120"/>
              </a:rPr>
              <a:t>5</a:t>
            </a:r>
            <a:endParaRPr lang="en-US" sz="2600" dirty="0"/>
          </a:p>
        </p:txBody>
      </p:sp>
      <p:sp>
        <p:nvSpPr>
          <p:cNvPr id="34" name="Text 32"/>
          <p:cNvSpPr txBox="1"/>
          <p:nvPr/>
        </p:nvSpPr>
        <p:spPr>
          <a:xfrm>
            <a:off x="877824" y="3913632"/>
            <a:ext cx="2286000" cy="274320"/>
          </a:xfrm>
          <a:prstGeom prst="rect">
            <a:avLst/>
          </a:prstGeom>
          <a:noFill/>
          <a:ln/>
        </p:spPr>
        <p:txBody>
          <a:bodyPr wrap="square" lIns="0" tIns="0" rIns="0" bIns="0" rtlCol="0" anchor="ctr"/>
          <a:lstStyle/>
          <a:p>
            <a:pPr indent="0" marL="0">
              <a:buNone/>
            </a:pPr>
            <a:r>
              <a:rPr lang="en-US" sz="1100" dirty="0">
                <a:solidFill>
                  <a:srgbClr val="AFB2B5"/>
                </a:solidFill>
                <a:latin typeface="Calibri" pitchFamily="34" charset="0"/>
                <a:ea typeface="Calibri" pitchFamily="34" charset="-122"/>
                <a:cs typeface="Calibri" pitchFamily="34" charset="-120"/>
              </a:rPr>
              <a:t>Tafeln bereits reserviert</a:t>
            </a:r>
            <a:endParaRPr lang="en-US" sz="1100" dirty="0"/>
          </a:p>
        </p:txBody>
      </p:sp>
      <p:sp>
        <p:nvSpPr>
          <p:cNvPr id="35" name="Text 33"/>
          <p:cNvSpPr txBox="1"/>
          <p:nvPr/>
        </p:nvSpPr>
        <p:spPr>
          <a:xfrm>
            <a:off x="3364992" y="3456432"/>
            <a:ext cx="2286000" cy="457200"/>
          </a:xfrm>
          <a:prstGeom prst="rect">
            <a:avLst/>
          </a:prstGeom>
          <a:noFill/>
          <a:ln/>
        </p:spPr>
        <p:txBody>
          <a:bodyPr wrap="square" lIns="0" tIns="0" rIns="0" bIns="0" rtlCol="0" anchor="ctr"/>
          <a:lstStyle/>
          <a:p>
            <a:pPr indent="0" marL="0">
              <a:buNone/>
            </a:pPr>
            <a:r>
              <a:rPr lang="en-US" sz="2600" dirty="0">
                <a:solidFill>
                  <a:srgbClr val="AD9467"/>
                </a:solidFill>
                <a:latin typeface="Calibri Light" pitchFamily="34" charset="0"/>
                <a:ea typeface="Calibri Light" pitchFamily="34" charset="-122"/>
                <a:cs typeface="Calibri Light" pitchFamily="34" charset="-120"/>
              </a:rPr>
              <a:t>KW 34</a:t>
            </a:r>
            <a:endParaRPr lang="en-US" sz="2600" dirty="0"/>
          </a:p>
        </p:txBody>
      </p:sp>
      <p:sp>
        <p:nvSpPr>
          <p:cNvPr id="36" name="Text 34"/>
          <p:cNvSpPr txBox="1"/>
          <p:nvPr/>
        </p:nvSpPr>
        <p:spPr>
          <a:xfrm>
            <a:off x="3364992" y="3913632"/>
            <a:ext cx="2286000" cy="274320"/>
          </a:xfrm>
          <a:prstGeom prst="rect">
            <a:avLst/>
          </a:prstGeom>
          <a:noFill/>
          <a:ln/>
        </p:spPr>
        <p:txBody>
          <a:bodyPr wrap="square" lIns="0" tIns="0" rIns="0" bIns="0" rtlCol="0" anchor="ctr"/>
          <a:lstStyle/>
          <a:p>
            <a:pPr indent="0" marL="0">
              <a:buNone/>
            </a:pPr>
            <a:r>
              <a:rPr lang="en-US" sz="1100" dirty="0">
                <a:solidFill>
                  <a:srgbClr val="AFB2B5"/>
                </a:solidFill>
                <a:latin typeface="Calibri" pitchFamily="34" charset="0"/>
                <a:ea typeface="Calibri" pitchFamily="34" charset="-122"/>
                <a:cs typeface="Calibri" pitchFamily="34" charset="-120"/>
              </a:rPr>
              <a:t>Termin des Auftrags</a:t>
            </a:r>
            <a:endParaRPr lang="en-US" sz="1100" dirty="0"/>
          </a:p>
        </p:txBody>
      </p:sp>
      <p:sp>
        <p:nvSpPr>
          <p:cNvPr id="37" name="Text 35"/>
          <p:cNvSpPr txBox="1"/>
          <p:nvPr/>
        </p:nvSpPr>
        <p:spPr>
          <a:xfrm>
            <a:off x="5852160" y="3456432"/>
            <a:ext cx="2286000" cy="457200"/>
          </a:xfrm>
          <a:prstGeom prst="rect">
            <a:avLst/>
          </a:prstGeom>
          <a:noFill/>
          <a:ln/>
        </p:spPr>
        <p:txBody>
          <a:bodyPr wrap="square" lIns="0" tIns="0" rIns="0" bIns="0" rtlCol="0" anchor="ctr"/>
          <a:lstStyle/>
          <a:p>
            <a:pPr indent="0" marL="0">
              <a:buNone/>
            </a:pPr>
            <a:r>
              <a:rPr lang="en-US" sz="2600" dirty="0">
                <a:solidFill>
                  <a:srgbClr val="AD9467"/>
                </a:solidFill>
                <a:latin typeface="Calibri Light" pitchFamily="34" charset="0"/>
                <a:ea typeface="Calibri Light" pitchFamily="34" charset="-122"/>
                <a:cs typeface="Calibri Light" pitchFamily="34" charset="-120"/>
              </a:rPr>
              <a:t>7 Tage</a:t>
            </a:r>
            <a:endParaRPr lang="en-US" sz="2600" dirty="0"/>
          </a:p>
        </p:txBody>
      </p:sp>
      <p:sp>
        <p:nvSpPr>
          <p:cNvPr id="38" name="Text 36"/>
          <p:cNvSpPr txBox="1"/>
          <p:nvPr/>
        </p:nvSpPr>
        <p:spPr>
          <a:xfrm>
            <a:off x="5852160" y="3913632"/>
            <a:ext cx="2286000" cy="274320"/>
          </a:xfrm>
          <a:prstGeom prst="rect">
            <a:avLst/>
          </a:prstGeom>
          <a:noFill/>
          <a:ln/>
        </p:spPr>
        <p:txBody>
          <a:bodyPr wrap="square" lIns="0" tIns="0" rIns="0" bIns="0" rtlCol="0" anchor="ctr"/>
          <a:lstStyle/>
          <a:p>
            <a:pPr indent="0" marL="0">
              <a:buNone/>
            </a:pPr>
            <a:r>
              <a:rPr lang="en-US" sz="1100" dirty="0">
                <a:solidFill>
                  <a:srgbClr val="AFB2B5"/>
                </a:solidFill>
                <a:latin typeface="Calibri" pitchFamily="34" charset="0"/>
                <a:ea typeface="Calibri" pitchFamily="34" charset="-122"/>
                <a:cs typeface="Calibri" pitchFamily="34" charset="-120"/>
              </a:rPr>
              <a:t>Wiederbeschaffungszeit</a:t>
            </a:r>
            <a:endParaRPr lang="en-US" sz="1100" dirty="0"/>
          </a:p>
        </p:txBody>
      </p:sp>
      <p:sp>
        <p:nvSpPr>
          <p:cNvPr id="39" name="Text 37"/>
          <p:cNvSpPr txBox="1"/>
          <p:nvPr/>
        </p:nvSpPr>
        <p:spPr>
          <a:xfrm>
            <a:off x="566928" y="4517136"/>
            <a:ext cx="8010144" cy="256032"/>
          </a:xfrm>
          <a:prstGeom prst="rect">
            <a:avLst/>
          </a:prstGeom>
          <a:noFill/>
          <a:ln/>
        </p:spPr>
        <p:txBody>
          <a:bodyPr wrap="square" lIns="0" tIns="0" rIns="0" bIns="0" rtlCol="0" anchor="ctr"/>
          <a:lstStyle/>
          <a:p>
            <a:pPr indent="0" marL="0">
              <a:buNone/>
            </a:pPr>
            <a:r>
              <a:rPr lang="en-US" sz="1150" dirty="0">
                <a:solidFill>
                  <a:srgbClr val="5E656B"/>
                </a:solidFill>
                <a:latin typeface="Calibri" pitchFamily="34" charset="0"/>
                <a:ea typeface="Calibri" pitchFamily="34" charset="-122"/>
                <a:cs typeface="Calibri" pitchFamily="34" charset="-120"/>
              </a:rPr>
              <a:t>Der Meldebestand steht auf null: Der Bedarf wird erst gemeldet, wenn das Lager schon leer ist.</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75320" y="4718304"/>
            <a:ext cx="365760" cy="237744"/>
          </a:xfrm>
          <a:prstGeom prst="rect">
            <a:avLst/>
          </a:prstGeom>
          <a:noFill/>
          <a:ln/>
        </p:spPr>
        <p:txBody>
          <a:bodyPr wrap="square" lIns="0" tIns="0" rIns="0" bIns="0" rtlCol="0" anchor="ctr"/>
          <a:lstStyle/>
          <a:p>
            <a:pPr algn="r" indent="0" marL="0">
              <a:buNone/>
            </a:pPr>
            <a:r>
              <a:rPr lang="en-US" sz="1000" dirty="0">
                <a:solidFill>
                  <a:srgbClr val="636A70"/>
                </a:solidFill>
                <a:latin typeface="Calibri" pitchFamily="34" charset="0"/>
                <a:ea typeface="Calibri" pitchFamily="34" charset="-122"/>
                <a:cs typeface="Calibri" pitchFamily="34" charset="-120"/>
              </a:rPr>
              <a:t>4</a:t>
            </a:r>
            <a:endParaRPr lang="en-US" sz="1000" dirty="0"/>
          </a:p>
        </p:txBody>
      </p:sp>
      <p:sp>
        <p:nvSpPr>
          <p:cNvPr id="3" name="Text 1"/>
          <p:cNvSpPr txBox="1"/>
          <p:nvPr/>
        </p:nvSpPr>
        <p:spPr>
          <a:xfrm>
            <a:off x="566928" y="4718304"/>
            <a:ext cx="5943600" cy="237744"/>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METALLART Treppen GmbH  ·  Fachaufgabe im Einsatzgebiet  ·  Alex Urban</a:t>
            </a:r>
            <a:endParaRPr lang="en-US" sz="900" dirty="0"/>
          </a:p>
        </p:txBody>
      </p:sp>
      <p:sp>
        <p:nvSpPr>
          <p:cNvPr id="4" name="Text 2"/>
          <p:cNvSpPr txBox="1"/>
          <p:nvPr/>
        </p:nvSpPr>
        <p:spPr>
          <a:xfrm>
            <a:off x="566928" y="365760"/>
            <a:ext cx="8010144" cy="201168"/>
          </a:xfrm>
          <a:prstGeom prst="rect">
            <a:avLst/>
          </a:prstGeom>
          <a:noFill/>
          <a:ln/>
        </p:spPr>
        <p:txBody>
          <a:bodyPr wrap="square" lIns="0" tIns="0" rIns="0" bIns="0" rtlCol="0" anchor="ctr"/>
          <a:lstStyle/>
          <a:p>
            <a:pPr indent="0" marL="0">
              <a:buNone/>
            </a:pPr>
            <a:r>
              <a:rPr lang="en-US" sz="1000" b="1" spc="200" kern="0" dirty="0">
                <a:solidFill>
                  <a:srgbClr val="806A45"/>
                </a:solidFill>
                <a:latin typeface="Calibri" pitchFamily="34" charset="0"/>
                <a:ea typeface="Calibri" pitchFamily="34" charset="-122"/>
                <a:cs typeface="Calibri" pitchFamily="34" charset="-120"/>
              </a:rPr>
              <a:t>GESCHÄFTSPROZESS</a:t>
            </a:r>
            <a:endParaRPr lang="en-US" sz="1000" dirty="0"/>
          </a:p>
        </p:txBody>
      </p:sp>
      <p:sp>
        <p:nvSpPr>
          <p:cNvPr id="5" name="Text 3"/>
          <p:cNvSpPr txBox="1"/>
          <p:nvPr/>
        </p:nvSpPr>
        <p:spPr>
          <a:xfrm>
            <a:off x="566928" y="566928"/>
            <a:ext cx="8010144" cy="914400"/>
          </a:xfrm>
          <a:prstGeom prst="rect">
            <a:avLst/>
          </a:prstGeom>
          <a:noFill/>
          <a:ln/>
        </p:spPr>
        <p:txBody>
          <a:bodyPr wrap="square" lIns="0" tIns="0" rIns="0" bIns="0" rtlCol="0" anchor="t"/>
          <a:lstStyle/>
          <a:p>
            <a:pPr indent="0" marL="0">
              <a:buNone/>
            </a:pPr>
            <a:r>
              <a:rPr lang="en-US" sz="3000" dirty="0">
                <a:solidFill>
                  <a:srgbClr val="363F46"/>
                </a:solidFill>
                <a:latin typeface="Calibri Light" pitchFamily="34" charset="0"/>
                <a:ea typeface="Calibri Light" pitchFamily="34" charset="-122"/>
                <a:cs typeface="Calibri Light" pitchFamily="34" charset="-120"/>
              </a:rPr>
              <a:t>Vom Bedarf bis zur Rechnungsprüfung</a:t>
            </a:r>
            <a:endParaRPr lang="en-US" sz="3000" dirty="0"/>
          </a:p>
        </p:txBody>
      </p:sp>
      <p:sp>
        <p:nvSpPr>
          <p:cNvPr id="6" name="Shape 4"/>
          <p:cNvSpPr/>
          <p:nvPr/>
        </p:nvSpPr>
        <p:spPr>
          <a:xfrm>
            <a:off x="566920" y="1335024"/>
            <a:ext cx="1016923" cy="841248"/>
          </a:xfrm>
          <a:prstGeom prst="roundRect">
            <a:avLst>
              <a:gd name="adj" fmla="val 5435"/>
            </a:avLst>
          </a:prstGeom>
          <a:solidFill>
            <a:srgbClr val="F2F2F2"/>
          </a:solidFill>
          <a:ln w="9525">
            <a:solidFill>
              <a:srgbClr val="DCDEE0"/>
            </a:solidFill>
            <a:prstDash val="solid"/>
          </a:ln>
        </p:spPr>
        <p:txBody>
          <a:bodyPr/>
          <a:p/>
        </p:txBody>
      </p:sp>
      <p:sp>
        <p:nvSpPr>
          <p:cNvPr id="7" name="Text 5"/>
          <p:cNvSpPr txBox="1"/>
          <p:nvPr/>
        </p:nvSpPr>
        <p:spPr>
          <a:xfrm>
            <a:off x="602917" y="1335024"/>
            <a:ext cx="944928" cy="841248"/>
          </a:xfrm>
          <a:prstGeom prst="rect">
            <a:avLst/>
          </a:prstGeom>
          <a:noFill/>
          <a:ln/>
        </p:spPr>
        <p:txBody>
          <a:bodyPr wrap="square" lIns="0" tIns="0" rIns="0" bIns="0" rtlCol="0" anchor="ctr"/>
          <a:lstStyle/>
          <a:p>
            <a:pPr algn="ctr" indent="0" marL="0">
              <a:lnSpc>
                <a:spcPct val="105000"/>
              </a:lnSpc>
              <a:buNone/>
            </a:pPr>
            <a:r>
              <a:rPr lang="en-US" sz="950" dirty="0">
                <a:solidFill>
                  <a:srgbClr val="5E656B"/>
                </a:solidFill>
                <a:latin typeface="Calibri" pitchFamily="34" charset="0"/>
                <a:ea typeface="Calibri" pitchFamily="34" charset="-122"/>
                <a:cs typeface="Calibri" pitchFamily="34" charset="-120"/>
              </a:rPr>
              <a:t>Bedarfs-</a:t>
            </a:r>
            <a:endParaRPr lang="en-US" sz="950" dirty="0"/>
          </a:p>
          <a:p>
            <a:pPr algn="ctr" indent="0" marL="0">
              <a:lnSpc>
                <a:spcPct val="105000"/>
              </a:lnSpc>
              <a:buNone/>
            </a:pPr>
            <a:r>
              <a:rPr lang="en-US" sz="950" dirty="0">
                <a:solidFill>
                  <a:srgbClr val="5E656B"/>
                </a:solidFill>
                <a:latin typeface="Calibri" pitchFamily="34" charset="0"/>
                <a:ea typeface="Calibri" pitchFamily="34" charset="-122"/>
                <a:cs typeface="Calibri" pitchFamily="34" charset="-120"/>
              </a:rPr>
              <a:t>meldung</a:t>
            </a:r>
            <a:endParaRPr lang="en-US" sz="950" dirty="0"/>
          </a:p>
        </p:txBody>
      </p:sp>
      <p:sp>
        <p:nvSpPr>
          <p:cNvPr id="8" name="Text 6"/>
          <p:cNvSpPr txBox="1"/>
          <p:nvPr/>
        </p:nvSpPr>
        <p:spPr>
          <a:xfrm>
            <a:off x="1583843" y="1335024"/>
            <a:ext cx="148489" cy="841248"/>
          </a:xfrm>
          <a:prstGeom prst="rect">
            <a:avLst/>
          </a:prstGeom>
          <a:noFill/>
          <a:ln/>
        </p:spPr>
        <p:txBody>
          <a:bodyPr wrap="square" lIns="0" tIns="0" rIns="0" bIns="0" rtlCol="0" anchor="ctr"/>
          <a:lstStyle/>
          <a:p>
            <a:pPr algn="ctr" indent="0" marL="0">
              <a:buNone/>
            </a:pPr>
            <a:r>
              <a:rPr lang="en-US" sz="1600" b="1" dirty="0">
                <a:solidFill>
                  <a:srgbClr val="806A45"/>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1732331" y="1335024"/>
            <a:ext cx="1016923" cy="841248"/>
          </a:xfrm>
          <a:prstGeom prst="roundRect">
            <a:avLst>
              <a:gd name="adj" fmla="val 5435"/>
            </a:avLst>
          </a:prstGeom>
          <a:solidFill>
            <a:srgbClr val="F2F2F2"/>
          </a:solidFill>
          <a:ln w="9525">
            <a:solidFill>
              <a:srgbClr val="DCDEE0"/>
            </a:solidFill>
            <a:prstDash val="solid"/>
          </a:ln>
        </p:spPr>
        <p:txBody>
          <a:bodyPr/>
          <a:p/>
        </p:txBody>
      </p:sp>
      <p:sp>
        <p:nvSpPr>
          <p:cNvPr id="10" name="Text 8"/>
          <p:cNvSpPr txBox="1"/>
          <p:nvPr/>
        </p:nvSpPr>
        <p:spPr>
          <a:xfrm>
            <a:off x="1768328" y="1335024"/>
            <a:ext cx="944928" cy="841248"/>
          </a:xfrm>
          <a:prstGeom prst="rect">
            <a:avLst/>
          </a:prstGeom>
          <a:noFill/>
          <a:ln/>
        </p:spPr>
        <p:txBody>
          <a:bodyPr wrap="square" lIns="0" tIns="0" rIns="0" bIns="0" rtlCol="0" anchor="ctr"/>
          <a:lstStyle/>
          <a:p>
            <a:pPr algn="ctr" indent="0" marL="0">
              <a:lnSpc>
                <a:spcPct val="105000"/>
              </a:lnSpc>
              <a:buNone/>
            </a:pPr>
            <a:r>
              <a:rPr lang="en-US" sz="950" dirty="0">
                <a:solidFill>
                  <a:srgbClr val="5E656B"/>
                </a:solidFill>
                <a:latin typeface="Calibri" pitchFamily="34" charset="0"/>
                <a:ea typeface="Calibri" pitchFamily="34" charset="-122"/>
                <a:cs typeface="Calibri" pitchFamily="34" charset="-120"/>
              </a:rPr>
              <a:t>Anfrage</a:t>
            </a:r>
            <a:endParaRPr lang="en-US" sz="950" dirty="0"/>
          </a:p>
        </p:txBody>
      </p:sp>
      <p:sp>
        <p:nvSpPr>
          <p:cNvPr id="11" name="Text 9"/>
          <p:cNvSpPr txBox="1"/>
          <p:nvPr/>
        </p:nvSpPr>
        <p:spPr>
          <a:xfrm>
            <a:off x="2749254" y="1335024"/>
            <a:ext cx="148489" cy="841248"/>
          </a:xfrm>
          <a:prstGeom prst="rect">
            <a:avLst/>
          </a:prstGeom>
          <a:noFill/>
          <a:ln/>
        </p:spPr>
        <p:txBody>
          <a:bodyPr wrap="square" lIns="0" tIns="0" rIns="0" bIns="0" rtlCol="0" anchor="ctr"/>
          <a:lstStyle/>
          <a:p>
            <a:pPr algn="ctr" indent="0" marL="0">
              <a:buNone/>
            </a:pPr>
            <a:r>
              <a:rPr lang="en-US" sz="1600" b="1" dirty="0">
                <a:solidFill>
                  <a:srgbClr val="806A45"/>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2897742" y="1335024"/>
            <a:ext cx="1016923" cy="841248"/>
          </a:xfrm>
          <a:prstGeom prst="roundRect">
            <a:avLst>
              <a:gd name="adj" fmla="val 5435"/>
            </a:avLst>
          </a:prstGeom>
          <a:solidFill>
            <a:srgbClr val="363F46"/>
          </a:solidFill>
          <a:ln w="9525">
            <a:solidFill>
              <a:srgbClr val="363F46"/>
            </a:solidFill>
            <a:prstDash val="solid"/>
          </a:ln>
        </p:spPr>
        <p:txBody>
          <a:bodyPr/>
          <a:p/>
        </p:txBody>
      </p:sp>
      <p:sp>
        <p:nvSpPr>
          <p:cNvPr id="13" name="Text 11"/>
          <p:cNvSpPr txBox="1"/>
          <p:nvPr/>
        </p:nvSpPr>
        <p:spPr>
          <a:xfrm>
            <a:off x="2933740" y="1335024"/>
            <a:ext cx="944928" cy="841248"/>
          </a:xfrm>
          <a:prstGeom prst="rect">
            <a:avLst/>
          </a:prstGeom>
          <a:noFill/>
          <a:ln/>
        </p:spPr>
        <p:txBody>
          <a:bodyPr wrap="square" lIns="0" tIns="0" rIns="0" bIns="0" rtlCol="0" anchor="ctr"/>
          <a:lstStyle/>
          <a:p>
            <a:pPr algn="ctr" indent="0" marL="0">
              <a:lnSpc>
                <a:spcPct val="105000"/>
              </a:lnSpc>
              <a:buNone/>
            </a:pPr>
            <a:r>
              <a:rPr lang="en-US" sz="950" b="1" dirty="0">
                <a:solidFill>
                  <a:srgbClr val="FFFFFF"/>
                </a:solidFill>
                <a:latin typeface="Calibri" pitchFamily="34" charset="0"/>
                <a:ea typeface="Calibri" pitchFamily="34" charset="-122"/>
                <a:cs typeface="Calibri" pitchFamily="34" charset="-120"/>
              </a:rPr>
              <a:t>Angebots-</a:t>
            </a:r>
            <a:endParaRPr lang="en-US" sz="950" dirty="0"/>
          </a:p>
          <a:p>
            <a:pPr algn="ctr" indent="0" marL="0">
              <a:lnSpc>
                <a:spcPct val="105000"/>
              </a:lnSpc>
              <a:buNone/>
            </a:pPr>
            <a:r>
              <a:rPr lang="en-US" sz="950" b="1" dirty="0">
                <a:solidFill>
                  <a:srgbClr val="FFFFFF"/>
                </a:solidFill>
                <a:latin typeface="Calibri" pitchFamily="34" charset="0"/>
                <a:ea typeface="Calibri" pitchFamily="34" charset="-122"/>
                <a:cs typeface="Calibri" pitchFamily="34" charset="-120"/>
              </a:rPr>
              <a:t>vergleich</a:t>
            </a:r>
            <a:endParaRPr lang="en-US" sz="950" dirty="0"/>
          </a:p>
        </p:txBody>
      </p:sp>
      <p:sp>
        <p:nvSpPr>
          <p:cNvPr id="14" name="Text 12"/>
          <p:cNvSpPr txBox="1"/>
          <p:nvPr/>
        </p:nvSpPr>
        <p:spPr>
          <a:xfrm>
            <a:off x="3914665" y="1335024"/>
            <a:ext cx="148489" cy="841248"/>
          </a:xfrm>
          <a:prstGeom prst="rect">
            <a:avLst/>
          </a:prstGeom>
          <a:noFill/>
          <a:ln/>
        </p:spPr>
        <p:txBody>
          <a:bodyPr wrap="square" lIns="0" tIns="0" rIns="0" bIns="0" rtlCol="0" anchor="ctr"/>
          <a:lstStyle/>
          <a:p>
            <a:pPr algn="ctr" indent="0" marL="0">
              <a:buNone/>
            </a:pPr>
            <a:r>
              <a:rPr lang="en-US" sz="1600" b="1" dirty="0">
                <a:solidFill>
                  <a:srgbClr val="806A45"/>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4063154" y="1335024"/>
            <a:ext cx="1016923" cy="841248"/>
          </a:xfrm>
          <a:prstGeom prst="roundRect">
            <a:avLst>
              <a:gd name="adj" fmla="val 5435"/>
            </a:avLst>
          </a:prstGeom>
          <a:solidFill>
            <a:srgbClr val="363F46"/>
          </a:solidFill>
          <a:ln w="9525">
            <a:solidFill>
              <a:srgbClr val="363F46"/>
            </a:solidFill>
            <a:prstDash val="solid"/>
          </a:ln>
        </p:spPr>
        <p:txBody>
          <a:bodyPr/>
          <a:p/>
        </p:txBody>
      </p:sp>
      <p:sp>
        <p:nvSpPr>
          <p:cNvPr id="16" name="Text 14"/>
          <p:cNvSpPr txBox="1"/>
          <p:nvPr/>
        </p:nvSpPr>
        <p:spPr>
          <a:xfrm>
            <a:off x="4099151" y="1335024"/>
            <a:ext cx="944928" cy="841248"/>
          </a:xfrm>
          <a:prstGeom prst="rect">
            <a:avLst/>
          </a:prstGeom>
          <a:noFill/>
          <a:ln/>
        </p:spPr>
        <p:txBody>
          <a:bodyPr wrap="square" lIns="0" tIns="0" rIns="0" bIns="0" rtlCol="0" anchor="ctr"/>
          <a:lstStyle/>
          <a:p>
            <a:pPr algn="ctr" indent="0" marL="0">
              <a:lnSpc>
                <a:spcPct val="105000"/>
              </a:lnSpc>
              <a:buNone/>
            </a:pPr>
            <a:r>
              <a:rPr lang="en-US" sz="950" b="1" dirty="0">
                <a:solidFill>
                  <a:srgbClr val="FFFFFF"/>
                </a:solidFill>
                <a:latin typeface="Calibri" pitchFamily="34" charset="0"/>
                <a:ea typeface="Calibri" pitchFamily="34" charset="-122"/>
                <a:cs typeface="Calibri" pitchFamily="34" charset="-120"/>
              </a:rPr>
              <a:t>Vergabe-</a:t>
            </a:r>
            <a:endParaRPr lang="en-US" sz="950" dirty="0"/>
          </a:p>
          <a:p>
            <a:pPr algn="ctr" indent="0" marL="0">
              <a:lnSpc>
                <a:spcPct val="105000"/>
              </a:lnSpc>
              <a:buNone/>
            </a:pPr>
            <a:r>
              <a:rPr lang="en-US" sz="950" b="1" dirty="0">
                <a:solidFill>
                  <a:srgbClr val="FFFFFF"/>
                </a:solidFill>
                <a:latin typeface="Calibri" pitchFamily="34" charset="0"/>
                <a:ea typeface="Calibri" pitchFamily="34" charset="-122"/>
                <a:cs typeface="Calibri" pitchFamily="34" charset="-120"/>
              </a:rPr>
              <a:t>entscheidung</a:t>
            </a:r>
            <a:endParaRPr lang="en-US" sz="950" dirty="0"/>
          </a:p>
        </p:txBody>
      </p:sp>
      <p:sp>
        <p:nvSpPr>
          <p:cNvPr id="17" name="Text 15"/>
          <p:cNvSpPr txBox="1"/>
          <p:nvPr/>
        </p:nvSpPr>
        <p:spPr>
          <a:xfrm>
            <a:off x="5080076" y="1335024"/>
            <a:ext cx="148489" cy="841248"/>
          </a:xfrm>
          <a:prstGeom prst="rect">
            <a:avLst/>
          </a:prstGeom>
          <a:noFill/>
          <a:ln/>
        </p:spPr>
        <p:txBody>
          <a:bodyPr wrap="square" lIns="0" tIns="0" rIns="0" bIns="0" rtlCol="0" anchor="ctr"/>
          <a:lstStyle/>
          <a:p>
            <a:pPr algn="ctr" indent="0" marL="0">
              <a:buNone/>
            </a:pPr>
            <a:r>
              <a:rPr lang="en-US" sz="1600" b="1" dirty="0">
                <a:solidFill>
                  <a:srgbClr val="806A45"/>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228565" y="1335024"/>
            <a:ext cx="1016923" cy="841248"/>
          </a:xfrm>
          <a:prstGeom prst="roundRect">
            <a:avLst>
              <a:gd name="adj" fmla="val 5435"/>
            </a:avLst>
          </a:prstGeom>
          <a:solidFill>
            <a:srgbClr val="363F46"/>
          </a:solidFill>
          <a:ln w="9525">
            <a:solidFill>
              <a:srgbClr val="363F46"/>
            </a:solidFill>
            <a:prstDash val="solid"/>
          </a:ln>
        </p:spPr>
        <p:txBody>
          <a:bodyPr/>
          <a:p/>
        </p:txBody>
      </p:sp>
      <p:sp>
        <p:nvSpPr>
          <p:cNvPr id="19" name="Text 17"/>
          <p:cNvSpPr txBox="1"/>
          <p:nvPr/>
        </p:nvSpPr>
        <p:spPr>
          <a:xfrm>
            <a:off x="5264562" y="1335024"/>
            <a:ext cx="944928" cy="841248"/>
          </a:xfrm>
          <a:prstGeom prst="rect">
            <a:avLst/>
          </a:prstGeom>
          <a:noFill/>
          <a:ln/>
        </p:spPr>
        <p:txBody>
          <a:bodyPr wrap="square" lIns="0" tIns="0" rIns="0" bIns="0" rtlCol="0" anchor="ctr"/>
          <a:lstStyle/>
          <a:p>
            <a:pPr algn="ctr" indent="0" marL="0">
              <a:lnSpc>
                <a:spcPct val="105000"/>
              </a:lnSpc>
              <a:buNone/>
            </a:pPr>
            <a:r>
              <a:rPr lang="en-US" sz="950" b="1" dirty="0">
                <a:solidFill>
                  <a:srgbClr val="FFFFFF"/>
                </a:solidFill>
                <a:latin typeface="Calibri" pitchFamily="34" charset="0"/>
                <a:ea typeface="Calibri" pitchFamily="34" charset="-122"/>
                <a:cs typeface="Calibri" pitchFamily="34" charset="-120"/>
              </a:rPr>
              <a:t>Bestellung</a:t>
            </a:r>
            <a:endParaRPr lang="en-US" sz="950" dirty="0"/>
          </a:p>
        </p:txBody>
      </p:sp>
      <p:sp>
        <p:nvSpPr>
          <p:cNvPr id="20" name="Text 18"/>
          <p:cNvSpPr txBox="1"/>
          <p:nvPr/>
        </p:nvSpPr>
        <p:spPr>
          <a:xfrm>
            <a:off x="6245488" y="1335024"/>
            <a:ext cx="148489" cy="841248"/>
          </a:xfrm>
          <a:prstGeom prst="rect">
            <a:avLst/>
          </a:prstGeom>
          <a:noFill/>
          <a:ln/>
        </p:spPr>
        <p:txBody>
          <a:bodyPr wrap="square" lIns="0" tIns="0" rIns="0" bIns="0" rtlCol="0" anchor="ctr"/>
          <a:lstStyle/>
          <a:p>
            <a:pPr algn="ctr" indent="0" marL="0">
              <a:buNone/>
            </a:pPr>
            <a:r>
              <a:rPr lang="en-US" sz="1600" b="1" dirty="0">
                <a:solidFill>
                  <a:srgbClr val="806A45"/>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6393976" y="1335024"/>
            <a:ext cx="1016923" cy="841248"/>
          </a:xfrm>
          <a:prstGeom prst="roundRect">
            <a:avLst>
              <a:gd name="adj" fmla="val 5435"/>
            </a:avLst>
          </a:prstGeom>
          <a:solidFill>
            <a:srgbClr val="F2F2F2"/>
          </a:solidFill>
          <a:ln w="9525">
            <a:solidFill>
              <a:srgbClr val="DCDEE0"/>
            </a:solidFill>
            <a:prstDash val="solid"/>
          </a:ln>
        </p:spPr>
        <p:txBody>
          <a:bodyPr/>
          <a:p/>
        </p:txBody>
      </p:sp>
      <p:sp>
        <p:nvSpPr>
          <p:cNvPr id="22" name="Text 20"/>
          <p:cNvSpPr txBox="1"/>
          <p:nvPr/>
        </p:nvSpPr>
        <p:spPr>
          <a:xfrm>
            <a:off x="6429973" y="1335024"/>
            <a:ext cx="944928" cy="841248"/>
          </a:xfrm>
          <a:prstGeom prst="rect">
            <a:avLst/>
          </a:prstGeom>
          <a:noFill/>
          <a:ln/>
        </p:spPr>
        <p:txBody>
          <a:bodyPr wrap="square" lIns="0" tIns="0" rIns="0" bIns="0" rtlCol="0" anchor="ctr"/>
          <a:lstStyle/>
          <a:p>
            <a:pPr algn="ctr" indent="0" marL="0">
              <a:lnSpc>
                <a:spcPct val="105000"/>
              </a:lnSpc>
              <a:buNone/>
            </a:pPr>
            <a:r>
              <a:rPr lang="en-US" sz="950" dirty="0">
                <a:solidFill>
                  <a:srgbClr val="5E656B"/>
                </a:solidFill>
                <a:latin typeface="Calibri" pitchFamily="34" charset="0"/>
                <a:ea typeface="Calibri" pitchFamily="34" charset="-122"/>
                <a:cs typeface="Calibri" pitchFamily="34" charset="-120"/>
              </a:rPr>
              <a:t>Waren-</a:t>
            </a:r>
            <a:endParaRPr lang="en-US" sz="950" dirty="0"/>
          </a:p>
          <a:p>
            <a:pPr algn="ctr" indent="0" marL="0">
              <a:lnSpc>
                <a:spcPct val="105000"/>
              </a:lnSpc>
              <a:buNone/>
            </a:pPr>
            <a:r>
              <a:rPr lang="en-US" sz="950" dirty="0">
                <a:solidFill>
                  <a:srgbClr val="5E656B"/>
                </a:solidFill>
                <a:latin typeface="Calibri" pitchFamily="34" charset="0"/>
                <a:ea typeface="Calibri" pitchFamily="34" charset="-122"/>
                <a:cs typeface="Calibri" pitchFamily="34" charset="-120"/>
              </a:rPr>
              <a:t>eingang</a:t>
            </a:r>
            <a:endParaRPr lang="en-US" sz="950" dirty="0"/>
          </a:p>
        </p:txBody>
      </p:sp>
      <p:sp>
        <p:nvSpPr>
          <p:cNvPr id="23" name="Text 21"/>
          <p:cNvSpPr txBox="1"/>
          <p:nvPr/>
        </p:nvSpPr>
        <p:spPr>
          <a:xfrm>
            <a:off x="7410899" y="1335024"/>
            <a:ext cx="148489" cy="841248"/>
          </a:xfrm>
          <a:prstGeom prst="rect">
            <a:avLst/>
          </a:prstGeom>
          <a:noFill/>
          <a:ln/>
        </p:spPr>
        <p:txBody>
          <a:bodyPr wrap="square" lIns="0" tIns="0" rIns="0" bIns="0" rtlCol="0" anchor="ctr"/>
          <a:lstStyle/>
          <a:p>
            <a:pPr algn="ctr" indent="0" marL="0">
              <a:buNone/>
            </a:pPr>
            <a:r>
              <a:rPr lang="en-US" sz="1600" b="1" dirty="0">
                <a:solidFill>
                  <a:srgbClr val="806A45"/>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7559387" y="1335024"/>
            <a:ext cx="1016923" cy="841248"/>
          </a:xfrm>
          <a:prstGeom prst="roundRect">
            <a:avLst>
              <a:gd name="adj" fmla="val 5435"/>
            </a:avLst>
          </a:prstGeom>
          <a:solidFill>
            <a:srgbClr val="F2F2F2"/>
          </a:solidFill>
          <a:ln w="9525">
            <a:solidFill>
              <a:srgbClr val="DCDEE0"/>
            </a:solidFill>
            <a:prstDash val="solid"/>
          </a:ln>
        </p:spPr>
        <p:txBody>
          <a:bodyPr/>
          <a:p/>
        </p:txBody>
      </p:sp>
      <p:sp>
        <p:nvSpPr>
          <p:cNvPr id="25" name="Text 23"/>
          <p:cNvSpPr txBox="1"/>
          <p:nvPr/>
        </p:nvSpPr>
        <p:spPr>
          <a:xfrm>
            <a:off x="7595385" y="1335024"/>
            <a:ext cx="944928" cy="841248"/>
          </a:xfrm>
          <a:prstGeom prst="rect">
            <a:avLst/>
          </a:prstGeom>
          <a:noFill/>
          <a:ln/>
        </p:spPr>
        <p:txBody>
          <a:bodyPr wrap="square" lIns="0" tIns="0" rIns="0" bIns="0" rtlCol="0" anchor="ctr"/>
          <a:lstStyle/>
          <a:p>
            <a:pPr algn="ctr" indent="0" marL="0">
              <a:lnSpc>
                <a:spcPct val="105000"/>
              </a:lnSpc>
              <a:buNone/>
            </a:pPr>
            <a:r>
              <a:rPr lang="en-US" sz="950" dirty="0">
                <a:solidFill>
                  <a:srgbClr val="5E656B"/>
                </a:solidFill>
                <a:latin typeface="Calibri" pitchFamily="34" charset="0"/>
                <a:ea typeface="Calibri" pitchFamily="34" charset="-122"/>
                <a:cs typeface="Calibri" pitchFamily="34" charset="-120"/>
              </a:rPr>
              <a:t>Rechnungs-</a:t>
            </a:r>
            <a:endParaRPr lang="en-US" sz="950" dirty="0"/>
          </a:p>
          <a:p>
            <a:pPr algn="ctr" indent="0" marL="0">
              <a:lnSpc>
                <a:spcPct val="105000"/>
              </a:lnSpc>
              <a:buNone/>
            </a:pPr>
            <a:r>
              <a:rPr lang="en-US" sz="950" dirty="0">
                <a:solidFill>
                  <a:srgbClr val="5E656B"/>
                </a:solidFill>
                <a:latin typeface="Calibri" pitchFamily="34" charset="0"/>
                <a:ea typeface="Calibri" pitchFamily="34" charset="-122"/>
                <a:cs typeface="Calibri" pitchFamily="34" charset="-120"/>
              </a:rPr>
              <a:t>prüfung</a:t>
            </a:r>
            <a:endParaRPr lang="en-US" sz="950" dirty="0"/>
          </a:p>
        </p:txBody>
      </p:sp>
      <p:sp>
        <p:nvSpPr>
          <p:cNvPr id="26" name="Text 24"/>
          <p:cNvSpPr txBox="1"/>
          <p:nvPr/>
        </p:nvSpPr>
        <p:spPr>
          <a:xfrm>
            <a:off x="2651760" y="2267712"/>
            <a:ext cx="3566160" cy="237744"/>
          </a:xfrm>
          <a:prstGeom prst="rect">
            <a:avLst/>
          </a:prstGeom>
          <a:noFill/>
          <a:ln/>
        </p:spPr>
        <p:txBody>
          <a:bodyPr wrap="square" lIns="0" tIns="0" rIns="0" bIns="0" rtlCol="0" anchor="ctr"/>
          <a:lstStyle/>
          <a:p>
            <a:pPr algn="ctr" indent="0" marL="0">
              <a:buNone/>
            </a:pPr>
            <a:r>
              <a:rPr lang="en-US" sz="1000" b="1" dirty="0">
                <a:solidFill>
                  <a:srgbClr val="806A45"/>
                </a:solidFill>
                <a:latin typeface="Calibri" pitchFamily="34" charset="0"/>
                <a:ea typeface="Calibri" pitchFamily="34" charset="-122"/>
                <a:cs typeface="Calibri" pitchFamily="34" charset="-120"/>
              </a:rPr>
              <a:t>Schwerpunkt der Fachaufgabe</a:t>
            </a:r>
            <a:endParaRPr lang="en-US" sz="1000" dirty="0"/>
          </a:p>
        </p:txBody>
      </p:sp>
      <p:sp>
        <p:nvSpPr>
          <p:cNvPr id="27" name="Shape 25"/>
          <p:cNvSpPr/>
          <p:nvPr/>
        </p:nvSpPr>
        <p:spPr>
          <a:xfrm>
            <a:off x="566921" y="2706624"/>
            <a:ext cx="2549671" cy="1517904"/>
          </a:xfrm>
          <a:prstGeom prst="roundRect">
            <a:avLst>
              <a:gd name="adj" fmla="val 3012"/>
            </a:avLst>
          </a:prstGeom>
          <a:solidFill>
            <a:srgbClr val="F2F2F2"/>
          </a:solidFill>
          <a:ln w="12700">
            <a:solidFill>
              <a:srgbClr val="F2F2F2"/>
            </a:solidFill>
            <a:prstDash val="solid"/>
          </a:ln>
        </p:spPr>
        <p:txBody>
          <a:bodyPr/>
          <a:p/>
        </p:txBody>
      </p:sp>
      <p:sp>
        <p:nvSpPr>
          <p:cNvPr id="28" name="Text 26"/>
          <p:cNvSpPr txBox="1"/>
          <p:nvPr/>
        </p:nvSpPr>
        <p:spPr>
          <a:xfrm>
            <a:off x="819185" y="2871216"/>
            <a:ext cx="2072171" cy="256032"/>
          </a:xfrm>
          <a:prstGeom prst="rect">
            <a:avLst/>
          </a:prstGeom>
          <a:noFill/>
          <a:ln/>
        </p:spPr>
        <p:txBody>
          <a:bodyPr wrap="square" lIns="0" tIns="0" rIns="0" bIns="0" rtlCol="0" anchor="ctr"/>
          <a:lstStyle/>
          <a:p>
            <a:pPr indent="0" marL="0">
              <a:buNone/>
            </a:pPr>
            <a:r>
              <a:rPr lang="en-US" sz="1250" b="1" dirty="0">
                <a:solidFill>
                  <a:srgbClr val="806A45"/>
                </a:solidFill>
                <a:latin typeface="Calibri" pitchFamily="34" charset="0"/>
                <a:ea typeface="Calibri" pitchFamily="34" charset="-122"/>
                <a:cs typeface="Calibri" pitchFamily="34" charset="-120"/>
              </a:rPr>
              <a:t>Vorgelagert</a:t>
            </a:r>
            <a:endParaRPr lang="en-US" sz="1250" dirty="0"/>
          </a:p>
        </p:txBody>
      </p:sp>
      <p:sp>
        <p:nvSpPr>
          <p:cNvPr id="29" name="Text 27"/>
          <p:cNvSpPr txBox="1"/>
          <p:nvPr/>
        </p:nvSpPr>
        <p:spPr>
          <a:xfrm>
            <a:off x="819185" y="3182112"/>
            <a:ext cx="2117218" cy="914400"/>
          </a:xfrm>
          <a:prstGeom prst="rect">
            <a:avLst/>
          </a:prstGeom>
          <a:noFill/>
          <a:ln/>
        </p:spPr>
        <p:txBody>
          <a:bodyPr wrap="square" lIns="0" tIns="0" rIns="0" bIns="0" rtlCol="0" anchor="ctr"/>
          <a:lstStyle/>
          <a:p>
            <a:pPr indent="0" marL="0">
              <a:lnSpc>
                <a:spcPct val="125000"/>
              </a:lnSpc>
              <a:buNone/>
            </a:pPr>
            <a:r>
              <a:rPr lang="en-US" sz="1050" dirty="0">
                <a:solidFill>
                  <a:srgbClr val="5E656B"/>
                </a:solidFill>
                <a:latin typeface="Calibri" pitchFamily="34" charset="0"/>
                <a:ea typeface="Calibri" pitchFamily="34" charset="-122"/>
                <a:cs typeface="Calibri" pitchFamily="34" charset="-120"/>
              </a:rPr>
              <a:t>Laserteam als Bedarfsträger</a:t>
            </a:r>
            <a:endParaRPr lang="en-US" sz="1050" dirty="0"/>
          </a:p>
          <a:p>
            <a:pPr indent="0" marL="0">
              <a:lnSpc>
                <a:spcPct val="125000"/>
              </a:lnSpc>
              <a:buNone/>
            </a:pPr>
            <a:r>
              <a:rPr lang="en-US" sz="1050" dirty="0">
                <a:solidFill>
                  <a:srgbClr val="5E656B"/>
                </a:solidFill>
                <a:latin typeface="Calibri" pitchFamily="34" charset="0"/>
                <a:ea typeface="Calibri" pitchFamily="34" charset="-122"/>
                <a:cs typeface="Calibri" pitchFamily="34" charset="-120"/>
              </a:rPr>
              <a:t>Plattenverwaltung mit Beständen</a:t>
            </a:r>
            <a:endParaRPr lang="en-US" sz="1050" dirty="0"/>
          </a:p>
          <a:p>
            <a:pPr indent="0" marL="0">
              <a:lnSpc>
                <a:spcPct val="125000"/>
              </a:lnSpc>
              <a:buNone/>
            </a:pPr>
            <a:r>
              <a:rPr lang="en-US" sz="1050" dirty="0">
                <a:solidFill>
                  <a:srgbClr val="5E656B"/>
                </a:solidFill>
                <a:latin typeface="Calibri" pitchFamily="34" charset="0"/>
                <a:ea typeface="Calibri" pitchFamily="34" charset="-122"/>
                <a:cs typeface="Calibri" pitchFamily="34" charset="-120"/>
              </a:rPr>
              <a:t>und Reservierungen</a:t>
            </a:r>
            <a:endParaRPr lang="en-US" sz="1050" dirty="0"/>
          </a:p>
        </p:txBody>
      </p:sp>
      <p:sp>
        <p:nvSpPr>
          <p:cNvPr id="30" name="Shape 28"/>
          <p:cNvSpPr/>
          <p:nvPr/>
        </p:nvSpPr>
        <p:spPr>
          <a:xfrm>
            <a:off x="3296780" y="2706624"/>
            <a:ext cx="2549671" cy="1517904"/>
          </a:xfrm>
          <a:prstGeom prst="roundRect">
            <a:avLst>
              <a:gd name="adj" fmla="val 3012"/>
            </a:avLst>
          </a:prstGeom>
          <a:solidFill>
            <a:srgbClr val="F2F2F2"/>
          </a:solidFill>
          <a:ln w="12700">
            <a:solidFill>
              <a:srgbClr val="F2F2F2"/>
            </a:solidFill>
            <a:prstDash val="solid"/>
          </a:ln>
        </p:spPr>
        <p:txBody>
          <a:bodyPr/>
          <a:p/>
        </p:txBody>
      </p:sp>
      <p:sp>
        <p:nvSpPr>
          <p:cNvPr id="31" name="Text 29"/>
          <p:cNvSpPr txBox="1"/>
          <p:nvPr/>
        </p:nvSpPr>
        <p:spPr>
          <a:xfrm>
            <a:off x="3549044" y="2871216"/>
            <a:ext cx="2072171" cy="256032"/>
          </a:xfrm>
          <a:prstGeom prst="rect">
            <a:avLst/>
          </a:prstGeom>
          <a:noFill/>
          <a:ln/>
        </p:spPr>
        <p:txBody>
          <a:bodyPr wrap="square" lIns="0" tIns="0" rIns="0" bIns="0" rtlCol="0" anchor="ctr"/>
          <a:lstStyle/>
          <a:p>
            <a:pPr indent="0" marL="0">
              <a:buNone/>
            </a:pPr>
            <a:r>
              <a:rPr lang="en-US" sz="1250" b="1" dirty="0">
                <a:solidFill>
                  <a:srgbClr val="806A45"/>
                </a:solidFill>
                <a:latin typeface="Calibri" pitchFamily="34" charset="0"/>
                <a:ea typeface="Calibri" pitchFamily="34" charset="-122"/>
                <a:cs typeface="Calibri" pitchFamily="34" charset="-120"/>
              </a:rPr>
              <a:t>Im Einkauf</a:t>
            </a:r>
            <a:endParaRPr lang="en-US" sz="1250" dirty="0"/>
          </a:p>
        </p:txBody>
      </p:sp>
      <p:sp>
        <p:nvSpPr>
          <p:cNvPr id="32" name="Text 30"/>
          <p:cNvSpPr txBox="1"/>
          <p:nvPr/>
        </p:nvSpPr>
        <p:spPr>
          <a:xfrm>
            <a:off x="3549044" y="3182112"/>
            <a:ext cx="2117218" cy="914400"/>
          </a:xfrm>
          <a:prstGeom prst="rect">
            <a:avLst/>
          </a:prstGeom>
          <a:noFill/>
          <a:ln/>
        </p:spPr>
        <p:txBody>
          <a:bodyPr wrap="square" lIns="0" tIns="0" rIns="0" bIns="0" rtlCol="0" anchor="ctr"/>
          <a:lstStyle/>
          <a:p>
            <a:pPr indent="0" marL="0">
              <a:lnSpc>
                <a:spcPct val="125000"/>
              </a:lnSpc>
              <a:buNone/>
            </a:pPr>
            <a:r>
              <a:rPr lang="en-US" sz="1050" dirty="0">
                <a:solidFill>
                  <a:srgbClr val="5E656B"/>
                </a:solidFill>
                <a:latin typeface="Calibri" pitchFamily="34" charset="0"/>
                <a:ea typeface="Calibri" pitchFamily="34" charset="-122"/>
                <a:cs typeface="Calibri" pitchFamily="34" charset="-120"/>
              </a:rPr>
              <a:t>Anfrage, Preisspiegel, Vergabe</a:t>
            </a:r>
            <a:endParaRPr lang="en-US" sz="1050" dirty="0"/>
          </a:p>
          <a:p>
            <a:pPr indent="0" marL="0">
              <a:lnSpc>
                <a:spcPct val="125000"/>
              </a:lnSpc>
              <a:buNone/>
            </a:pPr>
            <a:r>
              <a:rPr lang="en-US" sz="1050" dirty="0">
                <a:solidFill>
                  <a:srgbClr val="5E656B"/>
                </a:solidFill>
                <a:latin typeface="Calibri" pitchFamily="34" charset="0"/>
                <a:ea typeface="Calibri" pitchFamily="34" charset="-122"/>
                <a:cs typeface="Calibri" pitchFamily="34" charset="-120"/>
              </a:rPr>
              <a:t>Freigabe jeder Bestellung durch</a:t>
            </a:r>
            <a:endParaRPr lang="en-US" sz="1050" dirty="0"/>
          </a:p>
          <a:p>
            <a:pPr indent="0" marL="0">
              <a:lnSpc>
                <a:spcPct val="125000"/>
              </a:lnSpc>
              <a:buNone/>
            </a:pPr>
            <a:r>
              <a:rPr lang="en-US" sz="1050" dirty="0">
                <a:solidFill>
                  <a:srgbClr val="5E656B"/>
                </a:solidFill>
                <a:latin typeface="Calibri" pitchFamily="34" charset="0"/>
                <a:ea typeface="Calibri" pitchFamily="34" charset="-122"/>
                <a:cs typeface="Calibri" pitchFamily="34" charset="-120"/>
              </a:rPr>
              <a:t>die Einkaufsleitung</a:t>
            </a:r>
            <a:endParaRPr lang="en-US" sz="1050" dirty="0"/>
          </a:p>
        </p:txBody>
      </p:sp>
      <p:sp>
        <p:nvSpPr>
          <p:cNvPr id="33" name="Shape 31"/>
          <p:cNvSpPr/>
          <p:nvPr/>
        </p:nvSpPr>
        <p:spPr>
          <a:xfrm>
            <a:off x="6026639" y="2706624"/>
            <a:ext cx="2549671" cy="1517904"/>
          </a:xfrm>
          <a:prstGeom prst="roundRect">
            <a:avLst>
              <a:gd name="adj" fmla="val 3012"/>
            </a:avLst>
          </a:prstGeom>
          <a:solidFill>
            <a:srgbClr val="F2F2F2"/>
          </a:solidFill>
          <a:ln w="12700">
            <a:solidFill>
              <a:srgbClr val="F2F2F2"/>
            </a:solidFill>
            <a:prstDash val="solid"/>
          </a:ln>
        </p:spPr>
        <p:txBody>
          <a:bodyPr/>
          <a:p/>
        </p:txBody>
      </p:sp>
      <p:sp>
        <p:nvSpPr>
          <p:cNvPr id="34" name="Text 32"/>
          <p:cNvSpPr txBox="1"/>
          <p:nvPr/>
        </p:nvSpPr>
        <p:spPr>
          <a:xfrm>
            <a:off x="6278904" y="2871216"/>
            <a:ext cx="2072171" cy="256032"/>
          </a:xfrm>
          <a:prstGeom prst="rect">
            <a:avLst/>
          </a:prstGeom>
          <a:noFill/>
          <a:ln/>
        </p:spPr>
        <p:txBody>
          <a:bodyPr wrap="square" lIns="0" tIns="0" rIns="0" bIns="0" rtlCol="0" anchor="ctr"/>
          <a:lstStyle/>
          <a:p>
            <a:pPr indent="0" marL="0">
              <a:buNone/>
            </a:pPr>
            <a:r>
              <a:rPr lang="en-US" sz="1250" b="1" dirty="0">
                <a:solidFill>
                  <a:srgbClr val="806A45"/>
                </a:solidFill>
                <a:latin typeface="Calibri" pitchFamily="34" charset="0"/>
                <a:ea typeface="Calibri" pitchFamily="34" charset="-122"/>
                <a:cs typeface="Calibri" pitchFamily="34" charset="-120"/>
              </a:rPr>
              <a:t>Nachgelagert</a:t>
            </a:r>
            <a:endParaRPr lang="en-US" sz="1250" dirty="0"/>
          </a:p>
        </p:txBody>
      </p:sp>
      <p:sp>
        <p:nvSpPr>
          <p:cNvPr id="35" name="Text 33"/>
          <p:cNvSpPr txBox="1"/>
          <p:nvPr/>
        </p:nvSpPr>
        <p:spPr>
          <a:xfrm>
            <a:off x="6278904" y="3182112"/>
            <a:ext cx="2117218" cy="914400"/>
          </a:xfrm>
          <a:prstGeom prst="rect">
            <a:avLst/>
          </a:prstGeom>
          <a:noFill/>
          <a:ln/>
        </p:spPr>
        <p:txBody>
          <a:bodyPr wrap="square" lIns="0" tIns="0" rIns="0" bIns="0" rtlCol="0" anchor="ctr"/>
          <a:lstStyle/>
          <a:p>
            <a:pPr indent="0" marL="0">
              <a:lnSpc>
                <a:spcPct val="125000"/>
              </a:lnSpc>
              <a:buNone/>
            </a:pPr>
            <a:r>
              <a:rPr lang="en-US" sz="1050" dirty="0">
                <a:solidFill>
                  <a:srgbClr val="5E656B"/>
                </a:solidFill>
                <a:latin typeface="Calibri" pitchFamily="34" charset="0"/>
                <a:ea typeface="Calibri" pitchFamily="34" charset="-122"/>
                <a:cs typeface="Calibri" pitchFamily="34" charset="-120"/>
              </a:rPr>
              <a:t>Wareneingang Werk III mit</a:t>
            </a:r>
            <a:endParaRPr lang="en-US" sz="1050" dirty="0"/>
          </a:p>
          <a:p>
            <a:pPr indent="0" marL="0">
              <a:lnSpc>
                <a:spcPct val="125000"/>
              </a:lnSpc>
              <a:buNone/>
            </a:pPr>
            <a:r>
              <a:rPr lang="en-US" sz="1050" dirty="0">
                <a:solidFill>
                  <a:srgbClr val="5E656B"/>
                </a:solidFill>
                <a:latin typeface="Calibri" pitchFamily="34" charset="0"/>
                <a:ea typeface="Calibri" pitchFamily="34" charset="-122"/>
                <a:cs typeface="Calibri" pitchFamily="34" charset="-120"/>
              </a:rPr>
              <a:t>Zeugnisprüfung, Buchhaltung</a:t>
            </a:r>
            <a:endParaRPr lang="en-US" sz="1050" dirty="0"/>
          </a:p>
          <a:p>
            <a:pPr indent="0" marL="0">
              <a:lnSpc>
                <a:spcPct val="125000"/>
              </a:lnSpc>
              <a:buNone/>
            </a:pPr>
            <a:r>
              <a:rPr lang="en-US" sz="1050" dirty="0">
                <a:solidFill>
                  <a:srgbClr val="5E656B"/>
                </a:solidFill>
                <a:latin typeface="Calibri" pitchFamily="34" charset="0"/>
                <a:ea typeface="Calibri" pitchFamily="34" charset="-122"/>
                <a:cs typeface="Calibri" pitchFamily="34" charset="-120"/>
              </a:rPr>
              <a:t>mit der Rechnungsprüfung</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75320" y="4718304"/>
            <a:ext cx="365760" cy="237744"/>
          </a:xfrm>
          <a:prstGeom prst="rect">
            <a:avLst/>
          </a:prstGeom>
          <a:noFill/>
          <a:ln/>
        </p:spPr>
        <p:txBody>
          <a:bodyPr wrap="square" lIns="0" tIns="0" rIns="0" bIns="0" rtlCol="0" anchor="ctr"/>
          <a:lstStyle/>
          <a:p>
            <a:pPr algn="r" indent="0" marL="0">
              <a:buNone/>
            </a:pPr>
            <a:r>
              <a:rPr lang="en-US" sz="1000" dirty="0">
                <a:solidFill>
                  <a:srgbClr val="636A70"/>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66928" y="4718304"/>
            <a:ext cx="5943600" cy="237744"/>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METALLART Treppen GmbH  ·  Fachaufgabe im Einsatzgebiet  ·  Alex Urban</a:t>
            </a:r>
            <a:endParaRPr lang="en-US" sz="900" dirty="0"/>
          </a:p>
        </p:txBody>
      </p:sp>
      <p:sp>
        <p:nvSpPr>
          <p:cNvPr id="4" name="Text 2"/>
          <p:cNvSpPr txBox="1"/>
          <p:nvPr/>
        </p:nvSpPr>
        <p:spPr>
          <a:xfrm>
            <a:off x="566928" y="365760"/>
            <a:ext cx="8010144" cy="201168"/>
          </a:xfrm>
          <a:prstGeom prst="rect">
            <a:avLst/>
          </a:prstGeom>
          <a:noFill/>
          <a:ln/>
        </p:spPr>
        <p:txBody>
          <a:bodyPr wrap="square" lIns="0" tIns="0" rIns="0" bIns="0" rtlCol="0" anchor="ctr"/>
          <a:lstStyle/>
          <a:p>
            <a:pPr indent="0" marL="0">
              <a:buNone/>
            </a:pPr>
            <a:r>
              <a:rPr lang="en-US" sz="1000" b="1" spc="200" kern="0" dirty="0">
                <a:solidFill>
                  <a:srgbClr val="806A45"/>
                </a:solidFill>
                <a:latin typeface="Calibri" pitchFamily="34" charset="0"/>
                <a:ea typeface="Calibri" pitchFamily="34" charset="-122"/>
                <a:cs typeface="Calibri" pitchFamily="34" charset="-120"/>
              </a:rPr>
              <a:t>SCHRITT 1 UND 2</a:t>
            </a:r>
            <a:endParaRPr lang="en-US" sz="1000" dirty="0"/>
          </a:p>
        </p:txBody>
      </p:sp>
      <p:sp>
        <p:nvSpPr>
          <p:cNvPr id="5" name="Text 3"/>
          <p:cNvSpPr txBox="1"/>
          <p:nvPr/>
        </p:nvSpPr>
        <p:spPr>
          <a:xfrm>
            <a:off x="566928" y="566928"/>
            <a:ext cx="8010144" cy="914400"/>
          </a:xfrm>
          <a:prstGeom prst="rect">
            <a:avLst/>
          </a:prstGeom>
          <a:noFill/>
          <a:ln/>
        </p:spPr>
        <p:txBody>
          <a:bodyPr wrap="square" lIns="0" tIns="0" rIns="0" bIns="0" rtlCol="0" anchor="t"/>
          <a:lstStyle/>
          <a:p>
            <a:pPr indent="0" marL="0">
              <a:buNone/>
            </a:pPr>
            <a:r>
              <a:rPr lang="en-US" sz="3000" dirty="0">
                <a:solidFill>
                  <a:srgbClr val="363F46"/>
                </a:solidFill>
                <a:latin typeface="Calibri Light" pitchFamily="34" charset="0"/>
                <a:ea typeface="Calibri Light" pitchFamily="34" charset="-122"/>
                <a:cs typeface="Calibri Light" pitchFamily="34" charset="-120"/>
              </a:rPr>
              <a:t>Anfrage an fünf Stahlhändler</a:t>
            </a:r>
            <a:endParaRPr lang="en-US" sz="3000" dirty="0"/>
          </a:p>
        </p:txBody>
      </p:sp>
      <p:sp>
        <p:nvSpPr>
          <p:cNvPr id="6" name="Shape 4"/>
          <p:cNvSpPr/>
          <p:nvPr/>
        </p:nvSpPr>
        <p:spPr>
          <a:xfrm>
            <a:off x="566928" y="1316736"/>
            <a:ext cx="4023360" cy="484632"/>
          </a:xfrm>
          <a:prstGeom prst="roundRect">
            <a:avLst>
              <a:gd name="adj" fmla="val 9434"/>
            </a:avLst>
          </a:prstGeom>
          <a:solidFill>
            <a:srgbClr val="F2F2F2"/>
          </a:solidFill>
          <a:ln w="12700">
            <a:solidFill>
              <a:srgbClr val="F2F2F2"/>
            </a:solidFill>
            <a:prstDash val="solid"/>
          </a:ln>
        </p:spPr>
        <p:txBody>
          <a:bodyPr/>
          <a:p/>
        </p:txBody>
      </p:sp>
      <p:sp>
        <p:nvSpPr>
          <p:cNvPr id="7" name="Shape 5"/>
          <p:cNvSpPr/>
          <p:nvPr/>
        </p:nvSpPr>
        <p:spPr>
          <a:xfrm>
            <a:off x="749808" y="1453896"/>
            <a:ext cx="210312" cy="210312"/>
          </a:xfrm>
          <a:prstGeom prst="ellipse">
            <a:avLst/>
          </a:prstGeom>
          <a:solidFill>
            <a:srgbClr val="AD9467"/>
          </a:solidFill>
          <a:ln w="12700">
            <a:solidFill>
              <a:srgbClr val="AD9467"/>
            </a:solidFill>
            <a:prstDash val="solid"/>
          </a:ln>
        </p:spPr>
        <p:txBody>
          <a:bodyPr/>
          <a:p/>
        </p:txBody>
      </p:sp>
      <p:sp>
        <p:nvSpPr>
          <p:cNvPr id="8" name="Text 6"/>
          <p:cNvSpPr txBox="1"/>
          <p:nvPr/>
        </p:nvSpPr>
        <p:spPr>
          <a:xfrm>
            <a:off x="1069848" y="1408176"/>
            <a:ext cx="2286000" cy="301752"/>
          </a:xfrm>
          <a:prstGeom prst="rect">
            <a:avLst/>
          </a:prstGeom>
          <a:noFill/>
          <a:ln/>
        </p:spPr>
        <p:txBody>
          <a:bodyPr wrap="square" lIns="0" tIns="0" rIns="0" bIns="0" rtlCol="0" anchor="ctr"/>
          <a:lstStyle/>
          <a:p>
            <a:pPr indent="0" marL="0">
              <a:buNone/>
            </a:pPr>
            <a:r>
              <a:rPr lang="en-US" sz="1250" b="1" dirty="0">
                <a:solidFill>
                  <a:srgbClr val="363F46"/>
                </a:solidFill>
                <a:latin typeface="Calibri" pitchFamily="34" charset="0"/>
                <a:ea typeface="Calibri" pitchFamily="34" charset="-122"/>
                <a:cs typeface="Calibri" pitchFamily="34" charset="-120"/>
              </a:rPr>
              <a:t>Klöckner</a:t>
            </a:r>
            <a:endParaRPr lang="en-US" sz="1250" dirty="0"/>
          </a:p>
        </p:txBody>
      </p:sp>
      <p:sp>
        <p:nvSpPr>
          <p:cNvPr id="9" name="Text 7"/>
          <p:cNvSpPr txBox="1"/>
          <p:nvPr/>
        </p:nvSpPr>
        <p:spPr>
          <a:xfrm>
            <a:off x="3355848" y="1426464"/>
            <a:ext cx="1097280" cy="274320"/>
          </a:xfrm>
          <a:prstGeom prst="rect">
            <a:avLst/>
          </a:prstGeom>
          <a:noFill/>
          <a:ln/>
        </p:spPr>
        <p:txBody>
          <a:bodyPr wrap="square" lIns="0" tIns="0" rIns="0" bIns="0" rtlCol="0" anchor="ctr"/>
          <a:lstStyle/>
          <a:p>
            <a:pPr algn="r" indent="0" marL="0">
              <a:buNone/>
            </a:pPr>
            <a:r>
              <a:rPr lang="en-US" sz="1050" dirty="0">
                <a:solidFill>
                  <a:srgbClr val="5E656B"/>
                </a:solidFill>
                <a:latin typeface="Calibri" pitchFamily="34" charset="0"/>
                <a:ea typeface="Calibri" pitchFamily="34" charset="-122"/>
                <a:cs typeface="Calibri" pitchFamily="34" charset="-120"/>
              </a:rPr>
              <a:t>Angebot 10.08.</a:t>
            </a:r>
            <a:endParaRPr lang="en-US" sz="1050" dirty="0"/>
          </a:p>
        </p:txBody>
      </p:sp>
      <p:sp>
        <p:nvSpPr>
          <p:cNvPr id="10" name="Shape 8"/>
          <p:cNvSpPr/>
          <p:nvPr/>
        </p:nvSpPr>
        <p:spPr>
          <a:xfrm>
            <a:off x="566928" y="1892808"/>
            <a:ext cx="4023360" cy="484632"/>
          </a:xfrm>
          <a:prstGeom prst="roundRect">
            <a:avLst>
              <a:gd name="adj" fmla="val 9434"/>
            </a:avLst>
          </a:prstGeom>
          <a:solidFill>
            <a:srgbClr val="F2F2F2"/>
          </a:solidFill>
          <a:ln w="12700">
            <a:solidFill>
              <a:srgbClr val="F2F2F2"/>
            </a:solidFill>
            <a:prstDash val="solid"/>
          </a:ln>
        </p:spPr>
        <p:txBody>
          <a:bodyPr/>
          <a:p/>
        </p:txBody>
      </p:sp>
      <p:sp>
        <p:nvSpPr>
          <p:cNvPr id="11" name="Shape 9"/>
          <p:cNvSpPr/>
          <p:nvPr/>
        </p:nvSpPr>
        <p:spPr>
          <a:xfrm>
            <a:off x="749808" y="2029968"/>
            <a:ext cx="210312" cy="210312"/>
          </a:xfrm>
          <a:prstGeom prst="ellipse">
            <a:avLst/>
          </a:prstGeom>
          <a:solidFill>
            <a:srgbClr val="AD9467"/>
          </a:solidFill>
          <a:ln w="12700">
            <a:solidFill>
              <a:srgbClr val="AD9467"/>
            </a:solidFill>
            <a:prstDash val="solid"/>
          </a:ln>
        </p:spPr>
        <p:txBody>
          <a:bodyPr/>
          <a:p/>
        </p:txBody>
      </p:sp>
      <p:sp>
        <p:nvSpPr>
          <p:cNvPr id="12" name="Text 10"/>
          <p:cNvSpPr txBox="1"/>
          <p:nvPr/>
        </p:nvSpPr>
        <p:spPr>
          <a:xfrm>
            <a:off x="1069848" y="1984248"/>
            <a:ext cx="2286000" cy="301752"/>
          </a:xfrm>
          <a:prstGeom prst="rect">
            <a:avLst/>
          </a:prstGeom>
          <a:noFill/>
          <a:ln/>
        </p:spPr>
        <p:txBody>
          <a:bodyPr wrap="square" lIns="0" tIns="0" rIns="0" bIns="0" rtlCol="0" anchor="ctr"/>
          <a:lstStyle/>
          <a:p>
            <a:pPr indent="0" marL="0">
              <a:buNone/>
            </a:pPr>
            <a:r>
              <a:rPr lang="en-US" sz="1250" b="1" dirty="0">
                <a:solidFill>
                  <a:srgbClr val="363F46"/>
                </a:solidFill>
                <a:latin typeface="Calibri" pitchFamily="34" charset="0"/>
                <a:ea typeface="Calibri" pitchFamily="34" charset="-122"/>
                <a:cs typeface="Calibri" pitchFamily="34" charset="-120"/>
              </a:rPr>
              <a:t>Salzgitter Mannesmann</a:t>
            </a:r>
            <a:endParaRPr lang="en-US" sz="1250" dirty="0"/>
          </a:p>
        </p:txBody>
      </p:sp>
      <p:sp>
        <p:nvSpPr>
          <p:cNvPr id="13" name="Text 11"/>
          <p:cNvSpPr txBox="1"/>
          <p:nvPr/>
        </p:nvSpPr>
        <p:spPr>
          <a:xfrm>
            <a:off x="3355848" y="2002536"/>
            <a:ext cx="1097280" cy="274320"/>
          </a:xfrm>
          <a:prstGeom prst="rect">
            <a:avLst/>
          </a:prstGeom>
          <a:noFill/>
          <a:ln/>
        </p:spPr>
        <p:txBody>
          <a:bodyPr wrap="square" lIns="0" tIns="0" rIns="0" bIns="0" rtlCol="0" anchor="ctr"/>
          <a:lstStyle/>
          <a:p>
            <a:pPr algn="r" indent="0" marL="0">
              <a:buNone/>
            </a:pPr>
            <a:r>
              <a:rPr lang="en-US" sz="1050" dirty="0">
                <a:solidFill>
                  <a:srgbClr val="5E656B"/>
                </a:solidFill>
                <a:latin typeface="Calibri" pitchFamily="34" charset="0"/>
                <a:ea typeface="Calibri" pitchFamily="34" charset="-122"/>
                <a:cs typeface="Calibri" pitchFamily="34" charset="-120"/>
              </a:rPr>
              <a:t>Angebot 10.08.</a:t>
            </a:r>
            <a:endParaRPr lang="en-US" sz="1050" dirty="0"/>
          </a:p>
        </p:txBody>
      </p:sp>
      <p:sp>
        <p:nvSpPr>
          <p:cNvPr id="14" name="Shape 12"/>
          <p:cNvSpPr/>
          <p:nvPr/>
        </p:nvSpPr>
        <p:spPr>
          <a:xfrm>
            <a:off x="566928" y="2468880"/>
            <a:ext cx="4023360" cy="484632"/>
          </a:xfrm>
          <a:prstGeom prst="roundRect">
            <a:avLst>
              <a:gd name="adj" fmla="val 9434"/>
            </a:avLst>
          </a:prstGeom>
          <a:solidFill>
            <a:srgbClr val="F2F2F2"/>
          </a:solidFill>
          <a:ln w="12700">
            <a:solidFill>
              <a:srgbClr val="F2F2F2"/>
            </a:solidFill>
            <a:prstDash val="solid"/>
          </a:ln>
        </p:spPr>
        <p:txBody>
          <a:bodyPr/>
          <a:p/>
        </p:txBody>
      </p:sp>
      <p:sp>
        <p:nvSpPr>
          <p:cNvPr id="15" name="Shape 13"/>
          <p:cNvSpPr/>
          <p:nvPr/>
        </p:nvSpPr>
        <p:spPr>
          <a:xfrm>
            <a:off x="749808" y="2606040"/>
            <a:ext cx="210312" cy="210312"/>
          </a:xfrm>
          <a:prstGeom prst="ellipse">
            <a:avLst/>
          </a:prstGeom>
          <a:solidFill>
            <a:srgbClr val="AD9467"/>
          </a:solidFill>
          <a:ln w="12700">
            <a:solidFill>
              <a:srgbClr val="AD9467"/>
            </a:solidFill>
            <a:prstDash val="solid"/>
          </a:ln>
        </p:spPr>
        <p:txBody>
          <a:bodyPr/>
          <a:p/>
        </p:txBody>
      </p:sp>
      <p:sp>
        <p:nvSpPr>
          <p:cNvPr id="16" name="Text 14"/>
          <p:cNvSpPr txBox="1"/>
          <p:nvPr/>
        </p:nvSpPr>
        <p:spPr>
          <a:xfrm>
            <a:off x="1069848" y="2560320"/>
            <a:ext cx="2286000" cy="301752"/>
          </a:xfrm>
          <a:prstGeom prst="rect">
            <a:avLst/>
          </a:prstGeom>
          <a:noFill/>
          <a:ln/>
        </p:spPr>
        <p:txBody>
          <a:bodyPr wrap="square" lIns="0" tIns="0" rIns="0" bIns="0" rtlCol="0" anchor="ctr"/>
          <a:lstStyle/>
          <a:p>
            <a:pPr indent="0" marL="0">
              <a:buNone/>
            </a:pPr>
            <a:r>
              <a:rPr lang="en-US" sz="1250" b="1" dirty="0">
                <a:solidFill>
                  <a:srgbClr val="363F46"/>
                </a:solidFill>
                <a:latin typeface="Calibri" pitchFamily="34" charset="0"/>
                <a:ea typeface="Calibri" pitchFamily="34" charset="-122"/>
                <a:cs typeface="Calibri" pitchFamily="34" charset="-120"/>
              </a:rPr>
              <a:t>Lotter</a:t>
            </a:r>
            <a:endParaRPr lang="en-US" sz="1250" dirty="0"/>
          </a:p>
        </p:txBody>
      </p:sp>
      <p:sp>
        <p:nvSpPr>
          <p:cNvPr id="17" name="Text 15"/>
          <p:cNvSpPr txBox="1"/>
          <p:nvPr/>
        </p:nvSpPr>
        <p:spPr>
          <a:xfrm>
            <a:off x="3355848" y="2578608"/>
            <a:ext cx="1097280" cy="274320"/>
          </a:xfrm>
          <a:prstGeom prst="rect">
            <a:avLst/>
          </a:prstGeom>
          <a:noFill/>
          <a:ln/>
        </p:spPr>
        <p:txBody>
          <a:bodyPr wrap="square" lIns="0" tIns="0" rIns="0" bIns="0" rtlCol="0" anchor="ctr"/>
          <a:lstStyle/>
          <a:p>
            <a:pPr algn="r" indent="0" marL="0">
              <a:buNone/>
            </a:pPr>
            <a:r>
              <a:rPr lang="en-US" sz="1050" dirty="0">
                <a:solidFill>
                  <a:srgbClr val="5E656B"/>
                </a:solidFill>
                <a:latin typeface="Calibri" pitchFamily="34" charset="0"/>
                <a:ea typeface="Calibri" pitchFamily="34" charset="-122"/>
                <a:cs typeface="Calibri" pitchFamily="34" charset="-120"/>
              </a:rPr>
              <a:t>Angebot 10.08.</a:t>
            </a:r>
            <a:endParaRPr lang="en-US" sz="1050" dirty="0"/>
          </a:p>
        </p:txBody>
      </p:sp>
      <p:sp>
        <p:nvSpPr>
          <p:cNvPr id="18" name="Shape 16"/>
          <p:cNvSpPr/>
          <p:nvPr/>
        </p:nvSpPr>
        <p:spPr>
          <a:xfrm>
            <a:off x="566928" y="3044952"/>
            <a:ext cx="4023360" cy="484632"/>
          </a:xfrm>
          <a:prstGeom prst="roundRect">
            <a:avLst>
              <a:gd name="adj" fmla="val 9434"/>
            </a:avLst>
          </a:prstGeom>
          <a:solidFill>
            <a:srgbClr val="F2F2F2"/>
          </a:solidFill>
          <a:ln w="12700">
            <a:solidFill>
              <a:srgbClr val="F2F2F2"/>
            </a:solidFill>
            <a:prstDash val="solid"/>
          </a:ln>
        </p:spPr>
        <p:txBody>
          <a:bodyPr/>
          <a:p/>
        </p:txBody>
      </p:sp>
      <p:sp>
        <p:nvSpPr>
          <p:cNvPr id="19" name="Shape 17"/>
          <p:cNvSpPr/>
          <p:nvPr/>
        </p:nvSpPr>
        <p:spPr>
          <a:xfrm>
            <a:off x="749808" y="3182112"/>
            <a:ext cx="210312" cy="210312"/>
          </a:xfrm>
          <a:prstGeom prst="ellipse">
            <a:avLst/>
          </a:prstGeom>
          <a:solidFill>
            <a:srgbClr val="AD9467"/>
          </a:solidFill>
          <a:ln w="12700">
            <a:solidFill>
              <a:srgbClr val="AD9467"/>
            </a:solidFill>
            <a:prstDash val="solid"/>
          </a:ln>
        </p:spPr>
        <p:txBody>
          <a:bodyPr/>
          <a:p/>
        </p:txBody>
      </p:sp>
      <p:sp>
        <p:nvSpPr>
          <p:cNvPr id="20" name="Text 18"/>
          <p:cNvSpPr txBox="1"/>
          <p:nvPr/>
        </p:nvSpPr>
        <p:spPr>
          <a:xfrm>
            <a:off x="1069848" y="3136392"/>
            <a:ext cx="2286000" cy="301752"/>
          </a:xfrm>
          <a:prstGeom prst="rect">
            <a:avLst/>
          </a:prstGeom>
          <a:noFill/>
          <a:ln/>
        </p:spPr>
        <p:txBody>
          <a:bodyPr wrap="square" lIns="0" tIns="0" rIns="0" bIns="0" rtlCol="0" anchor="ctr"/>
          <a:lstStyle/>
          <a:p>
            <a:pPr indent="0" marL="0">
              <a:buNone/>
            </a:pPr>
            <a:r>
              <a:rPr lang="en-US" sz="1250" b="1" dirty="0">
                <a:solidFill>
                  <a:srgbClr val="363F46"/>
                </a:solidFill>
                <a:latin typeface="Calibri" pitchFamily="34" charset="0"/>
                <a:ea typeface="Calibri" pitchFamily="34" charset="-122"/>
                <a:cs typeface="Calibri" pitchFamily="34" charset="-120"/>
              </a:rPr>
              <a:t>Spaeter Südwest</a:t>
            </a:r>
            <a:endParaRPr lang="en-US" sz="1250" dirty="0"/>
          </a:p>
        </p:txBody>
      </p:sp>
      <p:sp>
        <p:nvSpPr>
          <p:cNvPr id="21" name="Text 19"/>
          <p:cNvSpPr txBox="1"/>
          <p:nvPr/>
        </p:nvSpPr>
        <p:spPr>
          <a:xfrm>
            <a:off x="3355848" y="3154680"/>
            <a:ext cx="1097280" cy="274320"/>
          </a:xfrm>
          <a:prstGeom prst="rect">
            <a:avLst/>
          </a:prstGeom>
          <a:noFill/>
          <a:ln/>
        </p:spPr>
        <p:txBody>
          <a:bodyPr wrap="square" lIns="0" tIns="0" rIns="0" bIns="0" rtlCol="0" anchor="ctr"/>
          <a:lstStyle/>
          <a:p>
            <a:pPr algn="r" indent="0" marL="0">
              <a:buNone/>
            </a:pPr>
            <a:r>
              <a:rPr lang="en-US" sz="1050" dirty="0">
                <a:solidFill>
                  <a:srgbClr val="5E656B"/>
                </a:solidFill>
                <a:latin typeface="Calibri" pitchFamily="34" charset="0"/>
                <a:ea typeface="Calibri" pitchFamily="34" charset="-122"/>
                <a:cs typeface="Calibri" pitchFamily="34" charset="-120"/>
              </a:rPr>
              <a:t>Angebot 10.08.</a:t>
            </a:r>
            <a:endParaRPr lang="en-US" sz="1050" dirty="0"/>
          </a:p>
        </p:txBody>
      </p:sp>
      <p:sp>
        <p:nvSpPr>
          <p:cNvPr id="22" name="Shape 20"/>
          <p:cNvSpPr/>
          <p:nvPr/>
        </p:nvSpPr>
        <p:spPr>
          <a:xfrm>
            <a:off x="566928" y="3621024"/>
            <a:ext cx="4023360" cy="484632"/>
          </a:xfrm>
          <a:prstGeom prst="roundRect">
            <a:avLst>
              <a:gd name="adj" fmla="val 9434"/>
            </a:avLst>
          </a:prstGeom>
          <a:solidFill>
            <a:srgbClr val="EDEDED"/>
          </a:solidFill>
          <a:ln w="12700">
            <a:solidFill>
              <a:srgbClr val="EDEDED"/>
            </a:solidFill>
            <a:prstDash val="solid"/>
          </a:ln>
        </p:spPr>
        <p:txBody>
          <a:bodyPr/>
          <a:p/>
        </p:txBody>
      </p:sp>
      <p:sp>
        <p:nvSpPr>
          <p:cNvPr id="23" name="Shape 21"/>
          <p:cNvSpPr/>
          <p:nvPr/>
        </p:nvSpPr>
        <p:spPr>
          <a:xfrm>
            <a:off x="749808" y="3758184"/>
            <a:ext cx="210312" cy="210312"/>
          </a:xfrm>
          <a:prstGeom prst="ellipse">
            <a:avLst/>
          </a:prstGeom>
          <a:solidFill>
            <a:srgbClr val="AFB2B5"/>
          </a:solidFill>
          <a:ln w="12700">
            <a:solidFill>
              <a:srgbClr val="AFB2B5"/>
            </a:solidFill>
            <a:prstDash val="solid"/>
          </a:ln>
        </p:spPr>
        <p:txBody>
          <a:bodyPr/>
          <a:p/>
        </p:txBody>
      </p:sp>
      <p:sp>
        <p:nvSpPr>
          <p:cNvPr id="24" name="Text 22"/>
          <p:cNvSpPr txBox="1"/>
          <p:nvPr/>
        </p:nvSpPr>
        <p:spPr>
          <a:xfrm>
            <a:off x="1069848" y="3712464"/>
            <a:ext cx="2286000" cy="301752"/>
          </a:xfrm>
          <a:prstGeom prst="rect">
            <a:avLst/>
          </a:prstGeom>
          <a:noFill/>
          <a:ln/>
        </p:spPr>
        <p:txBody>
          <a:bodyPr wrap="square" lIns="0" tIns="0" rIns="0" bIns="0" rtlCol="0" anchor="ctr"/>
          <a:lstStyle/>
          <a:p>
            <a:pPr indent="0" marL="0">
              <a:buNone/>
            </a:pPr>
            <a:r>
              <a:rPr lang="en-US" sz="1250" b="1" dirty="0">
                <a:solidFill>
                  <a:srgbClr val="636A70"/>
                </a:solidFill>
                <a:latin typeface="Calibri" pitchFamily="34" charset="0"/>
                <a:ea typeface="Calibri" pitchFamily="34" charset="-122"/>
                <a:cs typeface="Calibri" pitchFamily="34" charset="-120"/>
              </a:rPr>
              <a:t>Sülzle Hagmeyer</a:t>
            </a:r>
            <a:endParaRPr lang="en-US" sz="1250" dirty="0"/>
          </a:p>
        </p:txBody>
      </p:sp>
      <p:sp>
        <p:nvSpPr>
          <p:cNvPr id="25" name="Text 23"/>
          <p:cNvSpPr txBox="1"/>
          <p:nvPr/>
        </p:nvSpPr>
        <p:spPr>
          <a:xfrm>
            <a:off x="3355848" y="3730752"/>
            <a:ext cx="1097280" cy="274320"/>
          </a:xfrm>
          <a:prstGeom prst="rect">
            <a:avLst/>
          </a:prstGeom>
          <a:noFill/>
          <a:ln/>
        </p:spPr>
        <p:txBody>
          <a:bodyPr wrap="square" lIns="0" tIns="0" rIns="0" bIns="0" rtlCol="0" anchor="ctr"/>
          <a:lstStyle/>
          <a:p>
            <a:pPr algn="r" indent="0" marL="0">
              <a:buNone/>
            </a:pPr>
            <a:r>
              <a:rPr lang="en-US" sz="1050" dirty="0">
                <a:solidFill>
                  <a:srgbClr val="636A70"/>
                </a:solidFill>
                <a:latin typeface="Calibri" pitchFamily="34" charset="0"/>
                <a:ea typeface="Calibri" pitchFamily="34" charset="-122"/>
                <a:cs typeface="Calibri" pitchFamily="34" charset="-120"/>
              </a:rPr>
              <a:t>kein Angebot</a:t>
            </a:r>
            <a:endParaRPr lang="en-US" sz="1050" dirty="0"/>
          </a:p>
        </p:txBody>
      </p:sp>
      <p:sp>
        <p:nvSpPr>
          <p:cNvPr id="26" name="Shape 24"/>
          <p:cNvSpPr/>
          <p:nvPr/>
        </p:nvSpPr>
        <p:spPr>
          <a:xfrm>
            <a:off x="4864608" y="1316736"/>
            <a:ext cx="3712464" cy="2999232"/>
          </a:xfrm>
          <a:prstGeom prst="roundRect">
            <a:avLst>
              <a:gd name="adj" fmla="val 1524"/>
            </a:avLst>
          </a:prstGeom>
          <a:solidFill>
            <a:srgbClr val="363F46"/>
          </a:solidFill>
          <a:ln w="12700">
            <a:solidFill>
              <a:srgbClr val="363F46"/>
            </a:solidFill>
            <a:prstDash val="solid"/>
          </a:ln>
        </p:spPr>
        <p:txBody>
          <a:bodyPr/>
          <a:p/>
        </p:txBody>
      </p:sp>
      <p:sp>
        <p:nvSpPr>
          <p:cNvPr id="27" name="Text 25"/>
          <p:cNvSpPr txBox="1"/>
          <p:nvPr/>
        </p:nvSpPr>
        <p:spPr>
          <a:xfrm>
            <a:off x="5102352" y="1481328"/>
            <a:ext cx="32004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Worauf ich geachtet habe</a:t>
            </a:r>
            <a:endParaRPr lang="en-US" sz="1300" dirty="0"/>
          </a:p>
        </p:txBody>
      </p:sp>
      <p:sp>
        <p:nvSpPr>
          <p:cNvPr id="28" name="Text 26"/>
          <p:cNvSpPr txBox="1"/>
          <p:nvPr/>
        </p:nvSpPr>
        <p:spPr>
          <a:xfrm>
            <a:off x="5102352" y="1901952"/>
            <a:ext cx="3200400" cy="237744"/>
          </a:xfrm>
          <a:prstGeom prst="rect">
            <a:avLst/>
          </a:prstGeom>
          <a:noFill/>
          <a:ln/>
        </p:spPr>
        <p:txBody>
          <a:bodyPr wrap="square" lIns="0" tIns="0" rIns="0" bIns="0" rtlCol="0" anchor="ctr"/>
          <a:lstStyle/>
          <a:p>
            <a:pPr indent="0" marL="0">
              <a:buNone/>
            </a:pPr>
            <a:r>
              <a:rPr lang="en-US" sz="1200" b="1" dirty="0">
                <a:solidFill>
                  <a:srgbClr val="AD9467"/>
                </a:solidFill>
                <a:latin typeface="Calibri" pitchFamily="34" charset="0"/>
                <a:ea typeface="Calibri" pitchFamily="34" charset="-122"/>
                <a:cs typeface="Calibri" pitchFamily="34" charset="-120"/>
              </a:rPr>
              <a:t>Alle Angebote freibleibend</a:t>
            </a:r>
            <a:endParaRPr lang="en-US" sz="1200" dirty="0"/>
          </a:p>
        </p:txBody>
      </p:sp>
      <p:sp>
        <p:nvSpPr>
          <p:cNvPr id="29" name="Text 27"/>
          <p:cNvSpPr txBox="1"/>
          <p:nvPr/>
        </p:nvSpPr>
        <p:spPr>
          <a:xfrm>
            <a:off x="5102352" y="2148840"/>
            <a:ext cx="3246120" cy="502920"/>
          </a:xfrm>
          <a:prstGeom prst="rect">
            <a:avLst/>
          </a:prstGeom>
          <a:noFill/>
          <a:ln/>
        </p:spPr>
        <p:txBody>
          <a:bodyPr wrap="square" lIns="0" tIns="0" rIns="0" bIns="0" rtlCol="0" anchor="ctr"/>
          <a:lstStyle/>
          <a:p>
            <a:pPr indent="0" marL="0">
              <a:lnSpc>
                <a:spcPct val="115000"/>
              </a:lnSpc>
              <a:buNone/>
            </a:pPr>
            <a:r>
              <a:rPr lang="en-US" sz="1050" dirty="0">
                <a:solidFill>
                  <a:srgbClr val="AFB2B5"/>
                </a:solidFill>
                <a:latin typeface="Calibri" pitchFamily="34" charset="0"/>
                <a:ea typeface="Calibri" pitchFamily="34" charset="-122"/>
                <a:cs typeface="Calibri" pitchFamily="34" charset="-120"/>
              </a:rPr>
              <a:t>Klöckner zusätzlich mit dem Zusatz Zwischenverkauf vorbehalten</a:t>
            </a:r>
            <a:endParaRPr lang="en-US" sz="1050" dirty="0"/>
          </a:p>
        </p:txBody>
      </p:sp>
      <p:sp>
        <p:nvSpPr>
          <p:cNvPr id="30" name="Text 28"/>
          <p:cNvSpPr txBox="1"/>
          <p:nvPr/>
        </p:nvSpPr>
        <p:spPr>
          <a:xfrm>
            <a:off x="5102352" y="2706624"/>
            <a:ext cx="3200400" cy="237744"/>
          </a:xfrm>
          <a:prstGeom prst="rect">
            <a:avLst/>
          </a:prstGeom>
          <a:noFill/>
          <a:ln/>
        </p:spPr>
        <p:txBody>
          <a:bodyPr wrap="square" lIns="0" tIns="0" rIns="0" bIns="0" rtlCol="0" anchor="ctr"/>
          <a:lstStyle/>
          <a:p>
            <a:pPr indent="0" marL="0">
              <a:buNone/>
            </a:pPr>
            <a:r>
              <a:rPr lang="en-US" sz="1200" b="1" dirty="0">
                <a:solidFill>
                  <a:srgbClr val="AD9467"/>
                </a:solidFill>
                <a:latin typeface="Calibri" pitchFamily="34" charset="0"/>
                <a:ea typeface="Calibri" pitchFamily="34" charset="-122"/>
                <a:cs typeface="Calibri" pitchFamily="34" charset="-120"/>
              </a:rPr>
              <a:t>Versandbedingungen</a:t>
            </a:r>
            <a:endParaRPr lang="en-US" sz="1200" dirty="0"/>
          </a:p>
        </p:txBody>
      </p:sp>
      <p:sp>
        <p:nvSpPr>
          <p:cNvPr id="31" name="Text 29"/>
          <p:cNvSpPr txBox="1"/>
          <p:nvPr/>
        </p:nvSpPr>
        <p:spPr>
          <a:xfrm>
            <a:off x="5102352" y="2953512"/>
            <a:ext cx="3246120" cy="502920"/>
          </a:xfrm>
          <a:prstGeom prst="rect">
            <a:avLst/>
          </a:prstGeom>
          <a:noFill/>
          <a:ln/>
        </p:spPr>
        <p:txBody>
          <a:bodyPr wrap="square" lIns="0" tIns="0" rIns="0" bIns="0" rtlCol="0" anchor="ctr"/>
          <a:lstStyle/>
          <a:p>
            <a:pPr indent="0" marL="0">
              <a:lnSpc>
                <a:spcPct val="115000"/>
              </a:lnSpc>
              <a:buNone/>
            </a:pPr>
            <a:r>
              <a:rPr lang="en-US" sz="1050" dirty="0">
                <a:solidFill>
                  <a:srgbClr val="AFB2B5"/>
                </a:solidFill>
                <a:latin typeface="Calibri" pitchFamily="34" charset="0"/>
                <a:ea typeface="Calibri" pitchFamily="34" charset="-122"/>
                <a:cs typeface="Calibri" pitchFamily="34" charset="-120"/>
              </a:rPr>
              <a:t>Anfrage ab Werk, jeder Händler nennt eigene Frachtkosten und Zuschläge</a:t>
            </a:r>
            <a:endParaRPr lang="en-US" sz="1050" dirty="0"/>
          </a:p>
        </p:txBody>
      </p:sp>
      <p:sp>
        <p:nvSpPr>
          <p:cNvPr id="32" name="Text 30"/>
          <p:cNvSpPr txBox="1"/>
          <p:nvPr/>
        </p:nvSpPr>
        <p:spPr>
          <a:xfrm>
            <a:off x="5102352" y="3511296"/>
            <a:ext cx="3200400" cy="237744"/>
          </a:xfrm>
          <a:prstGeom prst="rect">
            <a:avLst/>
          </a:prstGeom>
          <a:noFill/>
          <a:ln/>
        </p:spPr>
        <p:txBody>
          <a:bodyPr wrap="square" lIns="0" tIns="0" rIns="0" bIns="0" rtlCol="0" anchor="ctr"/>
          <a:lstStyle/>
          <a:p>
            <a:pPr indent="0" marL="0">
              <a:buNone/>
            </a:pPr>
            <a:r>
              <a:rPr lang="en-US" sz="1200" b="1" dirty="0">
                <a:solidFill>
                  <a:srgbClr val="AD9467"/>
                </a:solidFill>
                <a:latin typeface="Calibri" pitchFamily="34" charset="0"/>
                <a:ea typeface="Calibri" pitchFamily="34" charset="-122"/>
                <a:cs typeface="Calibri" pitchFamily="34" charset="-120"/>
              </a:rPr>
              <a:t>Zeugnisart je Position</a:t>
            </a:r>
            <a:endParaRPr lang="en-US" sz="1200" dirty="0"/>
          </a:p>
        </p:txBody>
      </p:sp>
      <p:sp>
        <p:nvSpPr>
          <p:cNvPr id="33" name="Text 31"/>
          <p:cNvSpPr txBox="1"/>
          <p:nvPr/>
        </p:nvSpPr>
        <p:spPr>
          <a:xfrm>
            <a:off x="5102352" y="3758184"/>
            <a:ext cx="3246120" cy="502920"/>
          </a:xfrm>
          <a:prstGeom prst="rect">
            <a:avLst/>
          </a:prstGeom>
          <a:noFill/>
          <a:ln/>
        </p:spPr>
        <p:txBody>
          <a:bodyPr wrap="square" lIns="0" tIns="0" rIns="0" bIns="0" rtlCol="0" anchor="ctr"/>
          <a:lstStyle/>
          <a:p>
            <a:pPr indent="0" marL="0">
              <a:lnSpc>
                <a:spcPct val="115000"/>
              </a:lnSpc>
              <a:buNone/>
            </a:pPr>
            <a:r>
              <a:rPr lang="en-US" sz="1050" dirty="0">
                <a:solidFill>
                  <a:srgbClr val="AFB2B5"/>
                </a:solidFill>
                <a:latin typeface="Calibri" pitchFamily="34" charset="0"/>
                <a:ea typeface="Calibri" pitchFamily="34" charset="-122"/>
                <a:cs typeface="Calibri" pitchFamily="34" charset="-120"/>
              </a:rPr>
              <a:t>Angefragt war „Werkszeugnisse / Abnahmeprüfzeugnis 3.1“ für sechs Stück</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75320" y="4718304"/>
            <a:ext cx="365760" cy="237744"/>
          </a:xfrm>
          <a:prstGeom prst="rect">
            <a:avLst/>
          </a:prstGeom>
          <a:noFill/>
          <a:ln/>
        </p:spPr>
        <p:txBody>
          <a:bodyPr wrap="square" lIns="0" tIns="0" rIns="0" bIns="0" rtlCol="0" anchor="ctr"/>
          <a:lstStyle/>
          <a:p>
            <a:pPr algn="r" indent="0" marL="0">
              <a:buNone/>
            </a:pPr>
            <a:r>
              <a:rPr lang="en-US" sz="1000" dirty="0">
                <a:solidFill>
                  <a:srgbClr val="636A70"/>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66928" y="4718304"/>
            <a:ext cx="5943600" cy="237744"/>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METALLART Treppen GmbH  ·  Fachaufgabe im Einsatzgebiet  ·  Alex Urban</a:t>
            </a:r>
            <a:endParaRPr lang="en-US" sz="900" dirty="0"/>
          </a:p>
        </p:txBody>
      </p:sp>
      <p:sp>
        <p:nvSpPr>
          <p:cNvPr id="4" name="Text 2"/>
          <p:cNvSpPr txBox="1"/>
          <p:nvPr/>
        </p:nvSpPr>
        <p:spPr>
          <a:xfrm>
            <a:off x="566928" y="365760"/>
            <a:ext cx="8010144" cy="201168"/>
          </a:xfrm>
          <a:prstGeom prst="rect">
            <a:avLst/>
          </a:prstGeom>
          <a:noFill/>
          <a:ln/>
        </p:spPr>
        <p:txBody>
          <a:bodyPr wrap="square" lIns="0" tIns="0" rIns="0" bIns="0" rtlCol="0" anchor="ctr"/>
          <a:lstStyle/>
          <a:p>
            <a:pPr indent="0" marL="0">
              <a:buNone/>
            </a:pPr>
            <a:r>
              <a:rPr lang="en-US" sz="1000" b="1" spc="200" kern="0" dirty="0">
                <a:solidFill>
                  <a:srgbClr val="806A45"/>
                </a:solidFill>
                <a:latin typeface="Calibri" pitchFamily="34" charset="0"/>
                <a:ea typeface="Calibri" pitchFamily="34" charset="-122"/>
                <a:cs typeface="Calibri" pitchFamily="34" charset="-120"/>
              </a:rPr>
              <a:t>SCHRITT 3</a:t>
            </a:r>
            <a:endParaRPr lang="en-US" sz="1000" dirty="0"/>
          </a:p>
        </p:txBody>
      </p:sp>
      <p:sp>
        <p:nvSpPr>
          <p:cNvPr id="5" name="Text 3"/>
          <p:cNvSpPr txBox="1"/>
          <p:nvPr/>
        </p:nvSpPr>
        <p:spPr>
          <a:xfrm>
            <a:off x="566928" y="566928"/>
            <a:ext cx="8010144" cy="914400"/>
          </a:xfrm>
          <a:prstGeom prst="rect">
            <a:avLst/>
          </a:prstGeom>
          <a:noFill/>
          <a:ln/>
        </p:spPr>
        <p:txBody>
          <a:bodyPr wrap="square" lIns="0" tIns="0" rIns="0" bIns="0" rtlCol="0" anchor="t"/>
          <a:lstStyle/>
          <a:p>
            <a:pPr indent="0" marL="0">
              <a:buNone/>
            </a:pPr>
            <a:r>
              <a:rPr lang="en-US" sz="2800" dirty="0">
                <a:solidFill>
                  <a:srgbClr val="363F46"/>
                </a:solidFill>
                <a:latin typeface="Calibri Light" pitchFamily="34" charset="0"/>
                <a:ea typeface="Calibri Light" pitchFamily="34" charset="-122"/>
                <a:cs typeface="Calibri Light" pitchFamily="34" charset="-120"/>
              </a:rPr>
              <a:t>Preisvergleich auf einheitlicher Menge</a:t>
            </a:r>
            <a:endParaRPr lang="en-US" sz="2800" dirty="0"/>
          </a:p>
        </p:txBody>
      </p:sp>
      <p:sp>
        <p:nvSpPr>
          <p:cNvPr id="6" name="Text 4"/>
          <p:cNvSpPr txBox="1"/>
          <p:nvPr/>
        </p:nvSpPr>
        <p:spPr>
          <a:xfrm>
            <a:off x="566928" y="1225296"/>
            <a:ext cx="8010144" cy="457200"/>
          </a:xfrm>
          <a:prstGeom prst="rect">
            <a:avLst/>
          </a:prstGeom>
          <a:noFill/>
          <a:ln/>
        </p:spPr>
        <p:txBody>
          <a:bodyPr wrap="square" lIns="0" tIns="0" rIns="0" bIns="0" rtlCol="0" anchor="ctr"/>
          <a:lstStyle/>
          <a:p>
            <a:pPr indent="0" marL="0">
              <a:lnSpc>
                <a:spcPct val="120000"/>
              </a:lnSpc>
              <a:buNone/>
            </a:pPr>
            <a:r>
              <a:rPr lang="en-US" sz="1200" dirty="0">
                <a:solidFill>
                  <a:srgbClr val="5E656B"/>
                </a:solidFill>
                <a:latin typeface="Calibri" pitchFamily="34" charset="0"/>
                <a:ea typeface="Calibri" pitchFamily="34" charset="-122"/>
                <a:cs typeface="Calibri" pitchFamily="34" charset="-120"/>
              </a:rPr>
              <a:t>Der Preisspiegel rechnet jede Position auf dieselbe Vergleichsmenge um, ein Paket, ausgewiesen in Tafeln und Kilogramm. Erst dadurch vergleicht man Preise und nicht Mengen.</a:t>
            </a:r>
            <a:endParaRPr lang="en-US" sz="1200" dirty="0"/>
          </a:p>
        </p:txBody>
      </p:sp>
      <p:sp>
        <p:nvSpPr>
          <p:cNvPr id="7" name="Shape 5"/>
          <p:cNvSpPr/>
          <p:nvPr/>
        </p:nvSpPr>
        <p:spPr>
          <a:xfrm>
            <a:off x="566928" y="1810512"/>
            <a:ext cx="1892808" cy="1572768"/>
          </a:xfrm>
          <a:prstGeom prst="roundRect">
            <a:avLst>
              <a:gd name="adj" fmla="val 2907"/>
            </a:avLst>
          </a:prstGeom>
          <a:solidFill>
            <a:srgbClr val="F2F2F2"/>
          </a:solidFill>
          <a:ln w="12700">
            <a:solidFill>
              <a:srgbClr val="F2F2F2"/>
            </a:solidFill>
            <a:prstDash val="solid"/>
          </a:ln>
        </p:spPr>
        <p:txBody>
          <a:bodyPr/>
          <a:p/>
        </p:txBody>
      </p:sp>
      <p:sp>
        <p:nvSpPr>
          <p:cNvPr id="8" name="Text 6"/>
          <p:cNvSpPr txBox="1"/>
          <p:nvPr/>
        </p:nvSpPr>
        <p:spPr>
          <a:xfrm>
            <a:off x="749808" y="1956816"/>
            <a:ext cx="1554480" cy="256032"/>
          </a:xfrm>
          <a:prstGeom prst="rect">
            <a:avLst/>
          </a:prstGeom>
          <a:noFill/>
          <a:ln/>
        </p:spPr>
        <p:txBody>
          <a:bodyPr wrap="square" lIns="0" tIns="0" rIns="0" bIns="0" rtlCol="0" anchor="ctr"/>
          <a:lstStyle/>
          <a:p>
            <a:pPr indent="0" marL="0">
              <a:buNone/>
            </a:pPr>
            <a:r>
              <a:rPr lang="en-US" sz="1200" b="1" dirty="0">
                <a:solidFill>
                  <a:srgbClr val="5E656B"/>
                </a:solidFill>
                <a:latin typeface="Calibri" pitchFamily="34" charset="0"/>
                <a:ea typeface="Calibri" pitchFamily="34" charset="-122"/>
                <a:cs typeface="Calibri" pitchFamily="34" charset="-120"/>
              </a:rPr>
              <a:t>Klöckner</a:t>
            </a:r>
            <a:endParaRPr lang="en-US" sz="1200" dirty="0"/>
          </a:p>
        </p:txBody>
      </p:sp>
      <p:sp>
        <p:nvSpPr>
          <p:cNvPr id="9" name="Text 7"/>
          <p:cNvSpPr txBox="1"/>
          <p:nvPr/>
        </p:nvSpPr>
        <p:spPr>
          <a:xfrm>
            <a:off x="749808" y="2267712"/>
            <a:ext cx="1600200" cy="457200"/>
          </a:xfrm>
          <a:prstGeom prst="rect">
            <a:avLst/>
          </a:prstGeom>
          <a:noFill/>
          <a:ln/>
        </p:spPr>
        <p:txBody>
          <a:bodyPr wrap="square" lIns="0" tIns="0" rIns="0" bIns="0" rtlCol="0" anchor="ctr"/>
          <a:lstStyle/>
          <a:p>
            <a:pPr indent="0" marL="0">
              <a:buNone/>
            </a:pPr>
            <a:r>
              <a:rPr lang="en-US" sz="2100" dirty="0">
                <a:solidFill>
                  <a:srgbClr val="363F46"/>
                </a:solidFill>
                <a:latin typeface="Calibri Light" pitchFamily="34" charset="0"/>
                <a:ea typeface="Calibri Light" pitchFamily="34" charset="-122"/>
                <a:cs typeface="Calibri Light" pitchFamily="34" charset="-120"/>
              </a:rPr>
              <a:t>9.451,87</a:t>
            </a:r>
            <a:endParaRPr lang="en-US" sz="2100" dirty="0"/>
          </a:p>
        </p:txBody>
      </p:sp>
      <p:sp>
        <p:nvSpPr>
          <p:cNvPr id="10" name="Text 8"/>
          <p:cNvSpPr txBox="1"/>
          <p:nvPr/>
        </p:nvSpPr>
        <p:spPr>
          <a:xfrm>
            <a:off x="749808" y="2706624"/>
            <a:ext cx="1554480" cy="201168"/>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Euro netto</a:t>
            </a:r>
            <a:endParaRPr lang="en-US" sz="900" dirty="0"/>
          </a:p>
        </p:txBody>
      </p:sp>
      <p:sp>
        <p:nvSpPr>
          <p:cNvPr id="11" name="Shape 9"/>
          <p:cNvSpPr/>
          <p:nvPr/>
        </p:nvSpPr>
        <p:spPr>
          <a:xfrm>
            <a:off x="2606040" y="1810512"/>
            <a:ext cx="1892808" cy="1572768"/>
          </a:xfrm>
          <a:prstGeom prst="roundRect">
            <a:avLst>
              <a:gd name="adj" fmla="val 2907"/>
            </a:avLst>
          </a:prstGeom>
          <a:solidFill>
            <a:srgbClr val="F2F2F2"/>
          </a:solidFill>
          <a:ln w="12700">
            <a:solidFill>
              <a:srgbClr val="F2F2F2"/>
            </a:solidFill>
            <a:prstDash val="solid"/>
          </a:ln>
        </p:spPr>
        <p:txBody>
          <a:bodyPr/>
          <a:p/>
        </p:txBody>
      </p:sp>
      <p:sp>
        <p:nvSpPr>
          <p:cNvPr id="12" name="Text 10"/>
          <p:cNvSpPr txBox="1"/>
          <p:nvPr/>
        </p:nvSpPr>
        <p:spPr>
          <a:xfrm>
            <a:off x="2788920" y="1956816"/>
            <a:ext cx="1554480" cy="256032"/>
          </a:xfrm>
          <a:prstGeom prst="rect">
            <a:avLst/>
          </a:prstGeom>
          <a:noFill/>
          <a:ln/>
        </p:spPr>
        <p:txBody>
          <a:bodyPr wrap="square" lIns="0" tIns="0" rIns="0" bIns="0" rtlCol="0" anchor="ctr"/>
          <a:lstStyle/>
          <a:p>
            <a:pPr indent="0" marL="0">
              <a:buNone/>
            </a:pPr>
            <a:r>
              <a:rPr lang="en-US" sz="1200" b="1" dirty="0">
                <a:solidFill>
                  <a:srgbClr val="5E656B"/>
                </a:solidFill>
                <a:latin typeface="Calibri" pitchFamily="34" charset="0"/>
                <a:ea typeface="Calibri" pitchFamily="34" charset="-122"/>
                <a:cs typeface="Calibri" pitchFamily="34" charset="-120"/>
              </a:rPr>
              <a:t>Salzgitter</a:t>
            </a:r>
            <a:endParaRPr lang="en-US" sz="1200" dirty="0"/>
          </a:p>
        </p:txBody>
      </p:sp>
      <p:sp>
        <p:nvSpPr>
          <p:cNvPr id="13" name="Text 11"/>
          <p:cNvSpPr txBox="1"/>
          <p:nvPr/>
        </p:nvSpPr>
        <p:spPr>
          <a:xfrm>
            <a:off x="2788920" y="2267712"/>
            <a:ext cx="1600200" cy="457200"/>
          </a:xfrm>
          <a:prstGeom prst="rect">
            <a:avLst/>
          </a:prstGeom>
          <a:noFill/>
          <a:ln/>
        </p:spPr>
        <p:txBody>
          <a:bodyPr wrap="square" lIns="0" tIns="0" rIns="0" bIns="0" rtlCol="0" anchor="ctr"/>
          <a:lstStyle/>
          <a:p>
            <a:pPr indent="0" marL="0">
              <a:buNone/>
            </a:pPr>
            <a:r>
              <a:rPr lang="en-US" sz="2100" dirty="0">
                <a:solidFill>
                  <a:srgbClr val="363F46"/>
                </a:solidFill>
                <a:latin typeface="Calibri Light" pitchFamily="34" charset="0"/>
                <a:ea typeface="Calibri Light" pitchFamily="34" charset="-122"/>
                <a:cs typeface="Calibri Light" pitchFamily="34" charset="-120"/>
              </a:rPr>
              <a:t>9.811,36</a:t>
            </a:r>
            <a:endParaRPr lang="en-US" sz="2100" dirty="0"/>
          </a:p>
        </p:txBody>
      </p:sp>
      <p:sp>
        <p:nvSpPr>
          <p:cNvPr id="14" name="Text 12"/>
          <p:cNvSpPr txBox="1"/>
          <p:nvPr/>
        </p:nvSpPr>
        <p:spPr>
          <a:xfrm>
            <a:off x="2788920" y="2706624"/>
            <a:ext cx="1554480" cy="201168"/>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Euro netto</a:t>
            </a:r>
            <a:endParaRPr lang="en-US" sz="900" dirty="0"/>
          </a:p>
        </p:txBody>
      </p:sp>
      <p:sp>
        <p:nvSpPr>
          <p:cNvPr id="15" name="Shape 13"/>
          <p:cNvSpPr/>
          <p:nvPr/>
        </p:nvSpPr>
        <p:spPr>
          <a:xfrm>
            <a:off x="4645152" y="1810512"/>
            <a:ext cx="1892808" cy="1572768"/>
          </a:xfrm>
          <a:prstGeom prst="roundRect">
            <a:avLst>
              <a:gd name="adj" fmla="val 2907"/>
            </a:avLst>
          </a:prstGeom>
          <a:solidFill>
            <a:srgbClr val="F2F2F2"/>
          </a:solidFill>
          <a:ln w="12700">
            <a:solidFill>
              <a:srgbClr val="F2F2F2"/>
            </a:solidFill>
            <a:prstDash val="solid"/>
          </a:ln>
        </p:spPr>
        <p:txBody>
          <a:bodyPr/>
          <a:p/>
        </p:txBody>
      </p:sp>
      <p:sp>
        <p:nvSpPr>
          <p:cNvPr id="16" name="Text 14"/>
          <p:cNvSpPr txBox="1"/>
          <p:nvPr/>
        </p:nvSpPr>
        <p:spPr>
          <a:xfrm>
            <a:off x="4828032" y="1956816"/>
            <a:ext cx="1554480" cy="256032"/>
          </a:xfrm>
          <a:prstGeom prst="rect">
            <a:avLst/>
          </a:prstGeom>
          <a:noFill/>
          <a:ln/>
        </p:spPr>
        <p:txBody>
          <a:bodyPr wrap="square" lIns="0" tIns="0" rIns="0" bIns="0" rtlCol="0" anchor="ctr"/>
          <a:lstStyle/>
          <a:p>
            <a:pPr indent="0" marL="0">
              <a:buNone/>
            </a:pPr>
            <a:r>
              <a:rPr lang="en-US" sz="1200" b="1" dirty="0">
                <a:solidFill>
                  <a:srgbClr val="5E656B"/>
                </a:solidFill>
                <a:latin typeface="Calibri" pitchFamily="34" charset="0"/>
                <a:ea typeface="Calibri" pitchFamily="34" charset="-122"/>
                <a:cs typeface="Calibri" pitchFamily="34" charset="-120"/>
              </a:rPr>
              <a:t>Lotter</a:t>
            </a:r>
            <a:endParaRPr lang="en-US" sz="1200" dirty="0"/>
          </a:p>
        </p:txBody>
      </p:sp>
      <p:sp>
        <p:nvSpPr>
          <p:cNvPr id="17" name="Text 15"/>
          <p:cNvSpPr txBox="1"/>
          <p:nvPr/>
        </p:nvSpPr>
        <p:spPr>
          <a:xfrm>
            <a:off x="4828032" y="2267712"/>
            <a:ext cx="1600200" cy="457200"/>
          </a:xfrm>
          <a:prstGeom prst="rect">
            <a:avLst/>
          </a:prstGeom>
          <a:noFill/>
          <a:ln/>
        </p:spPr>
        <p:txBody>
          <a:bodyPr wrap="square" lIns="0" tIns="0" rIns="0" bIns="0" rtlCol="0" anchor="ctr"/>
          <a:lstStyle/>
          <a:p>
            <a:pPr indent="0" marL="0">
              <a:buNone/>
            </a:pPr>
            <a:r>
              <a:rPr lang="en-US" sz="2100" dirty="0">
                <a:solidFill>
                  <a:srgbClr val="363F46"/>
                </a:solidFill>
                <a:latin typeface="Calibri Light" pitchFamily="34" charset="0"/>
                <a:ea typeface="Calibri Light" pitchFamily="34" charset="-122"/>
                <a:cs typeface="Calibri Light" pitchFamily="34" charset="-120"/>
              </a:rPr>
              <a:t>9.962,67</a:t>
            </a:r>
            <a:endParaRPr lang="en-US" sz="2100" dirty="0"/>
          </a:p>
        </p:txBody>
      </p:sp>
      <p:sp>
        <p:nvSpPr>
          <p:cNvPr id="18" name="Text 16"/>
          <p:cNvSpPr txBox="1"/>
          <p:nvPr/>
        </p:nvSpPr>
        <p:spPr>
          <a:xfrm>
            <a:off x="4828032" y="2706624"/>
            <a:ext cx="1554480" cy="201168"/>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Euro netto</a:t>
            </a:r>
            <a:endParaRPr lang="en-US" sz="900" dirty="0"/>
          </a:p>
        </p:txBody>
      </p:sp>
      <p:sp>
        <p:nvSpPr>
          <p:cNvPr id="19" name="Shape 17"/>
          <p:cNvSpPr/>
          <p:nvPr/>
        </p:nvSpPr>
        <p:spPr>
          <a:xfrm>
            <a:off x="6684264" y="1810512"/>
            <a:ext cx="1892808" cy="1572768"/>
          </a:xfrm>
          <a:prstGeom prst="roundRect">
            <a:avLst>
              <a:gd name="adj" fmla="val 2907"/>
            </a:avLst>
          </a:prstGeom>
          <a:solidFill>
            <a:srgbClr val="F2F2F2"/>
          </a:solidFill>
          <a:ln w="12700">
            <a:solidFill>
              <a:srgbClr val="F2F2F2"/>
            </a:solidFill>
            <a:prstDash val="solid"/>
          </a:ln>
        </p:spPr>
        <p:txBody>
          <a:bodyPr/>
          <a:p/>
        </p:txBody>
      </p:sp>
      <p:sp>
        <p:nvSpPr>
          <p:cNvPr id="20" name="Text 18"/>
          <p:cNvSpPr txBox="1"/>
          <p:nvPr/>
        </p:nvSpPr>
        <p:spPr>
          <a:xfrm>
            <a:off x="6867144" y="1956816"/>
            <a:ext cx="1554480" cy="256032"/>
          </a:xfrm>
          <a:prstGeom prst="rect">
            <a:avLst/>
          </a:prstGeom>
          <a:noFill/>
          <a:ln/>
        </p:spPr>
        <p:txBody>
          <a:bodyPr wrap="square" lIns="0" tIns="0" rIns="0" bIns="0" rtlCol="0" anchor="ctr"/>
          <a:lstStyle/>
          <a:p>
            <a:pPr indent="0" marL="0">
              <a:buNone/>
            </a:pPr>
            <a:r>
              <a:rPr lang="en-US" sz="1200" b="1" dirty="0">
                <a:solidFill>
                  <a:srgbClr val="5E656B"/>
                </a:solidFill>
                <a:latin typeface="Calibri" pitchFamily="34" charset="0"/>
                <a:ea typeface="Calibri" pitchFamily="34" charset="-122"/>
                <a:cs typeface="Calibri" pitchFamily="34" charset="-120"/>
              </a:rPr>
              <a:t>Spaeter</a:t>
            </a:r>
            <a:endParaRPr lang="en-US" sz="1200" dirty="0"/>
          </a:p>
        </p:txBody>
      </p:sp>
      <p:sp>
        <p:nvSpPr>
          <p:cNvPr id="21" name="Text 19"/>
          <p:cNvSpPr txBox="1"/>
          <p:nvPr/>
        </p:nvSpPr>
        <p:spPr>
          <a:xfrm>
            <a:off x="6867144" y="2267712"/>
            <a:ext cx="1600200" cy="457200"/>
          </a:xfrm>
          <a:prstGeom prst="rect">
            <a:avLst/>
          </a:prstGeom>
          <a:noFill/>
          <a:ln/>
        </p:spPr>
        <p:txBody>
          <a:bodyPr wrap="square" lIns="0" tIns="0" rIns="0" bIns="0" rtlCol="0" anchor="ctr"/>
          <a:lstStyle/>
          <a:p>
            <a:pPr indent="0" marL="0">
              <a:buNone/>
            </a:pPr>
            <a:r>
              <a:rPr lang="en-US" sz="2100" dirty="0">
                <a:solidFill>
                  <a:srgbClr val="363F46"/>
                </a:solidFill>
                <a:latin typeface="Calibri Light" pitchFamily="34" charset="0"/>
                <a:ea typeface="Calibri Light" pitchFamily="34" charset="-122"/>
                <a:cs typeface="Calibri Light" pitchFamily="34" charset="-120"/>
              </a:rPr>
              <a:t>10.155,76</a:t>
            </a:r>
            <a:endParaRPr lang="en-US" sz="2100" dirty="0"/>
          </a:p>
        </p:txBody>
      </p:sp>
      <p:sp>
        <p:nvSpPr>
          <p:cNvPr id="22" name="Text 20"/>
          <p:cNvSpPr txBox="1"/>
          <p:nvPr/>
        </p:nvSpPr>
        <p:spPr>
          <a:xfrm>
            <a:off x="6867144" y="2706624"/>
            <a:ext cx="1554480" cy="201168"/>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Euro netto</a:t>
            </a:r>
            <a:endParaRPr lang="en-US" sz="900" dirty="0"/>
          </a:p>
        </p:txBody>
      </p:sp>
      <p:sp>
        <p:nvSpPr>
          <p:cNvPr id="23" name="Text 21"/>
          <p:cNvSpPr txBox="1"/>
          <p:nvPr/>
        </p:nvSpPr>
        <p:spPr>
          <a:xfrm>
            <a:off x="566928" y="3493008"/>
            <a:ext cx="8010144" cy="219456"/>
          </a:xfrm>
          <a:prstGeom prst="rect">
            <a:avLst/>
          </a:prstGeom>
          <a:noFill/>
          <a:ln/>
        </p:spPr>
        <p:txBody>
          <a:bodyPr wrap="square" lIns="0" tIns="0" rIns="0" bIns="0" rtlCol="0" anchor="ctr"/>
          <a:lstStyle/>
          <a:p>
            <a:pPr indent="0" marL="0">
              <a:buNone/>
            </a:pPr>
            <a:r>
              <a:rPr lang="en-US" sz="1000" i="1" dirty="0">
                <a:solidFill>
                  <a:srgbClr val="636A70"/>
                </a:solidFill>
                <a:latin typeface="Calibri" pitchFamily="34" charset="0"/>
                <a:ea typeface="Calibri" pitchFamily="34" charset="-122"/>
                <a:cs typeface="Calibri" pitchFamily="34" charset="-120"/>
              </a:rPr>
              <a:t>Summe der fünf Positionen mit Restbestand. Werte netto ohne Fracht.</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75320" y="4718304"/>
            <a:ext cx="365760" cy="237744"/>
          </a:xfrm>
          <a:prstGeom prst="rect">
            <a:avLst/>
          </a:prstGeom>
          <a:noFill/>
          <a:ln/>
        </p:spPr>
        <p:txBody>
          <a:bodyPr wrap="square" lIns="0" tIns="0" rIns="0" bIns="0" rtlCol="0" anchor="ctr"/>
          <a:lstStyle/>
          <a:p>
            <a:pPr algn="r" indent="0" marL="0">
              <a:buNone/>
            </a:pPr>
            <a:r>
              <a:rPr lang="en-US" sz="1000" dirty="0">
                <a:solidFill>
                  <a:srgbClr val="636A70"/>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66928" y="4718304"/>
            <a:ext cx="5943600" cy="237744"/>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METALLART Treppen GmbH  ·  Fachaufgabe im Einsatzgebiet  ·  Alex Urban</a:t>
            </a:r>
            <a:endParaRPr lang="en-US" sz="900" dirty="0"/>
          </a:p>
        </p:txBody>
      </p:sp>
      <p:sp>
        <p:nvSpPr>
          <p:cNvPr id="4" name="Text 2"/>
          <p:cNvSpPr txBox="1"/>
          <p:nvPr/>
        </p:nvSpPr>
        <p:spPr>
          <a:xfrm>
            <a:off x="566928" y="365760"/>
            <a:ext cx="8010144" cy="201168"/>
          </a:xfrm>
          <a:prstGeom prst="rect">
            <a:avLst/>
          </a:prstGeom>
          <a:noFill/>
          <a:ln/>
        </p:spPr>
        <p:txBody>
          <a:bodyPr wrap="square" lIns="0" tIns="0" rIns="0" bIns="0" rtlCol="0" anchor="ctr"/>
          <a:lstStyle/>
          <a:p>
            <a:pPr indent="0" marL="0">
              <a:buNone/>
            </a:pPr>
            <a:r>
              <a:rPr lang="en-US" sz="1000" b="1" spc="200" kern="0" dirty="0">
                <a:solidFill>
                  <a:srgbClr val="806A45"/>
                </a:solidFill>
                <a:latin typeface="Calibri" pitchFamily="34" charset="0"/>
                <a:ea typeface="Calibri" pitchFamily="34" charset="-122"/>
                <a:cs typeface="Calibri" pitchFamily="34" charset="-120"/>
              </a:rPr>
              <a:t>SCHRITT 3</a:t>
            </a:r>
            <a:endParaRPr lang="en-US" sz="1000" dirty="0"/>
          </a:p>
        </p:txBody>
      </p:sp>
      <p:sp>
        <p:nvSpPr>
          <p:cNvPr id="5" name="Text 3"/>
          <p:cNvSpPr txBox="1"/>
          <p:nvPr/>
        </p:nvSpPr>
        <p:spPr>
          <a:xfrm>
            <a:off x="566928" y="566928"/>
            <a:ext cx="8010144" cy="914400"/>
          </a:xfrm>
          <a:prstGeom prst="rect">
            <a:avLst/>
          </a:prstGeom>
          <a:noFill/>
          <a:ln/>
        </p:spPr>
        <p:txBody>
          <a:bodyPr wrap="square" lIns="0" tIns="0" rIns="0" bIns="0" rtlCol="0" anchor="t"/>
          <a:lstStyle/>
          <a:p>
            <a:pPr indent="0" marL="0">
              <a:buNone/>
            </a:pPr>
            <a:r>
              <a:rPr lang="en-US" sz="2800" dirty="0">
                <a:solidFill>
                  <a:srgbClr val="363F46"/>
                </a:solidFill>
                <a:latin typeface="Calibri Light" pitchFamily="34" charset="0"/>
                <a:ea typeface="Calibri Light" pitchFamily="34" charset="-122"/>
                <a:cs typeface="Calibri Light" pitchFamily="34" charset="-120"/>
              </a:rPr>
              <a:t>Preisvergleich auf einheitlicher Menge</a:t>
            </a:r>
            <a:endParaRPr lang="en-US" sz="2800" dirty="0"/>
          </a:p>
        </p:txBody>
      </p:sp>
      <p:sp>
        <p:nvSpPr>
          <p:cNvPr id="6" name="Text 4"/>
          <p:cNvSpPr txBox="1"/>
          <p:nvPr/>
        </p:nvSpPr>
        <p:spPr>
          <a:xfrm>
            <a:off x="566928" y="1225296"/>
            <a:ext cx="8010144" cy="457200"/>
          </a:xfrm>
          <a:prstGeom prst="rect">
            <a:avLst/>
          </a:prstGeom>
          <a:noFill/>
          <a:ln/>
        </p:spPr>
        <p:txBody>
          <a:bodyPr wrap="square" lIns="0" tIns="0" rIns="0" bIns="0" rtlCol="0" anchor="ctr"/>
          <a:lstStyle/>
          <a:p>
            <a:pPr indent="0" marL="0">
              <a:lnSpc>
                <a:spcPct val="120000"/>
              </a:lnSpc>
              <a:buNone/>
            </a:pPr>
            <a:r>
              <a:rPr lang="en-US" sz="1200" dirty="0">
                <a:solidFill>
                  <a:srgbClr val="5E656B"/>
                </a:solidFill>
                <a:latin typeface="Calibri" pitchFamily="34" charset="0"/>
                <a:ea typeface="Calibri" pitchFamily="34" charset="-122"/>
                <a:cs typeface="Calibri" pitchFamily="34" charset="-120"/>
              </a:rPr>
              <a:t>Der Preisspiegel rechnet jede Position auf dieselbe Vergleichsmenge um, ein Paket, ausgewiesen in Tafeln und Kilogramm. Erst dadurch vergleicht man Preise und nicht Mengen.</a:t>
            </a:r>
            <a:endParaRPr lang="en-US" sz="1200" dirty="0"/>
          </a:p>
        </p:txBody>
      </p:sp>
      <p:sp>
        <p:nvSpPr>
          <p:cNvPr id="7" name="Shape 5"/>
          <p:cNvSpPr/>
          <p:nvPr/>
        </p:nvSpPr>
        <p:spPr>
          <a:xfrm>
            <a:off x="566928" y="1810512"/>
            <a:ext cx="1892808" cy="1572768"/>
          </a:xfrm>
          <a:prstGeom prst="roundRect">
            <a:avLst>
              <a:gd name="adj" fmla="val 2907"/>
            </a:avLst>
          </a:prstGeom>
          <a:solidFill>
            <a:srgbClr val="AD9467"/>
          </a:solidFill>
          <a:ln w="12700">
            <a:solidFill>
              <a:srgbClr val="AD9467"/>
            </a:solidFill>
            <a:prstDash val="solid"/>
          </a:ln>
        </p:spPr>
        <p:txBody>
          <a:bodyPr/>
          <a:p/>
        </p:txBody>
      </p:sp>
      <p:sp>
        <p:nvSpPr>
          <p:cNvPr id="8" name="Text 6"/>
          <p:cNvSpPr txBox="1"/>
          <p:nvPr/>
        </p:nvSpPr>
        <p:spPr>
          <a:xfrm>
            <a:off x="749808" y="1956816"/>
            <a:ext cx="1554480" cy="256032"/>
          </a:xfrm>
          <a:prstGeom prst="rect">
            <a:avLst/>
          </a:prstGeom>
          <a:noFill/>
          <a:ln/>
        </p:spPr>
        <p:txBody>
          <a:bodyPr wrap="square" lIns="0" tIns="0" rIns="0" bIns="0" rtlCol="0" anchor="ctr"/>
          <a:lstStyle/>
          <a:p>
            <a:pPr indent="0" marL="0">
              <a:buNone/>
            </a:pPr>
            <a:r>
              <a:rPr lang="en-US" sz="1200" b="1" dirty="0">
                <a:solidFill>
                  <a:srgbClr val="1F262B"/>
                </a:solidFill>
                <a:latin typeface="Calibri" pitchFamily="34" charset="0"/>
                <a:ea typeface="Calibri" pitchFamily="34" charset="-122"/>
                <a:cs typeface="Calibri" pitchFamily="34" charset="-120"/>
              </a:rPr>
              <a:t>Klöckner</a:t>
            </a:r>
            <a:endParaRPr lang="en-US" sz="1200" dirty="0"/>
          </a:p>
        </p:txBody>
      </p:sp>
      <p:sp>
        <p:nvSpPr>
          <p:cNvPr id="9" name="Text 7"/>
          <p:cNvSpPr txBox="1"/>
          <p:nvPr/>
        </p:nvSpPr>
        <p:spPr>
          <a:xfrm>
            <a:off x="749808" y="2267712"/>
            <a:ext cx="1600200" cy="457200"/>
          </a:xfrm>
          <a:prstGeom prst="rect">
            <a:avLst/>
          </a:prstGeom>
          <a:noFill/>
          <a:ln/>
        </p:spPr>
        <p:txBody>
          <a:bodyPr wrap="square" lIns="0" tIns="0" rIns="0" bIns="0" rtlCol="0" anchor="ctr"/>
          <a:lstStyle/>
          <a:p>
            <a:pPr indent="0" marL="0">
              <a:buNone/>
            </a:pPr>
            <a:r>
              <a:rPr lang="en-US" sz="2100" dirty="0">
                <a:solidFill>
                  <a:srgbClr val="1F262B"/>
                </a:solidFill>
                <a:latin typeface="Calibri Light" pitchFamily="34" charset="0"/>
                <a:ea typeface="Calibri Light" pitchFamily="34" charset="-122"/>
                <a:cs typeface="Calibri Light" pitchFamily="34" charset="-120"/>
              </a:rPr>
              <a:t>9.451,87</a:t>
            </a:r>
            <a:endParaRPr lang="en-US" sz="2100" dirty="0"/>
          </a:p>
        </p:txBody>
      </p:sp>
      <p:sp>
        <p:nvSpPr>
          <p:cNvPr id="10" name="Text 8"/>
          <p:cNvSpPr txBox="1"/>
          <p:nvPr/>
        </p:nvSpPr>
        <p:spPr>
          <a:xfrm>
            <a:off x="749808" y="2706624"/>
            <a:ext cx="1554480" cy="201168"/>
          </a:xfrm>
          <a:prstGeom prst="rect">
            <a:avLst/>
          </a:prstGeom>
          <a:noFill/>
          <a:ln/>
        </p:spPr>
        <p:txBody>
          <a:bodyPr wrap="square" lIns="0" tIns="0" rIns="0" bIns="0" rtlCol="0" anchor="ctr"/>
          <a:lstStyle/>
          <a:p>
            <a:pPr indent="0" marL="0">
              <a:buNone/>
            </a:pPr>
            <a:r>
              <a:rPr lang="en-US" sz="900" dirty="0">
                <a:solidFill>
                  <a:srgbClr val="1F262B"/>
                </a:solidFill>
                <a:latin typeface="Calibri" pitchFamily="34" charset="0"/>
                <a:ea typeface="Calibri" pitchFamily="34" charset="-122"/>
                <a:cs typeface="Calibri" pitchFamily="34" charset="-120"/>
              </a:rPr>
              <a:t>Euro netto</a:t>
            </a:r>
            <a:endParaRPr lang="en-US" sz="900" dirty="0"/>
          </a:p>
        </p:txBody>
      </p:sp>
      <p:sp>
        <p:nvSpPr>
          <p:cNvPr id="11" name="Text 9"/>
          <p:cNvSpPr txBox="1"/>
          <p:nvPr/>
        </p:nvSpPr>
        <p:spPr>
          <a:xfrm>
            <a:off x="749808" y="2980944"/>
            <a:ext cx="1600200" cy="256032"/>
          </a:xfrm>
          <a:prstGeom prst="rect">
            <a:avLst/>
          </a:prstGeom>
          <a:noFill/>
          <a:ln/>
        </p:spPr>
        <p:txBody>
          <a:bodyPr wrap="square" lIns="0" tIns="0" rIns="0" bIns="0" rtlCol="0" anchor="ctr"/>
          <a:lstStyle/>
          <a:p>
            <a:pPr indent="0" marL="0">
              <a:buNone/>
            </a:pPr>
            <a:r>
              <a:rPr lang="en-US" sz="1100" dirty="0">
                <a:solidFill>
                  <a:srgbClr val="1F262B"/>
                </a:solidFill>
                <a:latin typeface="Calibri" pitchFamily="34" charset="0"/>
                <a:ea typeface="Calibri" pitchFamily="34" charset="-122"/>
                <a:cs typeface="Calibri" pitchFamily="34" charset="-120"/>
              </a:rPr>
              <a:t>günstigster Anbieter</a:t>
            </a:r>
            <a:endParaRPr lang="en-US" sz="1100" dirty="0"/>
          </a:p>
        </p:txBody>
      </p:sp>
      <p:sp>
        <p:nvSpPr>
          <p:cNvPr id="12" name="Shape 10"/>
          <p:cNvSpPr/>
          <p:nvPr/>
        </p:nvSpPr>
        <p:spPr>
          <a:xfrm>
            <a:off x="2606040" y="1810512"/>
            <a:ext cx="1892808" cy="1572768"/>
          </a:xfrm>
          <a:prstGeom prst="roundRect">
            <a:avLst>
              <a:gd name="adj" fmla="val 2907"/>
            </a:avLst>
          </a:prstGeom>
          <a:solidFill>
            <a:srgbClr val="F2F2F2"/>
          </a:solidFill>
          <a:ln w="12700">
            <a:solidFill>
              <a:srgbClr val="F2F2F2"/>
            </a:solidFill>
            <a:prstDash val="solid"/>
          </a:ln>
        </p:spPr>
        <p:txBody>
          <a:bodyPr/>
          <a:p/>
        </p:txBody>
      </p:sp>
      <p:sp>
        <p:nvSpPr>
          <p:cNvPr id="13" name="Text 11"/>
          <p:cNvSpPr txBox="1"/>
          <p:nvPr/>
        </p:nvSpPr>
        <p:spPr>
          <a:xfrm>
            <a:off x="2788920" y="1956816"/>
            <a:ext cx="1554480" cy="256032"/>
          </a:xfrm>
          <a:prstGeom prst="rect">
            <a:avLst/>
          </a:prstGeom>
          <a:noFill/>
          <a:ln/>
        </p:spPr>
        <p:txBody>
          <a:bodyPr wrap="square" lIns="0" tIns="0" rIns="0" bIns="0" rtlCol="0" anchor="ctr"/>
          <a:lstStyle/>
          <a:p>
            <a:pPr indent="0" marL="0">
              <a:buNone/>
            </a:pPr>
            <a:r>
              <a:rPr lang="en-US" sz="1200" b="1" dirty="0">
                <a:solidFill>
                  <a:srgbClr val="5E656B"/>
                </a:solidFill>
                <a:latin typeface="Calibri" pitchFamily="34" charset="0"/>
                <a:ea typeface="Calibri" pitchFamily="34" charset="-122"/>
                <a:cs typeface="Calibri" pitchFamily="34" charset="-120"/>
              </a:rPr>
              <a:t>Salzgitter</a:t>
            </a:r>
            <a:endParaRPr lang="en-US" sz="1200" dirty="0"/>
          </a:p>
        </p:txBody>
      </p:sp>
      <p:sp>
        <p:nvSpPr>
          <p:cNvPr id="14" name="Text 12"/>
          <p:cNvSpPr txBox="1"/>
          <p:nvPr/>
        </p:nvSpPr>
        <p:spPr>
          <a:xfrm>
            <a:off x="2788920" y="2267712"/>
            <a:ext cx="1600200" cy="457200"/>
          </a:xfrm>
          <a:prstGeom prst="rect">
            <a:avLst/>
          </a:prstGeom>
          <a:noFill/>
          <a:ln/>
        </p:spPr>
        <p:txBody>
          <a:bodyPr wrap="square" lIns="0" tIns="0" rIns="0" bIns="0" rtlCol="0" anchor="ctr"/>
          <a:lstStyle/>
          <a:p>
            <a:pPr indent="0" marL="0">
              <a:buNone/>
            </a:pPr>
            <a:r>
              <a:rPr lang="en-US" sz="2100" dirty="0">
                <a:solidFill>
                  <a:srgbClr val="363F46"/>
                </a:solidFill>
                <a:latin typeface="Calibri Light" pitchFamily="34" charset="0"/>
                <a:ea typeface="Calibri Light" pitchFamily="34" charset="-122"/>
                <a:cs typeface="Calibri Light" pitchFamily="34" charset="-120"/>
              </a:rPr>
              <a:t>9.811,36</a:t>
            </a:r>
            <a:endParaRPr lang="en-US" sz="2100" dirty="0"/>
          </a:p>
        </p:txBody>
      </p:sp>
      <p:sp>
        <p:nvSpPr>
          <p:cNvPr id="15" name="Text 13"/>
          <p:cNvSpPr txBox="1"/>
          <p:nvPr/>
        </p:nvSpPr>
        <p:spPr>
          <a:xfrm>
            <a:off x="2788920" y="2706624"/>
            <a:ext cx="1554480" cy="201168"/>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Euro netto</a:t>
            </a:r>
            <a:endParaRPr lang="en-US" sz="900" dirty="0"/>
          </a:p>
        </p:txBody>
      </p:sp>
      <p:sp>
        <p:nvSpPr>
          <p:cNvPr id="16" name="Text 14"/>
          <p:cNvSpPr txBox="1"/>
          <p:nvPr/>
        </p:nvSpPr>
        <p:spPr>
          <a:xfrm>
            <a:off x="2788920" y="2980944"/>
            <a:ext cx="1600200" cy="256032"/>
          </a:xfrm>
          <a:prstGeom prst="rect">
            <a:avLst/>
          </a:prstGeom>
          <a:noFill/>
          <a:ln/>
        </p:spPr>
        <p:txBody>
          <a:bodyPr wrap="square" lIns="0" tIns="0" rIns="0" bIns="0" rtlCol="0" anchor="ctr"/>
          <a:lstStyle/>
          <a:p>
            <a:pPr indent="0" marL="0">
              <a:buNone/>
            </a:pPr>
            <a:r>
              <a:rPr lang="en-US" sz="1100" b="1" dirty="0">
                <a:solidFill>
                  <a:srgbClr val="B93A2E"/>
                </a:solidFill>
                <a:latin typeface="Calibri" pitchFamily="34" charset="0"/>
                <a:ea typeface="Calibri" pitchFamily="34" charset="-122"/>
                <a:cs typeface="Calibri" pitchFamily="34" charset="-120"/>
              </a:rPr>
              <a:t>+ 359,49 €</a:t>
            </a:r>
            <a:endParaRPr lang="en-US" sz="1100" dirty="0"/>
          </a:p>
        </p:txBody>
      </p:sp>
      <p:sp>
        <p:nvSpPr>
          <p:cNvPr id="17" name="Shape 15"/>
          <p:cNvSpPr/>
          <p:nvPr/>
        </p:nvSpPr>
        <p:spPr>
          <a:xfrm>
            <a:off x="4645152" y="1810512"/>
            <a:ext cx="1892808" cy="1572768"/>
          </a:xfrm>
          <a:prstGeom prst="roundRect">
            <a:avLst>
              <a:gd name="adj" fmla="val 2907"/>
            </a:avLst>
          </a:prstGeom>
          <a:solidFill>
            <a:srgbClr val="F2F2F2"/>
          </a:solidFill>
          <a:ln w="12700">
            <a:solidFill>
              <a:srgbClr val="F2F2F2"/>
            </a:solidFill>
            <a:prstDash val="solid"/>
          </a:ln>
        </p:spPr>
        <p:txBody>
          <a:bodyPr/>
          <a:p/>
        </p:txBody>
      </p:sp>
      <p:sp>
        <p:nvSpPr>
          <p:cNvPr id="18" name="Text 16"/>
          <p:cNvSpPr txBox="1"/>
          <p:nvPr/>
        </p:nvSpPr>
        <p:spPr>
          <a:xfrm>
            <a:off x="4828032" y="1956816"/>
            <a:ext cx="1554480" cy="256032"/>
          </a:xfrm>
          <a:prstGeom prst="rect">
            <a:avLst/>
          </a:prstGeom>
          <a:noFill/>
          <a:ln/>
        </p:spPr>
        <p:txBody>
          <a:bodyPr wrap="square" lIns="0" tIns="0" rIns="0" bIns="0" rtlCol="0" anchor="ctr"/>
          <a:lstStyle/>
          <a:p>
            <a:pPr indent="0" marL="0">
              <a:buNone/>
            </a:pPr>
            <a:r>
              <a:rPr lang="en-US" sz="1200" b="1" dirty="0">
                <a:solidFill>
                  <a:srgbClr val="5E656B"/>
                </a:solidFill>
                <a:latin typeface="Calibri" pitchFamily="34" charset="0"/>
                <a:ea typeface="Calibri" pitchFamily="34" charset="-122"/>
                <a:cs typeface="Calibri" pitchFamily="34" charset="-120"/>
              </a:rPr>
              <a:t>Lotter</a:t>
            </a:r>
            <a:endParaRPr lang="en-US" sz="1200" dirty="0"/>
          </a:p>
        </p:txBody>
      </p:sp>
      <p:sp>
        <p:nvSpPr>
          <p:cNvPr id="19" name="Text 17"/>
          <p:cNvSpPr txBox="1"/>
          <p:nvPr/>
        </p:nvSpPr>
        <p:spPr>
          <a:xfrm>
            <a:off x="4828032" y="2267712"/>
            <a:ext cx="1600200" cy="457200"/>
          </a:xfrm>
          <a:prstGeom prst="rect">
            <a:avLst/>
          </a:prstGeom>
          <a:noFill/>
          <a:ln/>
        </p:spPr>
        <p:txBody>
          <a:bodyPr wrap="square" lIns="0" tIns="0" rIns="0" bIns="0" rtlCol="0" anchor="ctr"/>
          <a:lstStyle/>
          <a:p>
            <a:pPr indent="0" marL="0">
              <a:buNone/>
            </a:pPr>
            <a:r>
              <a:rPr lang="en-US" sz="2100" dirty="0">
                <a:solidFill>
                  <a:srgbClr val="363F46"/>
                </a:solidFill>
                <a:latin typeface="Calibri Light" pitchFamily="34" charset="0"/>
                <a:ea typeface="Calibri Light" pitchFamily="34" charset="-122"/>
                <a:cs typeface="Calibri Light" pitchFamily="34" charset="-120"/>
              </a:rPr>
              <a:t>9.962,67</a:t>
            </a:r>
            <a:endParaRPr lang="en-US" sz="2100" dirty="0"/>
          </a:p>
        </p:txBody>
      </p:sp>
      <p:sp>
        <p:nvSpPr>
          <p:cNvPr id="20" name="Text 18"/>
          <p:cNvSpPr txBox="1"/>
          <p:nvPr/>
        </p:nvSpPr>
        <p:spPr>
          <a:xfrm>
            <a:off x="4828032" y="2706624"/>
            <a:ext cx="1554480" cy="201168"/>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Euro netto</a:t>
            </a:r>
            <a:endParaRPr lang="en-US" sz="900" dirty="0"/>
          </a:p>
        </p:txBody>
      </p:sp>
      <p:sp>
        <p:nvSpPr>
          <p:cNvPr id="21" name="Text 19"/>
          <p:cNvSpPr txBox="1"/>
          <p:nvPr/>
        </p:nvSpPr>
        <p:spPr>
          <a:xfrm>
            <a:off x="4828032" y="2980944"/>
            <a:ext cx="1600200" cy="256032"/>
          </a:xfrm>
          <a:prstGeom prst="rect">
            <a:avLst/>
          </a:prstGeom>
          <a:noFill/>
          <a:ln/>
        </p:spPr>
        <p:txBody>
          <a:bodyPr wrap="square" lIns="0" tIns="0" rIns="0" bIns="0" rtlCol="0" anchor="ctr"/>
          <a:lstStyle/>
          <a:p>
            <a:pPr indent="0" marL="0">
              <a:buNone/>
            </a:pPr>
            <a:r>
              <a:rPr lang="en-US" sz="1100" b="1" dirty="0">
                <a:solidFill>
                  <a:srgbClr val="B93A2E"/>
                </a:solidFill>
                <a:latin typeface="Calibri" pitchFamily="34" charset="0"/>
                <a:ea typeface="Calibri" pitchFamily="34" charset="-122"/>
                <a:cs typeface="Calibri" pitchFamily="34" charset="-120"/>
              </a:rPr>
              <a:t>+ 510,80 €</a:t>
            </a:r>
            <a:endParaRPr lang="en-US" sz="1100" dirty="0"/>
          </a:p>
        </p:txBody>
      </p:sp>
      <p:sp>
        <p:nvSpPr>
          <p:cNvPr id="22" name="Shape 20"/>
          <p:cNvSpPr/>
          <p:nvPr/>
        </p:nvSpPr>
        <p:spPr>
          <a:xfrm>
            <a:off x="6684264" y="1810512"/>
            <a:ext cx="1892808" cy="1572768"/>
          </a:xfrm>
          <a:prstGeom prst="roundRect">
            <a:avLst>
              <a:gd name="adj" fmla="val 2907"/>
            </a:avLst>
          </a:prstGeom>
          <a:solidFill>
            <a:srgbClr val="F2F2F2"/>
          </a:solidFill>
          <a:ln w="12700">
            <a:solidFill>
              <a:srgbClr val="F2F2F2"/>
            </a:solidFill>
            <a:prstDash val="solid"/>
          </a:ln>
        </p:spPr>
        <p:txBody>
          <a:bodyPr/>
          <a:p/>
        </p:txBody>
      </p:sp>
      <p:sp>
        <p:nvSpPr>
          <p:cNvPr id="23" name="Text 21"/>
          <p:cNvSpPr txBox="1"/>
          <p:nvPr/>
        </p:nvSpPr>
        <p:spPr>
          <a:xfrm>
            <a:off x="6867144" y="1956816"/>
            <a:ext cx="1554480" cy="256032"/>
          </a:xfrm>
          <a:prstGeom prst="rect">
            <a:avLst/>
          </a:prstGeom>
          <a:noFill/>
          <a:ln/>
        </p:spPr>
        <p:txBody>
          <a:bodyPr wrap="square" lIns="0" tIns="0" rIns="0" bIns="0" rtlCol="0" anchor="ctr"/>
          <a:lstStyle/>
          <a:p>
            <a:pPr indent="0" marL="0">
              <a:buNone/>
            </a:pPr>
            <a:r>
              <a:rPr lang="en-US" sz="1200" b="1" dirty="0">
                <a:solidFill>
                  <a:srgbClr val="5E656B"/>
                </a:solidFill>
                <a:latin typeface="Calibri" pitchFamily="34" charset="0"/>
                <a:ea typeface="Calibri" pitchFamily="34" charset="-122"/>
                <a:cs typeface="Calibri" pitchFamily="34" charset="-120"/>
              </a:rPr>
              <a:t>Spaeter</a:t>
            </a:r>
            <a:endParaRPr lang="en-US" sz="1200" dirty="0"/>
          </a:p>
        </p:txBody>
      </p:sp>
      <p:sp>
        <p:nvSpPr>
          <p:cNvPr id="24" name="Text 22"/>
          <p:cNvSpPr txBox="1"/>
          <p:nvPr/>
        </p:nvSpPr>
        <p:spPr>
          <a:xfrm>
            <a:off x="6867144" y="2267712"/>
            <a:ext cx="1600200" cy="457200"/>
          </a:xfrm>
          <a:prstGeom prst="rect">
            <a:avLst/>
          </a:prstGeom>
          <a:noFill/>
          <a:ln/>
        </p:spPr>
        <p:txBody>
          <a:bodyPr wrap="square" lIns="0" tIns="0" rIns="0" bIns="0" rtlCol="0" anchor="ctr"/>
          <a:lstStyle/>
          <a:p>
            <a:pPr indent="0" marL="0">
              <a:buNone/>
            </a:pPr>
            <a:r>
              <a:rPr lang="en-US" sz="2100" dirty="0">
                <a:solidFill>
                  <a:srgbClr val="363F46"/>
                </a:solidFill>
                <a:latin typeface="Calibri Light" pitchFamily="34" charset="0"/>
                <a:ea typeface="Calibri Light" pitchFamily="34" charset="-122"/>
                <a:cs typeface="Calibri Light" pitchFamily="34" charset="-120"/>
              </a:rPr>
              <a:t>10.155,76</a:t>
            </a:r>
            <a:endParaRPr lang="en-US" sz="2100" dirty="0"/>
          </a:p>
        </p:txBody>
      </p:sp>
      <p:sp>
        <p:nvSpPr>
          <p:cNvPr id="25" name="Text 23"/>
          <p:cNvSpPr txBox="1"/>
          <p:nvPr/>
        </p:nvSpPr>
        <p:spPr>
          <a:xfrm>
            <a:off x="6867144" y="2706624"/>
            <a:ext cx="1554480" cy="201168"/>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Euro netto</a:t>
            </a:r>
            <a:endParaRPr lang="en-US" sz="900" dirty="0"/>
          </a:p>
        </p:txBody>
      </p:sp>
      <p:sp>
        <p:nvSpPr>
          <p:cNvPr id="26" name="Text 24"/>
          <p:cNvSpPr txBox="1"/>
          <p:nvPr/>
        </p:nvSpPr>
        <p:spPr>
          <a:xfrm>
            <a:off x="6867144" y="2980944"/>
            <a:ext cx="1600200" cy="256032"/>
          </a:xfrm>
          <a:prstGeom prst="rect">
            <a:avLst/>
          </a:prstGeom>
          <a:noFill/>
          <a:ln/>
        </p:spPr>
        <p:txBody>
          <a:bodyPr wrap="square" lIns="0" tIns="0" rIns="0" bIns="0" rtlCol="0" anchor="ctr"/>
          <a:lstStyle/>
          <a:p>
            <a:pPr indent="0" marL="0">
              <a:buNone/>
            </a:pPr>
            <a:r>
              <a:rPr lang="en-US" sz="1100" b="1" dirty="0">
                <a:solidFill>
                  <a:srgbClr val="B93A2E"/>
                </a:solidFill>
                <a:latin typeface="Calibri" pitchFamily="34" charset="0"/>
                <a:ea typeface="Calibri" pitchFamily="34" charset="-122"/>
                <a:cs typeface="Calibri" pitchFamily="34" charset="-120"/>
              </a:rPr>
              <a:t>+ 703,89 €</a:t>
            </a:r>
            <a:endParaRPr lang="en-US" sz="1100" dirty="0"/>
          </a:p>
        </p:txBody>
      </p:sp>
      <p:sp>
        <p:nvSpPr>
          <p:cNvPr id="27" name="Text 25"/>
          <p:cNvSpPr txBox="1"/>
          <p:nvPr/>
        </p:nvSpPr>
        <p:spPr>
          <a:xfrm>
            <a:off x="566928" y="3493008"/>
            <a:ext cx="8010144" cy="219456"/>
          </a:xfrm>
          <a:prstGeom prst="rect">
            <a:avLst/>
          </a:prstGeom>
          <a:noFill/>
          <a:ln/>
        </p:spPr>
        <p:txBody>
          <a:bodyPr wrap="square" lIns="0" tIns="0" rIns="0" bIns="0" rtlCol="0" anchor="ctr"/>
          <a:lstStyle/>
          <a:p>
            <a:pPr indent="0" marL="0">
              <a:buNone/>
            </a:pPr>
            <a:r>
              <a:rPr lang="en-US" sz="1000" i="1" dirty="0">
                <a:solidFill>
                  <a:srgbClr val="636A70"/>
                </a:solidFill>
                <a:latin typeface="Calibri" pitchFamily="34" charset="0"/>
                <a:ea typeface="Calibri" pitchFamily="34" charset="-122"/>
                <a:cs typeface="Calibri" pitchFamily="34" charset="-120"/>
              </a:rPr>
              <a:t>Summe der fünf Positionen mit Restbestand. Vier gingen sofort an Klöckner, das Blech 8 mm erst nach der Stornierung. Werte netto ohne Fracht.</a:t>
            </a:r>
            <a:endParaRPr lang="en-US" sz="1000" dirty="0"/>
          </a:p>
        </p:txBody>
      </p:sp>
      <p:sp>
        <p:nvSpPr>
          <p:cNvPr id="28" name="Shape 26"/>
          <p:cNvSpPr/>
          <p:nvPr/>
        </p:nvSpPr>
        <p:spPr>
          <a:xfrm>
            <a:off x="566928" y="3877056"/>
            <a:ext cx="8010144" cy="566928"/>
          </a:xfrm>
          <a:prstGeom prst="roundRect">
            <a:avLst>
              <a:gd name="adj" fmla="val 8065"/>
            </a:avLst>
          </a:prstGeom>
          <a:solidFill>
            <a:srgbClr val="F2F2F2"/>
          </a:solidFill>
          <a:ln w="12700">
            <a:solidFill>
              <a:srgbClr val="F2F2F2"/>
            </a:solidFill>
            <a:prstDash val="solid"/>
          </a:ln>
        </p:spPr>
        <p:txBody>
          <a:bodyPr/>
          <a:p/>
        </p:txBody>
      </p:sp>
      <p:sp>
        <p:nvSpPr>
          <p:cNvPr id="29" name="Text 27"/>
          <p:cNvSpPr txBox="1"/>
          <p:nvPr/>
        </p:nvSpPr>
        <p:spPr>
          <a:xfrm>
            <a:off x="822960" y="3877056"/>
            <a:ext cx="7498080" cy="566928"/>
          </a:xfrm>
          <a:prstGeom prst="rect">
            <a:avLst/>
          </a:prstGeom>
          <a:noFill/>
          <a:ln/>
        </p:spPr>
        <p:txBody>
          <a:bodyPr wrap="square" lIns="0" tIns="0" rIns="0" bIns="0" rtlCol="0" anchor="ctr"/>
          <a:lstStyle/>
          <a:p>
            <a:pPr indent="0" marL="0">
              <a:buNone/>
            </a:pPr>
            <a:r>
              <a:rPr lang="en-US" sz="1250" b="1" dirty="0">
                <a:solidFill>
                  <a:srgbClr val="363F46"/>
                </a:solidFill>
                <a:latin typeface="Calibri" pitchFamily="34" charset="0"/>
                <a:ea typeface="Calibri" pitchFamily="34" charset="-122"/>
                <a:cs typeface="Calibri" pitchFamily="34" charset="-120"/>
              </a:rPr>
              <a:t>Klöckner liegt bei jeder einzelnen der fünf Positionen auf Platz eins.  </a:t>
            </a:r>
            <a:pPr indent="0" marL="0">
              <a:buNone/>
            </a:pPr>
            <a:r>
              <a:rPr lang="en-US" sz="1250" dirty="0">
                <a:solidFill>
                  <a:srgbClr val="5E656B"/>
                </a:solidFill>
                <a:latin typeface="Calibri" pitchFamily="34" charset="0"/>
                <a:ea typeface="Calibri" pitchFamily="34" charset="-122"/>
                <a:cs typeface="Calibri" pitchFamily="34" charset="-120"/>
              </a:rPr>
              <a:t>359,49 Euro günstiger als der zweitbeste Anbieter, das sind 3,7 Prozent.</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63F46"/>
        </a:solidFill>
      </p:bgPr>
    </p:bg>
    <p:spTree>
      <p:nvGrpSpPr>
        <p:cNvPr id="1" name=""/>
        <p:cNvGrpSpPr/>
        <p:nvPr/>
      </p:nvGrpSpPr>
      <p:grpSpPr>
        <a:xfrm>
          <a:off x="0" y="0"/>
          <a:ext cx="0" cy="0"/>
          <a:chOff x="0" y="0"/>
          <a:chExt cx="0" cy="0"/>
        </a:xfrm>
      </p:grpSpPr>
      <p:sp>
        <p:nvSpPr>
          <p:cNvPr id="2" name="Text 0"/>
          <p:cNvSpPr txBox="1"/>
          <p:nvPr/>
        </p:nvSpPr>
        <p:spPr>
          <a:xfrm>
            <a:off x="8275320" y="4718304"/>
            <a:ext cx="365760" cy="237744"/>
          </a:xfrm>
          <a:prstGeom prst="rect">
            <a:avLst/>
          </a:prstGeom>
          <a:noFill/>
          <a:ln/>
        </p:spPr>
        <p:txBody>
          <a:bodyPr wrap="square" lIns="0" tIns="0" rIns="0" bIns="0" rtlCol="0" anchor="ctr"/>
          <a:lstStyle/>
          <a:p>
            <a:pPr algn="r" indent="0" marL="0">
              <a:buNone/>
            </a:pPr>
            <a:r>
              <a:rPr lang="en-US" sz="1000" dirty="0">
                <a:solidFill>
                  <a:srgbClr val="AFB2B5"/>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66928" y="4718304"/>
            <a:ext cx="5943600" cy="237744"/>
          </a:xfrm>
          <a:prstGeom prst="rect">
            <a:avLst/>
          </a:prstGeom>
          <a:noFill/>
          <a:ln/>
        </p:spPr>
        <p:txBody>
          <a:bodyPr wrap="square" lIns="0" tIns="0" rIns="0" bIns="0" rtlCol="0" anchor="ctr"/>
          <a:lstStyle/>
          <a:p>
            <a:pPr indent="0" marL="0">
              <a:buNone/>
            </a:pPr>
            <a:r>
              <a:rPr lang="en-US" sz="900" dirty="0">
                <a:solidFill>
                  <a:srgbClr val="AFB2B5"/>
                </a:solidFill>
                <a:latin typeface="Calibri" pitchFamily="34" charset="0"/>
                <a:ea typeface="Calibri" pitchFamily="34" charset="-122"/>
                <a:cs typeface="Calibri" pitchFamily="34" charset="-120"/>
              </a:rPr>
              <a:t>METALLART Treppen GmbH  ·  Fachaufgabe im Einsatzgebiet  ·  Alex Urban</a:t>
            </a:r>
            <a:endParaRPr lang="en-US" sz="900" dirty="0"/>
          </a:p>
        </p:txBody>
      </p:sp>
      <p:sp>
        <p:nvSpPr>
          <p:cNvPr id="4" name="Text 2"/>
          <p:cNvSpPr txBox="1"/>
          <p:nvPr/>
        </p:nvSpPr>
        <p:spPr>
          <a:xfrm>
            <a:off x="566928" y="365760"/>
            <a:ext cx="8010144" cy="201168"/>
          </a:xfrm>
          <a:prstGeom prst="rect">
            <a:avLst/>
          </a:prstGeom>
          <a:noFill/>
          <a:ln/>
        </p:spPr>
        <p:txBody>
          <a:bodyPr wrap="square" lIns="0" tIns="0" rIns="0" bIns="0" rtlCol="0" anchor="ctr"/>
          <a:lstStyle/>
          <a:p>
            <a:pPr indent="0" marL="0">
              <a:buNone/>
            </a:pPr>
            <a:r>
              <a:rPr lang="en-US" sz="1000" b="1" spc="200" kern="0" dirty="0">
                <a:solidFill>
                  <a:srgbClr val="AD9467"/>
                </a:solidFill>
                <a:latin typeface="Calibri" pitchFamily="34" charset="0"/>
                <a:ea typeface="Calibri" pitchFamily="34" charset="-122"/>
                <a:cs typeface="Calibri" pitchFamily="34" charset="-120"/>
              </a:rPr>
              <a:t>SCHRITT 3</a:t>
            </a:r>
            <a:endParaRPr lang="en-US" sz="1000" dirty="0"/>
          </a:p>
        </p:txBody>
      </p:sp>
      <p:sp>
        <p:nvSpPr>
          <p:cNvPr id="5" name="Text 3"/>
          <p:cNvSpPr txBox="1"/>
          <p:nvPr/>
        </p:nvSpPr>
        <p:spPr>
          <a:xfrm>
            <a:off x="566928" y="566928"/>
            <a:ext cx="8010144" cy="914400"/>
          </a:xfrm>
          <a:prstGeom prst="rect">
            <a:avLst/>
          </a:prstGeom>
          <a:noFill/>
          <a:ln/>
        </p:spPr>
        <p:txBody>
          <a:bodyPr wrap="square" lIns="0" tIns="0" rIns="0" bIns="0" rtlCol="0" anchor="t"/>
          <a:lstStyle/>
          <a:p>
            <a:pPr indent="0" marL="0">
              <a:buNone/>
            </a:pPr>
            <a:r>
              <a:rPr lang="en-US" sz="2500" dirty="0">
                <a:solidFill>
                  <a:srgbClr val="FFFFFF"/>
                </a:solidFill>
                <a:latin typeface="Calibri Light" pitchFamily="34" charset="0"/>
                <a:ea typeface="Calibri Light" pitchFamily="34" charset="-122"/>
                <a:cs typeface="Calibri Light" pitchFamily="34" charset="-120"/>
              </a:rPr>
              <a:t>Blech 15 mm: gleiche Güte, andere Oberfläche</a:t>
            </a:r>
            <a:endParaRPr lang="en-US" sz="2500" dirty="0"/>
          </a:p>
        </p:txBody>
      </p:sp>
      <p:sp>
        <p:nvSpPr>
          <p:cNvPr id="6" name="Shape 4"/>
          <p:cNvSpPr/>
          <p:nvPr/>
        </p:nvSpPr>
        <p:spPr>
          <a:xfrm>
            <a:off x="566928" y="1335024"/>
            <a:ext cx="3913632" cy="2432304"/>
          </a:xfrm>
          <a:prstGeom prst="roundRect">
            <a:avLst>
              <a:gd name="adj" fmla="val 1880"/>
            </a:avLst>
          </a:prstGeom>
          <a:solidFill>
            <a:srgbClr val="414A52"/>
          </a:solidFill>
          <a:ln w="12700">
            <a:solidFill>
              <a:srgbClr val="414A52"/>
            </a:solidFill>
            <a:prstDash val="solid"/>
          </a:ln>
        </p:spPr>
        <p:txBody>
          <a:bodyPr/>
          <a:p/>
        </p:txBody>
      </p:sp>
      <p:sp>
        <p:nvSpPr>
          <p:cNvPr id="7" name="Shape 5"/>
          <p:cNvSpPr/>
          <p:nvPr/>
        </p:nvSpPr>
        <p:spPr>
          <a:xfrm>
            <a:off x="859536" y="1627632"/>
            <a:ext cx="384048" cy="18288"/>
          </a:xfrm>
          <a:prstGeom prst="rect">
            <a:avLst/>
          </a:prstGeom>
          <a:solidFill>
            <a:srgbClr val="AD9467"/>
          </a:solidFill>
          <a:ln w="12700">
            <a:solidFill>
              <a:srgbClr val="AD9467"/>
            </a:solidFill>
            <a:prstDash val="solid"/>
          </a:ln>
        </p:spPr>
        <p:txBody>
          <a:bodyPr/>
          <a:p/>
        </p:txBody>
      </p:sp>
      <p:sp>
        <p:nvSpPr>
          <p:cNvPr id="8" name="Text 6"/>
          <p:cNvSpPr txBox="1"/>
          <p:nvPr/>
        </p:nvSpPr>
        <p:spPr>
          <a:xfrm>
            <a:off x="859536" y="1792224"/>
            <a:ext cx="3291840" cy="402336"/>
          </a:xfrm>
          <a:prstGeom prst="rect">
            <a:avLst/>
          </a:prstGeom>
          <a:noFill/>
          <a:ln/>
        </p:spPr>
        <p:txBody>
          <a:bodyPr wrap="square" lIns="0" tIns="0" rIns="0" bIns="0" rtlCol="0" anchor="ctr"/>
          <a:lstStyle/>
          <a:p>
            <a:pPr indent="0" marL="0">
              <a:buNone/>
            </a:pPr>
            <a:r>
              <a:rPr lang="en-US" sz="2400" dirty="0">
                <a:solidFill>
                  <a:srgbClr val="AD9467"/>
                </a:solidFill>
                <a:latin typeface="Calibri Light" pitchFamily="34" charset="0"/>
                <a:ea typeface="Calibri Light" pitchFamily="34" charset="-122"/>
                <a:cs typeface="Calibri Light" pitchFamily="34" charset="-120"/>
              </a:rPr>
              <a:t>gebeizt und geölt</a:t>
            </a:r>
            <a:endParaRPr lang="en-US" sz="2400" dirty="0"/>
          </a:p>
        </p:txBody>
      </p:sp>
      <p:sp>
        <p:nvSpPr>
          <p:cNvPr id="9" name="Text 7"/>
          <p:cNvSpPr txBox="1"/>
          <p:nvPr/>
        </p:nvSpPr>
        <p:spPr>
          <a:xfrm>
            <a:off x="859536" y="2231136"/>
            <a:ext cx="329184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So war es angefragt</a:t>
            </a:r>
            <a:endParaRPr lang="en-US" sz="1100" dirty="0"/>
          </a:p>
        </p:txBody>
      </p:sp>
      <p:sp>
        <p:nvSpPr>
          <p:cNvPr id="10" name="Text 8"/>
          <p:cNvSpPr txBox="1"/>
          <p:nvPr/>
        </p:nvSpPr>
        <p:spPr>
          <a:xfrm>
            <a:off x="859536" y="2523744"/>
            <a:ext cx="3346704" cy="1005840"/>
          </a:xfrm>
          <a:prstGeom prst="rect">
            <a:avLst/>
          </a:prstGeom>
          <a:noFill/>
          <a:ln/>
        </p:spPr>
        <p:txBody>
          <a:bodyPr wrap="square" lIns="0" tIns="0" rIns="0" bIns="0" rtlCol="0" anchor="ctr"/>
          <a:lstStyle/>
          <a:p>
            <a:pPr indent="0" marL="0">
              <a:lnSpc>
                <a:spcPct val="125000"/>
              </a:lnSpc>
              <a:buNone/>
            </a:pPr>
            <a:r>
              <a:rPr lang="en-US" sz="1150" dirty="0">
                <a:solidFill>
                  <a:srgbClr val="BCC0C3"/>
                </a:solidFill>
                <a:latin typeface="Calibri" pitchFamily="34" charset="0"/>
                <a:ea typeface="Calibri" pitchFamily="34" charset="-122"/>
                <a:cs typeface="Calibri" pitchFamily="34" charset="-120"/>
              </a:rPr>
              <a:t>Die Zunderschicht aus dem Warmwalzen ist im Säurebad entfernt, die Oberfläche ist leicht geölt. So brauchen wir das Material für den Zuschnitt.</a:t>
            </a:r>
            <a:endParaRPr lang="en-US" sz="1150" dirty="0"/>
          </a:p>
        </p:txBody>
      </p:sp>
      <p:sp>
        <p:nvSpPr>
          <p:cNvPr id="11" name="Shape 9"/>
          <p:cNvSpPr/>
          <p:nvPr/>
        </p:nvSpPr>
        <p:spPr>
          <a:xfrm>
            <a:off x="4663440" y="1335024"/>
            <a:ext cx="3913632" cy="2432304"/>
          </a:xfrm>
          <a:prstGeom prst="roundRect">
            <a:avLst>
              <a:gd name="adj" fmla="val 1880"/>
            </a:avLst>
          </a:prstGeom>
          <a:solidFill>
            <a:srgbClr val="414A52"/>
          </a:solidFill>
          <a:ln w="12700">
            <a:solidFill>
              <a:srgbClr val="414A52"/>
            </a:solidFill>
            <a:prstDash val="solid"/>
          </a:ln>
        </p:spPr>
        <p:txBody>
          <a:bodyPr/>
          <a:p/>
        </p:txBody>
      </p:sp>
      <p:sp>
        <p:nvSpPr>
          <p:cNvPr id="12" name="Shape 10"/>
          <p:cNvSpPr/>
          <p:nvPr/>
        </p:nvSpPr>
        <p:spPr>
          <a:xfrm>
            <a:off x="4956048" y="1627632"/>
            <a:ext cx="384048" cy="18288"/>
          </a:xfrm>
          <a:prstGeom prst="rect">
            <a:avLst/>
          </a:prstGeom>
          <a:solidFill>
            <a:srgbClr val="F9685D"/>
          </a:solidFill>
          <a:ln w="12700">
            <a:solidFill>
              <a:srgbClr val="F9685D"/>
            </a:solidFill>
            <a:prstDash val="solid"/>
          </a:ln>
        </p:spPr>
        <p:txBody>
          <a:bodyPr/>
          <a:p/>
        </p:txBody>
      </p:sp>
      <p:sp>
        <p:nvSpPr>
          <p:cNvPr id="13" name="Text 11"/>
          <p:cNvSpPr txBox="1"/>
          <p:nvPr/>
        </p:nvSpPr>
        <p:spPr>
          <a:xfrm>
            <a:off x="4956048" y="1792224"/>
            <a:ext cx="3291840" cy="402336"/>
          </a:xfrm>
          <a:prstGeom prst="rect">
            <a:avLst/>
          </a:prstGeom>
          <a:noFill/>
          <a:ln/>
        </p:spPr>
        <p:txBody>
          <a:bodyPr wrap="square" lIns="0" tIns="0" rIns="0" bIns="0" rtlCol="0" anchor="ctr"/>
          <a:lstStyle/>
          <a:p>
            <a:pPr indent="0" marL="0">
              <a:buNone/>
            </a:pPr>
            <a:r>
              <a:rPr lang="en-US" sz="2400" dirty="0">
                <a:solidFill>
                  <a:srgbClr val="F9685D"/>
                </a:solidFill>
                <a:latin typeface="Calibri Light" pitchFamily="34" charset="0"/>
                <a:ea typeface="Calibri Light" pitchFamily="34" charset="-122"/>
                <a:cs typeface="Calibri Light" pitchFamily="34" charset="-120"/>
              </a:rPr>
              <a:t>walzblau</a:t>
            </a:r>
            <a:endParaRPr lang="en-US" sz="2400" dirty="0"/>
          </a:p>
        </p:txBody>
      </p:sp>
      <p:sp>
        <p:nvSpPr>
          <p:cNvPr id="14" name="Text 12"/>
          <p:cNvSpPr txBox="1"/>
          <p:nvPr/>
        </p:nvSpPr>
        <p:spPr>
          <a:xfrm>
            <a:off x="4956048" y="2231136"/>
            <a:ext cx="329184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So kam es teilweise an</a:t>
            </a:r>
            <a:endParaRPr lang="en-US" sz="1100" dirty="0"/>
          </a:p>
        </p:txBody>
      </p:sp>
      <p:sp>
        <p:nvSpPr>
          <p:cNvPr id="15" name="Text 13"/>
          <p:cNvSpPr txBox="1"/>
          <p:nvPr/>
        </p:nvSpPr>
        <p:spPr>
          <a:xfrm>
            <a:off x="4956048" y="2523744"/>
            <a:ext cx="3346704" cy="1005840"/>
          </a:xfrm>
          <a:prstGeom prst="rect">
            <a:avLst/>
          </a:prstGeom>
          <a:noFill/>
          <a:ln/>
        </p:spPr>
        <p:txBody>
          <a:bodyPr wrap="square" lIns="0" tIns="0" rIns="0" bIns="0" rtlCol="0" anchor="ctr"/>
          <a:lstStyle/>
          <a:p>
            <a:pPr indent="0" marL="0">
              <a:lnSpc>
                <a:spcPct val="125000"/>
              </a:lnSpc>
              <a:buNone/>
            </a:pPr>
            <a:r>
              <a:rPr lang="en-US" sz="1150" dirty="0">
                <a:solidFill>
                  <a:srgbClr val="BCC0C3"/>
                </a:solidFill>
                <a:latin typeface="Calibri" pitchFamily="34" charset="0"/>
                <a:ea typeface="Calibri" pitchFamily="34" charset="-122"/>
                <a:cs typeface="Calibri" pitchFamily="34" charset="-120"/>
              </a:rPr>
              <a:t>Die Zunderschicht ist noch vorhanden. Das Blech ist billiger, für die vorgesehene Verarbeitung aber nicht geeignet.</a:t>
            </a:r>
            <a:endParaRPr lang="en-US" sz="1150" dirty="0"/>
          </a:p>
        </p:txBody>
      </p:sp>
      <p:sp>
        <p:nvSpPr>
          <p:cNvPr id="16" name="Shape 14"/>
          <p:cNvSpPr/>
          <p:nvPr/>
        </p:nvSpPr>
        <p:spPr>
          <a:xfrm>
            <a:off x="566928" y="4023360"/>
            <a:ext cx="8010144" cy="566928"/>
          </a:xfrm>
          <a:prstGeom prst="roundRect">
            <a:avLst>
              <a:gd name="adj" fmla="val 8065"/>
            </a:avLst>
          </a:prstGeom>
          <a:solidFill>
            <a:srgbClr val="414A52"/>
          </a:solidFill>
          <a:ln w="12700">
            <a:solidFill>
              <a:srgbClr val="414A52"/>
            </a:solidFill>
            <a:prstDash val="solid"/>
          </a:ln>
        </p:spPr>
        <p:txBody>
          <a:bodyPr/>
          <a:p/>
        </p:txBody>
      </p:sp>
      <p:sp>
        <p:nvSpPr>
          <p:cNvPr id="17" name="Text 15"/>
          <p:cNvSpPr txBox="1"/>
          <p:nvPr/>
        </p:nvSpPr>
        <p:spPr>
          <a:xfrm>
            <a:off x="822960" y="4023360"/>
            <a:ext cx="749808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Drei der vier Angebote wichen genau an dieser einen Position ab.  </a:t>
            </a:r>
            <a:pPr indent="0" marL="0">
              <a:buNone/>
            </a:pPr>
            <a:r>
              <a:rPr lang="en-US" sz="1250" dirty="0">
                <a:solidFill>
                  <a:srgbClr val="BCC0C3"/>
                </a:solidFill>
                <a:latin typeface="Calibri" pitchFamily="34" charset="0"/>
                <a:ea typeface="Calibri" pitchFamily="34" charset="-122"/>
                <a:cs typeface="Calibri" pitchFamily="34" charset="-120"/>
              </a:rPr>
              <a:t>Erkennbar nur im Angebotstext, nicht am Preis.</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75320" y="4718304"/>
            <a:ext cx="365760" cy="237744"/>
          </a:xfrm>
          <a:prstGeom prst="rect">
            <a:avLst/>
          </a:prstGeom>
          <a:noFill/>
          <a:ln/>
        </p:spPr>
        <p:txBody>
          <a:bodyPr wrap="square" lIns="0" tIns="0" rIns="0" bIns="0" rtlCol="0" anchor="ctr"/>
          <a:lstStyle/>
          <a:p>
            <a:pPr algn="r" indent="0" marL="0">
              <a:buNone/>
            </a:pPr>
            <a:r>
              <a:rPr lang="en-US" sz="1000" dirty="0">
                <a:solidFill>
                  <a:srgbClr val="636A70"/>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66928" y="4718304"/>
            <a:ext cx="5943600" cy="237744"/>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METALLART Treppen GmbH  ·  Fachaufgabe im Einsatzgebiet  ·  Alex Urban</a:t>
            </a:r>
            <a:endParaRPr lang="en-US" sz="900" dirty="0"/>
          </a:p>
        </p:txBody>
      </p:sp>
      <p:sp>
        <p:nvSpPr>
          <p:cNvPr id="4" name="Text 2"/>
          <p:cNvSpPr txBox="1"/>
          <p:nvPr/>
        </p:nvSpPr>
        <p:spPr>
          <a:xfrm>
            <a:off x="566928" y="365760"/>
            <a:ext cx="8010144" cy="201168"/>
          </a:xfrm>
          <a:prstGeom prst="rect">
            <a:avLst/>
          </a:prstGeom>
          <a:noFill/>
          <a:ln/>
        </p:spPr>
        <p:txBody>
          <a:bodyPr wrap="square" lIns="0" tIns="0" rIns="0" bIns="0" rtlCol="0" anchor="ctr"/>
          <a:lstStyle/>
          <a:p>
            <a:pPr indent="0" marL="0">
              <a:buNone/>
            </a:pPr>
            <a:r>
              <a:rPr lang="en-US" sz="1000" b="1" spc="200" kern="0" dirty="0">
                <a:solidFill>
                  <a:srgbClr val="806A45"/>
                </a:solidFill>
                <a:latin typeface="Calibri" pitchFamily="34" charset="0"/>
                <a:ea typeface="Calibri" pitchFamily="34" charset="-122"/>
                <a:cs typeface="Calibri" pitchFamily="34" charset="-120"/>
              </a:rPr>
              <a:t>SCHRITT 3</a:t>
            </a:r>
            <a:endParaRPr lang="en-US" sz="1000" dirty="0"/>
          </a:p>
        </p:txBody>
      </p:sp>
      <p:sp>
        <p:nvSpPr>
          <p:cNvPr id="5" name="Text 3"/>
          <p:cNvSpPr txBox="1"/>
          <p:nvPr/>
        </p:nvSpPr>
        <p:spPr>
          <a:xfrm>
            <a:off x="566928" y="566928"/>
            <a:ext cx="8010144" cy="914400"/>
          </a:xfrm>
          <a:prstGeom prst="rect">
            <a:avLst/>
          </a:prstGeom>
          <a:noFill/>
          <a:ln/>
        </p:spPr>
        <p:txBody>
          <a:bodyPr wrap="square" lIns="0" tIns="0" rIns="0" bIns="0" rtlCol="0" anchor="t"/>
          <a:lstStyle/>
          <a:p>
            <a:pPr indent="0" marL="0">
              <a:buNone/>
            </a:pPr>
            <a:r>
              <a:rPr lang="en-US" sz="2600" dirty="0">
                <a:solidFill>
                  <a:srgbClr val="363F46"/>
                </a:solidFill>
                <a:latin typeface="Calibri Light" pitchFamily="34" charset="0"/>
                <a:ea typeface="Calibri Light" pitchFamily="34" charset="-122"/>
                <a:cs typeface="Calibri Light" pitchFamily="34" charset="-120"/>
              </a:rPr>
              <a:t>Der günstigste Preis war nicht verwendbar</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280160"/>
          <a:ext cx="8010144" cy="914400"/>
        </p:xfrm>
        <a:graphic>
          <a:graphicData uri="http://schemas.openxmlformats.org/drawingml/2006/table">
            <a:tbl>
              <a:tblPr firstRow="1" bandRow="0"/>
              <a:tblGrid>
                <a:gridCol w="1143000"/>
                <a:gridCol w="960120"/>
                <a:gridCol w="1188720"/>
                <a:gridCol w="2798064"/>
                <a:gridCol w="1920240"/>
              </a:tblGrid>
              <a:tr h="30175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Anbieter</a:t>
                      </a:r>
                      <a:endParaRPr lang="en-US" sz="1100" dirty="0">
                        <a:latin typeface="Calibri" charset="0"/>
                        <a:ea typeface="Calibri" charset="0"/>
                        <a:cs typeface="Calibri" charset="0"/>
                      </a:endParaRPr>
                    </a:p>
                  </a:txBody>
                  <a:tcPr marL="63500" marR="63500" marT="63500" marB="63500" anchor="ctr">
                    <a:solidFill>
                      <a:srgbClr val="363F46"/>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363F46"/>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EUR / t</a:t>
                      </a:r>
                      <a:endParaRPr lang="en-US" sz="1100" dirty="0">
                        <a:latin typeface="Calibri" charset="0"/>
                        <a:ea typeface="Calibri" charset="0"/>
                        <a:cs typeface="Calibri" charset="0"/>
                      </a:endParaRPr>
                    </a:p>
                  </a:txBody>
                  <a:tcPr marL="63500" marR="63500" marT="63500" marB="63500" anchor="ctr">
                    <a:solidFill>
                      <a:srgbClr val="363F46"/>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363F46"/>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Preisspiegel</a:t>
                      </a:r>
                      <a:endParaRPr lang="en-US" sz="1100" dirty="0">
                        <a:latin typeface="Calibri" charset="0"/>
                        <a:ea typeface="Calibri" charset="0"/>
                        <a:cs typeface="Calibri" charset="0"/>
                      </a:endParaRPr>
                    </a:p>
                  </a:txBody>
                  <a:tcPr marL="63500" marR="63500" marT="63500" marB="63500" anchor="ctr">
                    <a:solidFill>
                      <a:srgbClr val="363F46"/>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363F46"/>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Angebotene Ausführung</a:t>
                      </a:r>
                      <a:endParaRPr lang="en-US" sz="1100" dirty="0">
                        <a:latin typeface="Calibri" charset="0"/>
                        <a:ea typeface="Calibri" charset="0"/>
                        <a:cs typeface="Calibri" charset="0"/>
                      </a:endParaRPr>
                    </a:p>
                  </a:txBody>
                  <a:tcPr marL="63500" marR="63500" marT="63500" marB="63500" anchor="ctr">
                    <a:solidFill>
                      <a:srgbClr val="363F46"/>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363F46"/>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Bewertung</a:t>
                      </a:r>
                      <a:endParaRPr lang="en-US" sz="1100" dirty="0">
                        <a:latin typeface="Calibri" charset="0"/>
                        <a:ea typeface="Calibri" charset="0"/>
                        <a:cs typeface="Calibri" charset="0"/>
                      </a:endParaRPr>
                    </a:p>
                  </a:txBody>
                  <a:tcPr marL="63500" marR="63500" marT="63500" marB="63500" anchor="ctr">
                    <a:solidFill>
                      <a:srgbClr val="363F46"/>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363F46"/>
                    </a:solidFill>
                  </a:tcPr>
                </a:tc>
              </a:tr>
              <a:tr h="301752">
                <a:tc>
                  <a:txBody>
                    <a:bodyPr/>
                    <a:lstStyle/>
                    <a:p>
                      <a:pPr indent="0" marL="0">
                        <a:buNone/>
                      </a:pPr>
                      <a:r>
                        <a:rPr lang="en-US" sz="1100" dirty="0">
                          <a:solidFill>
                            <a:srgbClr val="363F46"/>
                          </a:solidFill>
                          <a:latin typeface="Calibri" pitchFamily="34" charset="0"/>
                          <a:ea typeface="Calibri" pitchFamily="34" charset="-122"/>
                          <a:cs typeface="Calibri" pitchFamily="34" charset="-120"/>
                        </a:rPr>
                        <a:t>Klöckner</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363F46"/>
                          </a:solidFill>
                          <a:latin typeface="Calibri" pitchFamily="34" charset="0"/>
                          <a:ea typeface="Calibri" pitchFamily="34" charset="-122"/>
                          <a:cs typeface="Calibri" pitchFamily="34" charset="-120"/>
                        </a:rPr>
                        <a:t>870,00</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63F46"/>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c>
                  <a:txBody>
                    <a:bodyPr/>
                    <a:lstStyle/>
                    <a:p>
                      <a:pPr indent="0" marL="0">
                        <a:buNone/>
                      </a:pPr>
                      <a:r>
                        <a:rPr lang="en-US" sz="1100" dirty="0">
                          <a:solidFill>
                            <a:srgbClr val="363F46"/>
                          </a:solidFill>
                          <a:latin typeface="Calibri" pitchFamily="34" charset="0"/>
                          <a:ea typeface="Calibri" pitchFamily="34" charset="-122"/>
                          <a:cs typeface="Calibri" pitchFamily="34" charset="-120"/>
                        </a:rPr>
                        <a:t>„alternativ in walzblau“</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c>
                  <a:txBody>
                    <a:bodyPr/>
                    <a:lstStyle/>
                    <a:p>
                      <a:pPr indent="0" marL="0">
                        <a:buNone/>
                      </a:pPr>
                      <a:r>
                        <a:rPr lang="en-US" sz="1100" dirty="0">
                          <a:solidFill>
                            <a:srgbClr val="B93A2E"/>
                          </a:solidFill>
                          <a:latin typeface="Calibri" pitchFamily="34" charset="0"/>
                          <a:ea typeface="Calibri" pitchFamily="34" charset="-122"/>
                          <a:cs typeface="Calibri" pitchFamily="34" charset="-120"/>
                        </a:rPr>
                        <a:t>nicht wie gefordert</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363F46"/>
                          </a:solidFill>
                          <a:latin typeface="Calibri" pitchFamily="34" charset="0"/>
                          <a:ea typeface="Calibri" pitchFamily="34" charset="-122"/>
                          <a:cs typeface="Calibri" pitchFamily="34" charset="-120"/>
                        </a:rPr>
                        <a:t>Salzgitter</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63F46"/>
                          </a:solidFill>
                          <a:latin typeface="Calibri" pitchFamily="34" charset="0"/>
                          <a:ea typeface="Calibri" pitchFamily="34" charset="-122"/>
                          <a:cs typeface="Calibri" pitchFamily="34" charset="-120"/>
                        </a:rPr>
                        <a:t>950,00</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63F46"/>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c>
                  <a:txBody>
                    <a:bodyPr/>
                    <a:lstStyle/>
                    <a:p>
                      <a:pPr indent="0" marL="0">
                        <a:buNone/>
                      </a:pPr>
                      <a:r>
                        <a:rPr lang="en-US" sz="1100" dirty="0">
                          <a:solidFill>
                            <a:srgbClr val="363F46"/>
                          </a:solidFill>
                          <a:latin typeface="Calibri" pitchFamily="34" charset="0"/>
                          <a:ea typeface="Calibri" pitchFamily="34" charset="-122"/>
                          <a:cs typeface="Calibri" pitchFamily="34" charset="-120"/>
                        </a:rPr>
                        <a:t>„Walzblau (nicht geb. + gef.)“</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c>
                  <a:txBody>
                    <a:bodyPr/>
                    <a:lstStyle/>
                    <a:p>
                      <a:pPr indent="0" marL="0">
                        <a:buNone/>
                      </a:pPr>
                      <a:r>
                        <a:rPr lang="en-US" sz="1100" dirty="0">
                          <a:solidFill>
                            <a:srgbClr val="B93A2E"/>
                          </a:solidFill>
                          <a:latin typeface="Calibri" pitchFamily="34" charset="0"/>
                          <a:ea typeface="Calibri" pitchFamily="34" charset="-122"/>
                          <a:cs typeface="Calibri" pitchFamily="34" charset="-120"/>
                        </a:rPr>
                        <a:t>nicht wie gefordert</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363F46"/>
                          </a:solidFill>
                          <a:latin typeface="Calibri" pitchFamily="34" charset="0"/>
                          <a:ea typeface="Calibri" pitchFamily="34" charset="-122"/>
                          <a:cs typeface="Calibri" pitchFamily="34" charset="-120"/>
                        </a:rPr>
                        <a:t>Salzgitter</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63F46"/>
                          </a:solidFill>
                          <a:latin typeface="Calibri" pitchFamily="34" charset="0"/>
                          <a:ea typeface="Calibri" pitchFamily="34" charset="-122"/>
                          <a:cs typeface="Calibri" pitchFamily="34" charset="-120"/>
                        </a:rPr>
                        <a:t>1.250,00</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63F46"/>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c>
                  <a:txBody>
                    <a:bodyPr/>
                    <a:lstStyle/>
                    <a:p>
                      <a:pPr indent="0" marL="0">
                        <a:buNone/>
                      </a:pPr>
                      <a:r>
                        <a:rPr lang="en-US" sz="1100" dirty="0">
                          <a:solidFill>
                            <a:srgbClr val="363F46"/>
                          </a:solidFill>
                          <a:latin typeface="Calibri" pitchFamily="34" charset="0"/>
                          <a:ea typeface="Calibri" pitchFamily="34" charset="-122"/>
                          <a:cs typeface="Calibri" pitchFamily="34" charset="-120"/>
                        </a:rPr>
                        <a:t>gebeizt, nachträglich</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c>
                  <a:txBody>
                    <a:bodyPr/>
                    <a:lstStyle/>
                    <a:p>
                      <a:pPr indent="0" marL="0">
                        <a:buNone/>
                      </a:pPr>
                      <a:r>
                        <a:rPr lang="en-US" sz="1100" dirty="0">
                          <a:solidFill>
                            <a:srgbClr val="B93A2E"/>
                          </a:solidFill>
                          <a:latin typeface="Calibri" pitchFamily="34" charset="0"/>
                          <a:ea typeface="Calibri" pitchFamily="34" charset="-122"/>
                          <a:cs typeface="Calibri" pitchFamily="34" charset="-120"/>
                        </a:rPr>
                        <a:t>ca. 2 Wochen, zu spät</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363F46"/>
                          </a:solidFill>
                          <a:latin typeface="Calibri" pitchFamily="34" charset="0"/>
                          <a:ea typeface="Calibri" pitchFamily="34" charset="-122"/>
                          <a:cs typeface="Calibri" pitchFamily="34" charset="-120"/>
                        </a:rPr>
                        <a:t>Lotter</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63F46"/>
                          </a:solidFill>
                          <a:latin typeface="Calibri" pitchFamily="34" charset="0"/>
                          <a:ea typeface="Calibri" pitchFamily="34" charset="-122"/>
                          <a:cs typeface="Calibri" pitchFamily="34" charset="-120"/>
                        </a:rPr>
                        <a:t>990,00</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363F46"/>
                          </a:solidFill>
                          <a:latin typeface="Calibri" pitchFamily="34" charset="0"/>
                          <a:ea typeface="Calibri" pitchFamily="34" charset="-122"/>
                          <a:cs typeface="Calibri" pitchFamily="34" charset="-120"/>
                        </a:rPr>
                        <a:t>5.597,98</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c>
                  <a:txBody>
                    <a:bodyPr/>
                    <a:lstStyle/>
                    <a:p>
                      <a:pPr indent="0" marL="0">
                        <a:buNone/>
                      </a:pPr>
                      <a:r>
                        <a:rPr lang="en-US" sz="1100" dirty="0">
                          <a:solidFill>
                            <a:srgbClr val="363F46"/>
                          </a:solidFill>
                          <a:latin typeface="Calibri" pitchFamily="34" charset="0"/>
                          <a:ea typeface="Calibri" pitchFamily="34" charset="-122"/>
                          <a:cs typeface="Calibri" pitchFamily="34" charset="-120"/>
                        </a:rPr>
                        <a:t>ohne Zusatz GEB und „geb.gef.“</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c>
                  <a:txBody>
                    <a:bodyPr/>
                    <a:lstStyle/>
                    <a:p>
                      <a:pPr indent="0" marL="0">
                        <a:buNone/>
                      </a:pPr>
                      <a:r>
                        <a:rPr lang="en-US" sz="1100" dirty="0">
                          <a:solidFill>
                            <a:srgbClr val="B93A2E"/>
                          </a:solidFill>
                          <a:latin typeface="Calibri" pitchFamily="34" charset="0"/>
                          <a:ea typeface="Calibri" pitchFamily="34" charset="-122"/>
                          <a:cs typeface="Calibri" pitchFamily="34" charset="-120"/>
                        </a:rPr>
                        <a:t>Ausführung nicht bestätigt</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363F46"/>
                          </a:solidFill>
                          <a:latin typeface="Calibri" pitchFamily="34" charset="0"/>
                          <a:ea typeface="Calibri" pitchFamily="34" charset="-122"/>
                          <a:cs typeface="Calibri" pitchFamily="34" charset="-120"/>
                        </a:rPr>
                        <a:t>Spaeter</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1EAE0"/>
                    </a:solidFill>
                  </a:tcPr>
                </a:tc>
                <a:tc>
                  <a:txBody>
                    <a:bodyPr/>
                    <a:lstStyle/>
                    <a:p>
                      <a:pPr algn="r" indent="0" marL="0">
                        <a:buNone/>
                      </a:pPr>
                      <a:r>
                        <a:rPr lang="en-US" sz="1100" dirty="0">
                          <a:solidFill>
                            <a:srgbClr val="363F46"/>
                          </a:solidFill>
                          <a:latin typeface="Calibri" pitchFamily="34" charset="0"/>
                          <a:ea typeface="Calibri" pitchFamily="34" charset="-122"/>
                          <a:cs typeface="Calibri" pitchFamily="34" charset="-120"/>
                        </a:rPr>
                        <a:t>1.010,00</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1EAE0"/>
                    </a:solidFill>
                  </a:tcPr>
                </a:tc>
                <a:tc>
                  <a:txBody>
                    <a:bodyPr/>
                    <a:lstStyle/>
                    <a:p>
                      <a:pPr algn="r" indent="0" marL="0">
                        <a:buNone/>
                      </a:pPr>
                      <a:r>
                        <a:rPr lang="en-US" sz="1100" dirty="0">
                          <a:solidFill>
                            <a:srgbClr val="363F46"/>
                          </a:solidFill>
                          <a:latin typeface="Calibri" pitchFamily="34" charset="0"/>
                          <a:ea typeface="Calibri" pitchFamily="34" charset="-122"/>
                          <a:cs typeface="Calibri" pitchFamily="34" charset="-120"/>
                        </a:rPr>
                        <a:t>5.708,52</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1EAE0"/>
                    </a:solidFill>
                  </a:tcPr>
                </a:tc>
                <a:tc>
                  <a:txBody>
                    <a:bodyPr/>
                    <a:lstStyle/>
                    <a:p>
                      <a:pPr indent="0" marL="0">
                        <a:buNone/>
                      </a:pPr>
                      <a:r>
                        <a:rPr lang="en-US" sz="1100" dirty="0">
                          <a:solidFill>
                            <a:srgbClr val="363F46"/>
                          </a:solidFill>
                          <a:latin typeface="Calibri" pitchFamily="34" charset="0"/>
                          <a:ea typeface="Calibri" pitchFamily="34" charset="-122"/>
                          <a:cs typeface="Calibri" pitchFamily="34" charset="-120"/>
                        </a:rPr>
                        <a:t>gebeizt, geölt, wie angefragt</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1EAE0"/>
                    </a:solidFill>
                  </a:tcPr>
                </a:tc>
                <a:tc>
                  <a:txBody>
                    <a:bodyPr/>
                    <a:lstStyle/>
                    <a:p>
                      <a:pPr indent="0" marL="0">
                        <a:buNone/>
                      </a:pPr>
                      <a:r>
                        <a:rPr lang="en-US" sz="1100" dirty="0">
                          <a:solidFill>
                            <a:srgbClr val="5E656B"/>
                          </a:solidFill>
                          <a:latin typeface="Calibri" pitchFamily="34" charset="0"/>
                          <a:ea typeface="Calibri" pitchFamily="34" charset="-122"/>
                          <a:cs typeface="Calibri" pitchFamily="34" charset="-120"/>
                        </a:rPr>
                        <a:t>beauftragt, storniert</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1EAE0"/>
                    </a:solidFill>
                  </a:tcPr>
                </a:tc>
              </a:tr>
              <a:tr h="301752">
                <a:tc>
                  <a:txBody>
                    <a:bodyPr/>
                    <a:lstStyle/>
                    <a:p>
                      <a:pPr indent="0" marL="0">
                        <a:buNone/>
                      </a:pPr>
                      <a:r>
                        <a:rPr lang="en-US" sz="1100" b="1" dirty="0">
                          <a:solidFill>
                            <a:srgbClr val="363F46"/>
                          </a:solidFill>
                          <a:latin typeface="Calibri" pitchFamily="34" charset="0"/>
                          <a:ea typeface="Calibri" pitchFamily="34" charset="-122"/>
                          <a:cs typeface="Calibri" pitchFamily="34" charset="-120"/>
                        </a:rPr>
                        <a:t>Bucher</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1EAE0"/>
                    </a:solidFill>
                  </a:tcPr>
                </a:tc>
                <a:tc>
                  <a:txBody>
                    <a:bodyPr/>
                    <a:lstStyle/>
                    <a:p>
                      <a:pPr algn="r" indent="0" marL="0">
                        <a:buNone/>
                      </a:pPr>
                      <a:r>
                        <a:rPr lang="en-US" sz="1100" b="1" dirty="0">
                          <a:solidFill>
                            <a:srgbClr val="363F46"/>
                          </a:solidFill>
                          <a:latin typeface="Calibri" pitchFamily="34" charset="0"/>
                          <a:ea typeface="Calibri" pitchFamily="34" charset="-122"/>
                          <a:cs typeface="Calibri" pitchFamily="34" charset="-120"/>
                        </a:rPr>
                        <a:t>1.020,00</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1EAE0"/>
                    </a:solidFill>
                  </a:tcPr>
                </a:tc>
                <a:tc>
                  <a:txBody>
                    <a:bodyPr/>
                    <a:lstStyle/>
                    <a:p>
                      <a:pPr algn="r" indent="0" marL="0">
                        <a:buNone/>
                      </a:pPr>
                      <a:r>
                        <a:rPr lang="en-US" sz="1100" b="1" dirty="0">
                          <a:solidFill>
                            <a:srgbClr val="363F46"/>
                          </a:solidFill>
                          <a:latin typeface="Calibri" pitchFamily="34" charset="0"/>
                          <a:ea typeface="Calibri" pitchFamily="34" charset="-122"/>
                          <a:cs typeface="Calibri" pitchFamily="34" charset="-120"/>
                        </a:rPr>
                        <a:t>5.765,04</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1EAE0"/>
                    </a:solidFill>
                  </a:tcPr>
                </a:tc>
                <a:tc>
                  <a:txBody>
                    <a:bodyPr/>
                    <a:lstStyle/>
                    <a:p>
                      <a:pPr indent="0" marL="0">
                        <a:buNone/>
                      </a:pPr>
                      <a:r>
                        <a:rPr lang="en-US" sz="1100" b="1" dirty="0">
                          <a:solidFill>
                            <a:srgbClr val="363F46"/>
                          </a:solidFill>
                          <a:latin typeface="Calibri" pitchFamily="34" charset="0"/>
                          <a:ea typeface="Calibri" pitchFamily="34" charset="-122"/>
                          <a:cs typeface="Calibri" pitchFamily="34" charset="-120"/>
                        </a:rPr>
                        <a:t>gebeizt, leicht geölt, ab Lager</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1EAE0"/>
                    </a:solidFill>
                  </a:tcPr>
                </a:tc>
                <a:tc>
                  <a:txBody>
                    <a:bodyPr/>
                    <a:lstStyle/>
                    <a:p>
                      <a:pPr indent="0" marL="0">
                        <a:buNone/>
                      </a:pPr>
                      <a:r>
                        <a:rPr lang="en-US" sz="1100" b="1" dirty="0">
                          <a:solidFill>
                            <a:srgbClr val="806A45"/>
                          </a:solidFill>
                          <a:latin typeface="Calibri" pitchFamily="34" charset="0"/>
                          <a:ea typeface="Calibri" pitchFamily="34" charset="-122"/>
                          <a:cs typeface="Calibri" pitchFamily="34" charset="-120"/>
                        </a:rPr>
                        <a:t>beauftragt und geliefert</a:t>
                      </a:r>
                      <a:endParaRPr lang="en-US" sz="1100" dirty="0">
                        <a:latin typeface="Calibri" charset="0"/>
                        <a:ea typeface="Calibri" charset="0"/>
                        <a:cs typeface="Calibri" charset="0"/>
                      </a:endParaRPr>
                    </a:p>
                  </a:txBody>
                  <a:tcPr marL="63500" marR="63500" marT="63500" marB="63500" anchor="ctr">
                    <a:solidFill>
                      <a:srgbClr val="FFFFFF"/>
                    </a:solidFill>
                    <a:lnL w="6350" cap="flat" cmpd="sng" algn="ctr">
                      <a:solidFill>
                        <a:srgbClr val="DCDEE0"/>
                      </a:solidFill>
                      <a:prstDash val="solid"/>
                      <a:round/>
                      <a:headEnd type="none" w="med" len="med"/>
                      <a:tailEnd type="none" w="med" len="med"/>
                    </a:lnL>
                    <a:lnR w="6350" cap="flat" cmpd="sng" algn="ctr">
                      <a:solidFill>
                        <a:srgbClr val="DCDEE0"/>
                      </a:solidFill>
                      <a:prstDash val="solid"/>
                      <a:round/>
                      <a:headEnd type="none" w="med" len="med"/>
                      <a:tailEnd type="none" w="med" len="med"/>
                    </a:lnR>
                    <a:lnT w="6350" cap="flat" cmpd="sng" algn="ctr">
                      <a:solidFill>
                        <a:srgbClr val="DCDEE0"/>
                      </a:solidFill>
                      <a:prstDash val="solid"/>
                      <a:round/>
                      <a:headEnd type="none" w="med" len="med"/>
                      <a:tailEnd type="none" w="med" len="med"/>
                    </a:lnT>
                    <a:lnB w="6350" cap="flat" cmpd="sng" algn="ctr">
                      <a:solidFill>
                        <a:srgbClr val="DCDEE0"/>
                      </a:solidFill>
                      <a:prstDash val="solid"/>
                      <a:round/>
                      <a:headEnd type="none" w="med" len="med"/>
                      <a:tailEnd type="none" w="med" len="med"/>
                    </a:lnB>
                    <a:solidFill>
                      <a:srgbClr val="F1EAE0"/>
                    </a:solidFill>
                  </a:tcPr>
                </a:tc>
              </a:tr>
            </a:tbl>
          </a:graphicData>
        </a:graphic>
      </p:graphicFrame>
      <p:sp>
        <p:nvSpPr>
          <p:cNvPr id="7" name="Text 4"/>
          <p:cNvSpPr txBox="1"/>
          <p:nvPr/>
        </p:nvSpPr>
        <p:spPr>
          <a:xfrm>
            <a:off x="566928" y="3621024"/>
            <a:ext cx="8010144" cy="219456"/>
          </a:xfrm>
          <a:prstGeom prst="rect">
            <a:avLst/>
          </a:prstGeom>
          <a:noFill/>
          <a:ln/>
        </p:spPr>
        <p:txBody>
          <a:bodyPr wrap="square" lIns="0" tIns="0" rIns="0" bIns="0" rtlCol="0" anchor="ctr"/>
          <a:lstStyle/>
          <a:p>
            <a:pPr indent="0" marL="0">
              <a:buNone/>
            </a:pPr>
            <a:r>
              <a:rPr lang="en-US" sz="1000" i="1" dirty="0">
                <a:solidFill>
                  <a:srgbClr val="636A70"/>
                </a:solidFill>
                <a:latin typeface="Calibri" pitchFamily="34" charset="0"/>
                <a:ea typeface="Calibri" pitchFamily="34" charset="-122"/>
                <a:cs typeface="Calibri" pitchFamily="34" charset="-120"/>
              </a:rPr>
              <a:t>Spalte Preisspiegel: bewerteter Positionswert auf sechs Tafeln (5.652 kg). Bucher wurde erst am 11.08. telefonisch angefragt.</a:t>
            </a:r>
            <a:endParaRPr lang="en-US" sz="1000" dirty="0"/>
          </a:p>
        </p:txBody>
      </p:sp>
      <p:sp>
        <p:nvSpPr>
          <p:cNvPr id="8" name="Shape 5"/>
          <p:cNvSpPr/>
          <p:nvPr/>
        </p:nvSpPr>
        <p:spPr>
          <a:xfrm>
            <a:off x="566928" y="3968496"/>
            <a:ext cx="8010144" cy="566928"/>
          </a:xfrm>
          <a:prstGeom prst="roundRect">
            <a:avLst>
              <a:gd name="adj" fmla="val 8065"/>
            </a:avLst>
          </a:prstGeom>
          <a:solidFill>
            <a:srgbClr val="F2F2F2"/>
          </a:solidFill>
          <a:ln w="12700">
            <a:solidFill>
              <a:srgbClr val="F2F2F2"/>
            </a:solidFill>
            <a:prstDash val="solid"/>
          </a:ln>
        </p:spPr>
        <p:txBody>
          <a:bodyPr/>
          <a:p/>
        </p:txBody>
      </p:sp>
      <p:sp>
        <p:nvSpPr>
          <p:cNvPr id="9" name="Text 6"/>
          <p:cNvSpPr txBox="1"/>
          <p:nvPr/>
        </p:nvSpPr>
        <p:spPr>
          <a:xfrm>
            <a:off x="822960" y="3968496"/>
            <a:ext cx="7498080" cy="566928"/>
          </a:xfrm>
          <a:prstGeom prst="rect">
            <a:avLst/>
          </a:prstGeom>
          <a:noFill/>
          <a:ln/>
        </p:spPr>
        <p:txBody>
          <a:bodyPr wrap="square" lIns="0" tIns="0" rIns="0" bIns="0" rtlCol="0" anchor="ctr"/>
          <a:lstStyle/>
          <a:p>
            <a:pPr indent="0" marL="0">
              <a:buNone/>
            </a:pPr>
            <a:r>
              <a:rPr lang="en-US" sz="1250" b="1" dirty="0">
                <a:solidFill>
                  <a:srgbClr val="363F46"/>
                </a:solidFill>
                <a:latin typeface="Calibri" pitchFamily="34" charset="0"/>
                <a:ea typeface="Calibri" pitchFamily="34" charset="-122"/>
                <a:cs typeface="Calibri" pitchFamily="34" charset="-120"/>
              </a:rPr>
              <a:t>Aus der Anfrage blieb genau ein Angebot, das gebeizt und geölt ausdrücklich zusagt: Spaeter.  </a:t>
            </a:r>
            <a:pPr indent="0" marL="0">
              <a:buNone/>
            </a:pPr>
            <a:r>
              <a:rPr lang="en-US" sz="1250" dirty="0">
                <a:solidFill>
                  <a:srgbClr val="5E656B"/>
                </a:solidFill>
                <a:latin typeface="Calibri" pitchFamily="34" charset="0"/>
                <a:ea typeface="Calibri" pitchFamily="34" charset="-122"/>
                <a:cs typeface="Calibri" pitchFamily="34" charset="-120"/>
              </a:rPr>
              <a:t>Klöckner wäre auf sechs Tafeln rund 790 Euro günstiger gewesen.</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75320" y="4718304"/>
            <a:ext cx="365760" cy="237744"/>
          </a:xfrm>
          <a:prstGeom prst="rect">
            <a:avLst/>
          </a:prstGeom>
          <a:noFill/>
          <a:ln/>
        </p:spPr>
        <p:txBody>
          <a:bodyPr wrap="square" lIns="0" tIns="0" rIns="0" bIns="0" rtlCol="0" anchor="ctr"/>
          <a:lstStyle/>
          <a:p>
            <a:pPr algn="r" indent="0" marL="0">
              <a:buNone/>
            </a:pPr>
            <a:r>
              <a:rPr lang="en-US" sz="1000" dirty="0">
                <a:solidFill>
                  <a:srgbClr val="636A70"/>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566928" y="4718304"/>
            <a:ext cx="5943600" cy="237744"/>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METALLART Treppen GmbH  ·  Fachaufgabe im Einsatzgebiet  ·  Alex Urban</a:t>
            </a:r>
            <a:endParaRPr lang="en-US" sz="900" dirty="0"/>
          </a:p>
        </p:txBody>
      </p:sp>
      <p:sp>
        <p:nvSpPr>
          <p:cNvPr id="4" name="Text 2"/>
          <p:cNvSpPr txBox="1"/>
          <p:nvPr/>
        </p:nvSpPr>
        <p:spPr>
          <a:xfrm>
            <a:off x="566928" y="365760"/>
            <a:ext cx="8010144" cy="201168"/>
          </a:xfrm>
          <a:prstGeom prst="rect">
            <a:avLst/>
          </a:prstGeom>
          <a:noFill/>
          <a:ln/>
        </p:spPr>
        <p:txBody>
          <a:bodyPr wrap="square" lIns="0" tIns="0" rIns="0" bIns="0" rtlCol="0" anchor="ctr"/>
          <a:lstStyle/>
          <a:p>
            <a:pPr indent="0" marL="0">
              <a:buNone/>
            </a:pPr>
            <a:r>
              <a:rPr lang="en-US" sz="1000" b="1" spc="200" kern="0" dirty="0">
                <a:solidFill>
                  <a:srgbClr val="806A45"/>
                </a:solidFill>
                <a:latin typeface="Calibri" pitchFamily="34" charset="0"/>
                <a:ea typeface="Calibri" pitchFamily="34" charset="-122"/>
                <a:cs typeface="Calibri" pitchFamily="34" charset="-120"/>
              </a:rPr>
              <a:t>NICHT NUR DER PREIS</a:t>
            </a:r>
            <a:endParaRPr lang="en-US" sz="1000" dirty="0"/>
          </a:p>
        </p:txBody>
      </p:sp>
      <p:sp>
        <p:nvSpPr>
          <p:cNvPr id="5" name="Text 3"/>
          <p:cNvSpPr txBox="1"/>
          <p:nvPr/>
        </p:nvSpPr>
        <p:spPr>
          <a:xfrm>
            <a:off x="566928" y="566928"/>
            <a:ext cx="8010144" cy="914400"/>
          </a:xfrm>
          <a:prstGeom prst="rect">
            <a:avLst/>
          </a:prstGeom>
          <a:noFill/>
          <a:ln/>
        </p:spPr>
        <p:txBody>
          <a:bodyPr wrap="square" lIns="0" tIns="0" rIns="0" bIns="0" rtlCol="0" anchor="t"/>
          <a:lstStyle/>
          <a:p>
            <a:pPr indent="0" marL="0">
              <a:buNone/>
            </a:pPr>
            <a:r>
              <a:rPr lang="en-US" sz="3000" dirty="0">
                <a:solidFill>
                  <a:srgbClr val="363F46"/>
                </a:solidFill>
                <a:latin typeface="Calibri Light" pitchFamily="34" charset="0"/>
                <a:ea typeface="Calibri Light" pitchFamily="34" charset="-122"/>
                <a:cs typeface="Calibri Light" pitchFamily="34" charset="-120"/>
              </a:rPr>
              <a:t>Was die Lieferung zusätzlich kostet</a:t>
            </a:r>
            <a:endParaRPr lang="en-US" sz="3000" dirty="0"/>
          </a:p>
        </p:txBody>
      </p:sp>
      <p:sp>
        <p:nvSpPr>
          <p:cNvPr id="6" name="Shape 4"/>
          <p:cNvSpPr/>
          <p:nvPr/>
        </p:nvSpPr>
        <p:spPr>
          <a:xfrm>
            <a:off x="566921" y="1335024"/>
            <a:ext cx="2549671" cy="2139696"/>
          </a:xfrm>
          <a:prstGeom prst="roundRect">
            <a:avLst>
              <a:gd name="adj" fmla="val 2137"/>
            </a:avLst>
          </a:prstGeom>
          <a:solidFill>
            <a:srgbClr val="F2F2F2"/>
          </a:solidFill>
          <a:ln w="12700">
            <a:solidFill>
              <a:srgbClr val="F2F2F2"/>
            </a:solidFill>
            <a:prstDash val="solid"/>
          </a:ln>
        </p:spPr>
        <p:txBody>
          <a:bodyPr/>
          <a:p/>
        </p:txBody>
      </p:sp>
      <p:sp>
        <p:nvSpPr>
          <p:cNvPr id="7" name="Text 5"/>
          <p:cNvSpPr txBox="1"/>
          <p:nvPr/>
        </p:nvSpPr>
        <p:spPr>
          <a:xfrm>
            <a:off x="819185" y="1517904"/>
            <a:ext cx="2072171" cy="274320"/>
          </a:xfrm>
          <a:prstGeom prst="rect">
            <a:avLst/>
          </a:prstGeom>
          <a:noFill/>
          <a:ln/>
        </p:spPr>
        <p:txBody>
          <a:bodyPr wrap="square" lIns="0" tIns="0" rIns="0" bIns="0" rtlCol="0" anchor="ctr"/>
          <a:lstStyle/>
          <a:p>
            <a:pPr indent="0" marL="0">
              <a:buNone/>
            </a:pPr>
            <a:r>
              <a:rPr lang="en-US" sz="1300" b="1" dirty="0">
                <a:solidFill>
                  <a:srgbClr val="363F46"/>
                </a:solidFill>
                <a:latin typeface="Calibri" pitchFamily="34" charset="0"/>
                <a:ea typeface="Calibri" pitchFamily="34" charset="-122"/>
                <a:cs typeface="Calibri" pitchFamily="34" charset="-120"/>
              </a:rPr>
              <a:t>Klöckner</a:t>
            </a:r>
            <a:endParaRPr lang="en-US" sz="1300" dirty="0"/>
          </a:p>
        </p:txBody>
      </p:sp>
      <p:sp>
        <p:nvSpPr>
          <p:cNvPr id="8" name="Text 6"/>
          <p:cNvSpPr txBox="1"/>
          <p:nvPr/>
        </p:nvSpPr>
        <p:spPr>
          <a:xfrm>
            <a:off x="819185" y="1847088"/>
            <a:ext cx="2090189" cy="548640"/>
          </a:xfrm>
          <a:prstGeom prst="rect">
            <a:avLst/>
          </a:prstGeom>
          <a:noFill/>
          <a:ln/>
        </p:spPr>
        <p:txBody>
          <a:bodyPr wrap="square" lIns="0" tIns="0" rIns="0" bIns="0" rtlCol="0" anchor="ctr"/>
          <a:lstStyle/>
          <a:p>
            <a:pPr indent="0" marL="0">
              <a:lnSpc>
                <a:spcPct val="110000"/>
              </a:lnSpc>
              <a:buNone/>
            </a:pPr>
            <a:r>
              <a:rPr lang="en-US" sz="1500" dirty="0">
                <a:solidFill>
                  <a:srgbClr val="5E656B"/>
                </a:solidFill>
                <a:latin typeface="Calibri Light" pitchFamily="34" charset="0"/>
                <a:ea typeface="Calibri Light" pitchFamily="34" charset="-122"/>
                <a:cs typeface="Calibri Light" pitchFamily="34" charset="-120"/>
              </a:rPr>
              <a:t>CPT frachtfrei Süßen</a:t>
            </a:r>
            <a:endParaRPr lang="en-US" sz="1500" dirty="0"/>
          </a:p>
        </p:txBody>
      </p:sp>
      <p:sp>
        <p:nvSpPr>
          <p:cNvPr id="9" name="Text 7"/>
          <p:cNvSpPr txBox="1"/>
          <p:nvPr/>
        </p:nvSpPr>
        <p:spPr>
          <a:xfrm>
            <a:off x="819185" y="2487168"/>
            <a:ext cx="2090189" cy="841248"/>
          </a:xfrm>
          <a:prstGeom prst="rect">
            <a:avLst/>
          </a:prstGeom>
          <a:noFill/>
          <a:ln/>
        </p:spPr>
        <p:txBody>
          <a:bodyPr wrap="square" lIns="0" tIns="0" rIns="0" bIns="0" rtlCol="0" anchor="ctr"/>
          <a:lstStyle/>
          <a:p>
            <a:pPr indent="0" marL="0">
              <a:lnSpc>
                <a:spcPct val="120000"/>
              </a:lnSpc>
              <a:buNone/>
            </a:pPr>
            <a:r>
              <a:rPr lang="en-US" sz="1100" dirty="0">
                <a:solidFill>
                  <a:srgbClr val="5E656B"/>
                </a:solidFill>
                <a:latin typeface="Calibri" pitchFamily="34" charset="0"/>
                <a:ea typeface="Calibri" pitchFamily="34" charset="-122"/>
                <a:cs typeface="Calibri" pitchFamily="34" charset="-120"/>
              </a:rPr>
              <a:t>95,00 € Fiskalkosten und 35,45 € Diesel je Anlieferung</a:t>
            </a:r>
            <a:endParaRPr lang="en-US" sz="1100" dirty="0"/>
          </a:p>
        </p:txBody>
      </p:sp>
      <p:sp>
        <p:nvSpPr>
          <p:cNvPr id="10" name="Shape 8"/>
          <p:cNvSpPr/>
          <p:nvPr/>
        </p:nvSpPr>
        <p:spPr>
          <a:xfrm>
            <a:off x="3296780" y="1335024"/>
            <a:ext cx="2549671" cy="2139696"/>
          </a:xfrm>
          <a:prstGeom prst="roundRect">
            <a:avLst>
              <a:gd name="adj" fmla="val 2137"/>
            </a:avLst>
          </a:prstGeom>
          <a:solidFill>
            <a:srgbClr val="F2F2F2"/>
          </a:solidFill>
          <a:ln w="12700">
            <a:solidFill>
              <a:srgbClr val="F2F2F2"/>
            </a:solidFill>
            <a:prstDash val="solid"/>
          </a:ln>
        </p:spPr>
        <p:txBody>
          <a:bodyPr/>
          <a:p/>
        </p:txBody>
      </p:sp>
      <p:sp>
        <p:nvSpPr>
          <p:cNvPr id="11" name="Text 9"/>
          <p:cNvSpPr txBox="1"/>
          <p:nvPr/>
        </p:nvSpPr>
        <p:spPr>
          <a:xfrm>
            <a:off x="3549044" y="1517904"/>
            <a:ext cx="2072171" cy="274320"/>
          </a:xfrm>
          <a:prstGeom prst="rect">
            <a:avLst/>
          </a:prstGeom>
          <a:noFill/>
          <a:ln/>
        </p:spPr>
        <p:txBody>
          <a:bodyPr wrap="square" lIns="0" tIns="0" rIns="0" bIns="0" rtlCol="0" anchor="ctr"/>
          <a:lstStyle/>
          <a:p>
            <a:pPr indent="0" marL="0">
              <a:buNone/>
            </a:pPr>
            <a:r>
              <a:rPr lang="en-US" sz="1300" b="1" dirty="0">
                <a:solidFill>
                  <a:srgbClr val="363F46"/>
                </a:solidFill>
                <a:latin typeface="Calibri" pitchFamily="34" charset="0"/>
                <a:ea typeface="Calibri" pitchFamily="34" charset="-122"/>
                <a:cs typeface="Calibri" pitchFamily="34" charset="-120"/>
              </a:rPr>
              <a:t>Bucher</a:t>
            </a:r>
            <a:endParaRPr lang="en-US" sz="1300" dirty="0"/>
          </a:p>
        </p:txBody>
      </p:sp>
      <p:sp>
        <p:nvSpPr>
          <p:cNvPr id="12" name="Text 10"/>
          <p:cNvSpPr txBox="1"/>
          <p:nvPr/>
        </p:nvSpPr>
        <p:spPr>
          <a:xfrm>
            <a:off x="3549044" y="1847088"/>
            <a:ext cx="2090189" cy="548640"/>
          </a:xfrm>
          <a:prstGeom prst="rect">
            <a:avLst/>
          </a:prstGeom>
          <a:noFill/>
          <a:ln/>
        </p:spPr>
        <p:txBody>
          <a:bodyPr wrap="square" lIns="0" tIns="0" rIns="0" bIns="0" rtlCol="0" anchor="ctr"/>
          <a:lstStyle/>
          <a:p>
            <a:pPr indent="0" marL="0">
              <a:lnSpc>
                <a:spcPct val="110000"/>
              </a:lnSpc>
              <a:buNone/>
            </a:pPr>
            <a:r>
              <a:rPr lang="en-US" sz="1500" dirty="0">
                <a:solidFill>
                  <a:srgbClr val="5E656B"/>
                </a:solidFill>
                <a:latin typeface="Calibri Light" pitchFamily="34" charset="0"/>
                <a:ea typeface="Calibri Light" pitchFamily="34" charset="-122"/>
                <a:cs typeface="Calibri Light" pitchFamily="34" charset="-120"/>
              </a:rPr>
              <a:t>frei Haus</a:t>
            </a:r>
            <a:endParaRPr lang="en-US" sz="1500" dirty="0"/>
          </a:p>
        </p:txBody>
      </p:sp>
      <p:sp>
        <p:nvSpPr>
          <p:cNvPr id="13" name="Text 11"/>
          <p:cNvSpPr txBox="1"/>
          <p:nvPr/>
        </p:nvSpPr>
        <p:spPr>
          <a:xfrm>
            <a:off x="3549044" y="2487168"/>
            <a:ext cx="2090189" cy="841248"/>
          </a:xfrm>
          <a:prstGeom prst="rect">
            <a:avLst/>
          </a:prstGeom>
          <a:noFill/>
          <a:ln/>
        </p:spPr>
        <p:txBody>
          <a:bodyPr wrap="square" lIns="0" tIns="0" rIns="0" bIns="0" rtlCol="0" anchor="ctr"/>
          <a:lstStyle/>
          <a:p>
            <a:pPr indent="0" marL="0">
              <a:lnSpc>
                <a:spcPct val="120000"/>
              </a:lnSpc>
              <a:buNone/>
            </a:pPr>
            <a:r>
              <a:rPr lang="en-US" sz="1100" dirty="0">
                <a:solidFill>
                  <a:srgbClr val="5E656B"/>
                </a:solidFill>
                <a:latin typeface="Calibri" pitchFamily="34" charset="0"/>
                <a:ea typeface="Calibri" pitchFamily="34" charset="-122"/>
                <a:cs typeface="Calibri" pitchFamily="34" charset="-120"/>
              </a:rPr>
              <a:t>89,80 € Fracht je Liefertag und Abladestelle</a:t>
            </a:r>
            <a:endParaRPr lang="en-US" sz="1100" dirty="0"/>
          </a:p>
        </p:txBody>
      </p:sp>
      <p:sp>
        <p:nvSpPr>
          <p:cNvPr id="14" name="Shape 12"/>
          <p:cNvSpPr/>
          <p:nvPr/>
        </p:nvSpPr>
        <p:spPr>
          <a:xfrm>
            <a:off x="6026639" y="1335024"/>
            <a:ext cx="2549671" cy="2139696"/>
          </a:xfrm>
          <a:prstGeom prst="roundRect">
            <a:avLst>
              <a:gd name="adj" fmla="val 2137"/>
            </a:avLst>
          </a:prstGeom>
          <a:solidFill>
            <a:srgbClr val="363F46"/>
          </a:solidFill>
          <a:ln w="12700">
            <a:solidFill>
              <a:srgbClr val="363F46"/>
            </a:solidFill>
            <a:prstDash val="solid"/>
          </a:ln>
        </p:spPr>
        <p:txBody>
          <a:bodyPr/>
          <a:p/>
        </p:txBody>
      </p:sp>
      <p:sp>
        <p:nvSpPr>
          <p:cNvPr id="15" name="Text 13"/>
          <p:cNvSpPr txBox="1"/>
          <p:nvPr/>
        </p:nvSpPr>
        <p:spPr>
          <a:xfrm>
            <a:off x="6278904" y="1517904"/>
            <a:ext cx="2072171" cy="274320"/>
          </a:xfrm>
          <a:prstGeom prst="rect">
            <a:avLst/>
          </a:prstGeom>
          <a:noFill/>
          <a:ln/>
        </p:spPr>
        <p:txBody>
          <a:bodyPr wrap="square" lIns="0" tIns="0" rIns="0" bIns="0" rtlCol="0" anchor="ctr"/>
          <a:lstStyle/>
          <a:p>
            <a:pPr indent="0" marL="0">
              <a:buNone/>
            </a:pPr>
            <a:r>
              <a:rPr lang="en-US" sz="1300" b="1" dirty="0">
                <a:solidFill>
                  <a:srgbClr val="AD9467"/>
                </a:solidFill>
                <a:latin typeface="Calibri" pitchFamily="34" charset="0"/>
                <a:ea typeface="Calibri" pitchFamily="34" charset="-122"/>
                <a:cs typeface="Calibri" pitchFamily="34" charset="-120"/>
              </a:rPr>
              <a:t>Spaeter</a:t>
            </a:r>
            <a:endParaRPr lang="en-US" sz="1300" dirty="0"/>
          </a:p>
        </p:txBody>
      </p:sp>
      <p:sp>
        <p:nvSpPr>
          <p:cNvPr id="16" name="Text 14"/>
          <p:cNvSpPr txBox="1"/>
          <p:nvPr/>
        </p:nvSpPr>
        <p:spPr>
          <a:xfrm>
            <a:off x="6278904" y="1847088"/>
            <a:ext cx="2090189" cy="548640"/>
          </a:xfrm>
          <a:prstGeom prst="rect">
            <a:avLst/>
          </a:prstGeom>
          <a:noFill/>
          <a:ln/>
        </p:spPr>
        <p:txBody>
          <a:bodyPr wrap="square" lIns="0" tIns="0" rIns="0" bIns="0" rtlCol="0" anchor="ctr"/>
          <a:lstStyle/>
          <a:p>
            <a:pPr indent="0" marL="0">
              <a:lnSpc>
                <a:spcPct val="110000"/>
              </a:lnSpc>
              <a:buNone/>
            </a:pPr>
            <a:r>
              <a:rPr lang="en-US" sz="1500" dirty="0">
                <a:solidFill>
                  <a:srgbClr val="FFFFFF"/>
                </a:solidFill>
                <a:latin typeface="Calibri Light" pitchFamily="34" charset="0"/>
                <a:ea typeface="Calibri Light" pitchFamily="34" charset="-122"/>
                <a:cs typeface="Calibri Light" pitchFamily="34" charset="-120"/>
              </a:rPr>
              <a:t>CPT ohne den Zusatz frachtfrei</a:t>
            </a:r>
            <a:endParaRPr lang="en-US" sz="1500" dirty="0"/>
          </a:p>
        </p:txBody>
      </p:sp>
      <p:sp>
        <p:nvSpPr>
          <p:cNvPr id="17" name="Text 15"/>
          <p:cNvSpPr txBox="1"/>
          <p:nvPr/>
        </p:nvSpPr>
        <p:spPr>
          <a:xfrm>
            <a:off x="6278904" y="2487168"/>
            <a:ext cx="2090189" cy="841248"/>
          </a:xfrm>
          <a:prstGeom prst="rect">
            <a:avLst/>
          </a:prstGeom>
          <a:noFill/>
          <a:ln/>
        </p:spPr>
        <p:txBody>
          <a:bodyPr wrap="square" lIns="0" tIns="0" rIns="0" bIns="0" rtlCol="0" anchor="ctr"/>
          <a:lstStyle/>
          <a:p>
            <a:pPr indent="0" marL="0">
              <a:lnSpc>
                <a:spcPct val="120000"/>
              </a:lnSpc>
              <a:buNone/>
            </a:pPr>
            <a:r>
              <a:rPr lang="en-US" sz="1100" dirty="0">
                <a:solidFill>
                  <a:srgbClr val="AFB2B5"/>
                </a:solidFill>
                <a:latin typeface="Calibri" pitchFamily="34" charset="0"/>
                <a:ea typeface="Calibri" pitchFamily="34" charset="-122"/>
                <a:cs typeface="Calibri" pitchFamily="34" charset="-120"/>
              </a:rPr>
              <a:t>Im Einkaufssystem als unfrei hinterlegt, dazu 24,50 € Energiekostenzuschlag</a:t>
            </a:r>
            <a:endParaRPr lang="en-US" sz="1100" dirty="0"/>
          </a:p>
        </p:txBody>
      </p:sp>
      <p:sp>
        <p:nvSpPr>
          <p:cNvPr id="18" name="Shape 16"/>
          <p:cNvSpPr/>
          <p:nvPr/>
        </p:nvSpPr>
        <p:spPr>
          <a:xfrm>
            <a:off x="566928" y="3675888"/>
            <a:ext cx="8010144" cy="566928"/>
          </a:xfrm>
          <a:prstGeom prst="roundRect">
            <a:avLst>
              <a:gd name="adj" fmla="val 8065"/>
            </a:avLst>
          </a:prstGeom>
          <a:solidFill>
            <a:srgbClr val="F2F2F2"/>
          </a:solidFill>
          <a:ln w="12700">
            <a:solidFill>
              <a:srgbClr val="F2F2F2"/>
            </a:solidFill>
            <a:prstDash val="solid"/>
          </a:ln>
        </p:spPr>
        <p:txBody>
          <a:bodyPr/>
          <a:p/>
        </p:txBody>
      </p:sp>
      <p:sp>
        <p:nvSpPr>
          <p:cNvPr id="19" name="Text 17"/>
          <p:cNvSpPr txBox="1"/>
          <p:nvPr/>
        </p:nvSpPr>
        <p:spPr>
          <a:xfrm>
            <a:off x="822960" y="3675888"/>
            <a:ext cx="7498080" cy="566928"/>
          </a:xfrm>
          <a:prstGeom prst="rect">
            <a:avLst/>
          </a:prstGeom>
          <a:noFill/>
          <a:ln/>
        </p:spPr>
        <p:txBody>
          <a:bodyPr wrap="square" lIns="0" tIns="0" rIns="0" bIns="0" rtlCol="0" anchor="ctr"/>
          <a:lstStyle/>
          <a:p>
            <a:pPr indent="0" marL="0">
              <a:buNone/>
            </a:pPr>
            <a:r>
              <a:rPr lang="en-US" sz="1250" b="1" dirty="0">
                <a:solidFill>
                  <a:srgbClr val="363F46"/>
                </a:solidFill>
                <a:latin typeface="Calibri" pitchFamily="34" charset="0"/>
                <a:ea typeface="Calibri" pitchFamily="34" charset="-122"/>
                <a:cs typeface="Calibri" pitchFamily="34" charset="-120"/>
              </a:rPr>
              <a:t>Diese Kosten fallen je Lieferung an, nicht je Position.  </a:t>
            </a:r>
            <a:pPr indent="0" marL="0">
              <a:buNone/>
            </a:pPr>
            <a:r>
              <a:rPr lang="en-US" sz="1250" dirty="0">
                <a:solidFill>
                  <a:srgbClr val="5E656B"/>
                </a:solidFill>
                <a:latin typeface="Calibri" pitchFamily="34" charset="0"/>
                <a:ea typeface="Calibri" pitchFamily="34" charset="-122"/>
                <a:cs typeface="Calibri" pitchFamily="34" charset="-120"/>
              </a:rPr>
              <a:t>Deshalb bin ich beim Blech 15 mm nicht nur vom Tonnenpreis ausgegangen.</a:t>
            </a:r>
            <a:endParaRPr lang="en-US" sz="1250" dirty="0"/>
          </a:p>
        </p:txBody>
      </p:sp>
      <p:sp>
        <p:nvSpPr>
          <p:cNvPr id="20" name="Text 18"/>
          <p:cNvSpPr txBox="1"/>
          <p:nvPr/>
        </p:nvSpPr>
        <p:spPr>
          <a:xfrm>
            <a:off x="566928" y="4389120"/>
            <a:ext cx="8010144" cy="256032"/>
          </a:xfrm>
          <a:prstGeom prst="rect">
            <a:avLst/>
          </a:prstGeom>
          <a:noFill/>
          <a:ln/>
        </p:spPr>
        <p:txBody>
          <a:bodyPr wrap="square" lIns="0" tIns="0" rIns="0" bIns="0" rtlCol="0" anchor="ctr"/>
          <a:lstStyle/>
          <a:p>
            <a:pPr indent="0" marL="0">
              <a:buNone/>
            </a:pPr>
            <a:r>
              <a:rPr lang="en-US" sz="1100" i="1" dirty="0">
                <a:solidFill>
                  <a:srgbClr val="636A70"/>
                </a:solidFill>
                <a:latin typeface="Calibri" pitchFamily="34" charset="0"/>
                <a:ea typeface="Calibri" pitchFamily="34" charset="-122"/>
                <a:cs typeface="Calibri" pitchFamily="34" charset="-120"/>
              </a:rPr>
              <a:t>Der Preisspiegel enthält diese Kosten bisher nicht. Das ist einer meiner Verbesserungsvorschläge.</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75320" y="4718304"/>
            <a:ext cx="365760" cy="237744"/>
          </a:xfrm>
          <a:prstGeom prst="rect">
            <a:avLst/>
          </a:prstGeom>
          <a:noFill/>
          <a:ln/>
        </p:spPr>
        <p:txBody>
          <a:bodyPr wrap="square" lIns="0" tIns="0" rIns="0" bIns="0" rtlCol="0" anchor="ctr"/>
          <a:lstStyle/>
          <a:p>
            <a:pPr algn="r" indent="0" marL="0">
              <a:buNone/>
            </a:pPr>
            <a:r>
              <a:rPr lang="en-US" sz="1000" dirty="0">
                <a:solidFill>
                  <a:srgbClr val="636A70"/>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66928" y="4718304"/>
            <a:ext cx="5943600" cy="237744"/>
          </a:xfrm>
          <a:prstGeom prst="rect">
            <a:avLst/>
          </a:prstGeom>
          <a:noFill/>
          <a:ln/>
        </p:spPr>
        <p:txBody>
          <a:bodyPr wrap="square" lIns="0" tIns="0" rIns="0" bIns="0" rtlCol="0" anchor="ctr"/>
          <a:lstStyle/>
          <a:p>
            <a:pPr indent="0" marL="0">
              <a:buNone/>
            </a:pPr>
            <a:r>
              <a:rPr lang="en-US" sz="900" dirty="0">
                <a:solidFill>
                  <a:srgbClr val="636A70"/>
                </a:solidFill>
                <a:latin typeface="Calibri" pitchFamily="34" charset="0"/>
                <a:ea typeface="Calibri" pitchFamily="34" charset="-122"/>
                <a:cs typeface="Calibri" pitchFamily="34" charset="-120"/>
              </a:rPr>
              <a:t>METALLART Treppen GmbH  ·  Fachaufgabe im Einsatzgebiet  ·  Alex Urban</a:t>
            </a:r>
            <a:endParaRPr lang="en-US" sz="900" dirty="0"/>
          </a:p>
        </p:txBody>
      </p:sp>
      <p:sp>
        <p:nvSpPr>
          <p:cNvPr id="4" name="Text 2"/>
          <p:cNvSpPr txBox="1"/>
          <p:nvPr/>
        </p:nvSpPr>
        <p:spPr>
          <a:xfrm>
            <a:off x="566928" y="365760"/>
            <a:ext cx="8010144" cy="201168"/>
          </a:xfrm>
          <a:prstGeom prst="rect">
            <a:avLst/>
          </a:prstGeom>
          <a:noFill/>
          <a:ln/>
        </p:spPr>
        <p:txBody>
          <a:bodyPr wrap="square" lIns="0" tIns="0" rIns="0" bIns="0" rtlCol="0" anchor="ctr"/>
          <a:lstStyle/>
          <a:p>
            <a:pPr indent="0" marL="0">
              <a:buNone/>
            </a:pPr>
            <a:r>
              <a:rPr lang="en-US" sz="1000" b="1" spc="200" kern="0" dirty="0">
                <a:solidFill>
                  <a:srgbClr val="806A45"/>
                </a:solidFill>
                <a:latin typeface="Calibri" pitchFamily="34" charset="0"/>
                <a:ea typeface="Calibri" pitchFamily="34" charset="-122"/>
                <a:cs typeface="Calibri" pitchFamily="34" charset="-120"/>
              </a:rPr>
              <a:t>SCHRITT 4 UND 5</a:t>
            </a:r>
            <a:endParaRPr lang="en-US" sz="1000" dirty="0"/>
          </a:p>
        </p:txBody>
      </p:sp>
      <p:sp>
        <p:nvSpPr>
          <p:cNvPr id="5" name="Text 3"/>
          <p:cNvSpPr txBox="1"/>
          <p:nvPr/>
        </p:nvSpPr>
        <p:spPr>
          <a:xfrm>
            <a:off x="566928" y="566928"/>
            <a:ext cx="8010144" cy="914400"/>
          </a:xfrm>
          <a:prstGeom prst="rect">
            <a:avLst/>
          </a:prstGeom>
          <a:noFill/>
          <a:ln/>
        </p:spPr>
        <p:txBody>
          <a:bodyPr wrap="square" lIns="0" tIns="0" rIns="0" bIns="0" rtlCol="0" anchor="t"/>
          <a:lstStyle/>
          <a:p>
            <a:pPr indent="0" marL="0">
              <a:buNone/>
            </a:pPr>
            <a:r>
              <a:rPr lang="en-US" sz="3000" dirty="0">
                <a:solidFill>
                  <a:srgbClr val="363F46"/>
                </a:solidFill>
                <a:latin typeface="Calibri Light" pitchFamily="34" charset="0"/>
                <a:ea typeface="Calibri Light" pitchFamily="34" charset="-122"/>
                <a:cs typeface="Calibri Light" pitchFamily="34" charset="-120"/>
              </a:rPr>
              <a:t>Der Lieferant fällt aus, der Termin bleibt</a:t>
            </a:r>
            <a:endParaRPr lang="en-US" sz="3000" dirty="0"/>
          </a:p>
        </p:txBody>
      </p:sp>
      <p:sp>
        <p:nvSpPr>
          <p:cNvPr id="6" name="Shape 4"/>
          <p:cNvSpPr/>
          <p:nvPr/>
        </p:nvSpPr>
        <p:spPr>
          <a:xfrm>
            <a:off x="566928" y="1261872"/>
            <a:ext cx="1051560" cy="548640"/>
          </a:xfrm>
          <a:prstGeom prst="roundRect">
            <a:avLst>
              <a:gd name="adj" fmla="val 8333"/>
            </a:avLst>
          </a:prstGeom>
          <a:solidFill>
            <a:srgbClr val="363F46"/>
          </a:solidFill>
          <a:ln w="12700">
            <a:solidFill>
              <a:srgbClr val="363F46"/>
            </a:solidFill>
            <a:prstDash val="solid"/>
          </a:ln>
        </p:spPr>
        <p:txBody>
          <a:bodyPr/>
          <a:p/>
        </p:txBody>
      </p:sp>
      <p:sp>
        <p:nvSpPr>
          <p:cNvPr id="7" name="Text 5"/>
          <p:cNvSpPr txBox="1"/>
          <p:nvPr/>
        </p:nvSpPr>
        <p:spPr>
          <a:xfrm>
            <a:off x="566928" y="1261872"/>
            <a:ext cx="105156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11.08.</a:t>
            </a:r>
            <a:endParaRPr lang="en-US" sz="1150" dirty="0"/>
          </a:p>
        </p:txBody>
      </p:sp>
      <p:sp>
        <p:nvSpPr>
          <p:cNvPr id="8" name="Text 6"/>
          <p:cNvSpPr txBox="1"/>
          <p:nvPr/>
        </p:nvSpPr>
        <p:spPr>
          <a:xfrm>
            <a:off x="1773936" y="1271016"/>
            <a:ext cx="2377440" cy="237744"/>
          </a:xfrm>
          <a:prstGeom prst="rect">
            <a:avLst/>
          </a:prstGeom>
          <a:noFill/>
          <a:ln/>
        </p:spPr>
        <p:txBody>
          <a:bodyPr wrap="square" lIns="0" tIns="0" rIns="0" bIns="0" rtlCol="0" anchor="ctr"/>
          <a:lstStyle/>
          <a:p>
            <a:pPr indent="0" marL="0">
              <a:buNone/>
            </a:pPr>
            <a:r>
              <a:rPr lang="en-US" sz="1200" b="1" dirty="0">
                <a:solidFill>
                  <a:srgbClr val="363F46"/>
                </a:solidFill>
                <a:latin typeface="Calibri" pitchFamily="34" charset="0"/>
                <a:ea typeface="Calibri" pitchFamily="34" charset="-122"/>
                <a:cs typeface="Calibri" pitchFamily="34" charset="-120"/>
              </a:rPr>
              <a:t>Drei Bestellungen</a:t>
            </a:r>
            <a:endParaRPr lang="en-US" sz="1200" dirty="0"/>
          </a:p>
        </p:txBody>
      </p:sp>
      <p:sp>
        <p:nvSpPr>
          <p:cNvPr id="9" name="Text 7"/>
          <p:cNvSpPr txBox="1"/>
          <p:nvPr/>
        </p:nvSpPr>
        <p:spPr>
          <a:xfrm>
            <a:off x="1773936" y="1508760"/>
            <a:ext cx="6784848" cy="420624"/>
          </a:xfrm>
          <a:prstGeom prst="rect">
            <a:avLst/>
          </a:prstGeom>
          <a:noFill/>
          <a:ln/>
        </p:spPr>
        <p:txBody>
          <a:bodyPr wrap="square" lIns="0" tIns="0" rIns="0" bIns="0" rtlCol="0" anchor="ctr"/>
          <a:lstStyle/>
          <a:p>
            <a:pPr indent="0" marL="0">
              <a:lnSpc>
                <a:spcPct val="108000"/>
              </a:lnSpc>
              <a:buNone/>
            </a:pPr>
            <a:r>
              <a:rPr lang="en-US" sz="1000" dirty="0">
                <a:solidFill>
                  <a:srgbClr val="5E656B"/>
                </a:solidFill>
                <a:latin typeface="Calibri" pitchFamily="34" charset="0"/>
                <a:ea typeface="Calibri" pitchFamily="34" charset="-122"/>
                <a:cs typeface="Calibri" pitchFamily="34" charset="-120"/>
              </a:rPr>
              <a:t>Vier Positionen mit Werkszeugnis 2.2 an Klöckner. Blech 15 mm nur bei Spaeter lieferbar, aber nicht als Einzelposition; Blech 8 mm deshalb dazugenommen und der Mehrpreis gegen eine zweite Lieferung abgewogen.</a:t>
            </a:r>
            <a:endParaRPr lang="en-US" sz="1000" dirty="0"/>
          </a:p>
        </p:txBody>
      </p:sp>
      <p:sp>
        <p:nvSpPr>
          <p:cNvPr id="10" name="Shape 8"/>
          <p:cNvSpPr/>
          <p:nvPr/>
        </p:nvSpPr>
        <p:spPr>
          <a:xfrm>
            <a:off x="566928" y="1956816"/>
            <a:ext cx="1051560" cy="548640"/>
          </a:xfrm>
          <a:prstGeom prst="roundRect">
            <a:avLst>
              <a:gd name="adj" fmla="val 8333"/>
            </a:avLst>
          </a:prstGeom>
          <a:solidFill>
            <a:srgbClr val="B93A2E"/>
          </a:solidFill>
          <a:ln w="12700">
            <a:solidFill>
              <a:srgbClr val="F9685D"/>
            </a:solidFill>
            <a:prstDash val="solid"/>
          </a:ln>
        </p:spPr>
        <p:txBody>
          <a:bodyPr/>
          <a:p/>
        </p:txBody>
      </p:sp>
      <p:sp>
        <p:nvSpPr>
          <p:cNvPr id="11" name="Text 9"/>
          <p:cNvSpPr txBox="1"/>
          <p:nvPr/>
        </p:nvSpPr>
        <p:spPr>
          <a:xfrm>
            <a:off x="566928" y="1956816"/>
            <a:ext cx="105156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11.08.</a:t>
            </a:r>
            <a:endParaRPr lang="en-US" sz="1150" dirty="0"/>
          </a:p>
        </p:txBody>
      </p:sp>
      <p:sp>
        <p:nvSpPr>
          <p:cNvPr id="12" name="Text 10"/>
          <p:cNvSpPr txBox="1"/>
          <p:nvPr/>
        </p:nvSpPr>
        <p:spPr>
          <a:xfrm>
            <a:off x="1773936" y="1965960"/>
            <a:ext cx="2377440" cy="237744"/>
          </a:xfrm>
          <a:prstGeom prst="rect">
            <a:avLst/>
          </a:prstGeom>
          <a:noFill/>
          <a:ln/>
        </p:spPr>
        <p:txBody>
          <a:bodyPr wrap="square" lIns="0" tIns="0" rIns="0" bIns="0" rtlCol="0" anchor="ctr"/>
          <a:lstStyle/>
          <a:p>
            <a:pPr indent="0" marL="0">
              <a:buNone/>
            </a:pPr>
            <a:r>
              <a:rPr lang="en-US" sz="1200" b="1" dirty="0">
                <a:solidFill>
                  <a:srgbClr val="B93A2E"/>
                </a:solidFill>
                <a:latin typeface="Calibri" pitchFamily="34" charset="0"/>
                <a:ea typeface="Calibri" pitchFamily="34" charset="-122"/>
                <a:cs typeface="Calibri" pitchFamily="34" charset="-120"/>
              </a:rPr>
              <a:t>Ausfall und Stornierung</a:t>
            </a:r>
            <a:endParaRPr lang="en-US" sz="1200" dirty="0"/>
          </a:p>
        </p:txBody>
      </p:sp>
      <p:sp>
        <p:nvSpPr>
          <p:cNvPr id="13" name="Text 11"/>
          <p:cNvSpPr txBox="1"/>
          <p:nvPr/>
        </p:nvSpPr>
        <p:spPr>
          <a:xfrm>
            <a:off x="1773936" y="2203704"/>
            <a:ext cx="6784848" cy="420624"/>
          </a:xfrm>
          <a:prstGeom prst="rect">
            <a:avLst/>
          </a:prstGeom>
          <a:noFill/>
          <a:ln/>
        </p:spPr>
        <p:txBody>
          <a:bodyPr wrap="square" lIns="0" tIns="0" rIns="0" bIns="0" rtlCol="0" anchor="ctr"/>
          <a:lstStyle/>
          <a:p>
            <a:pPr indent="0" marL="0">
              <a:lnSpc>
                <a:spcPct val="108000"/>
              </a:lnSpc>
              <a:buNone/>
            </a:pPr>
            <a:r>
              <a:rPr lang="en-US" sz="1000" dirty="0">
                <a:solidFill>
                  <a:srgbClr val="5E656B"/>
                </a:solidFill>
                <a:latin typeface="Calibri" pitchFamily="34" charset="0"/>
                <a:ea typeface="Calibri" pitchFamily="34" charset="-122"/>
                <a:cs typeface="Calibri" pitchFamily="34" charset="-120"/>
              </a:rPr>
              <a:t>Spaeter meldet: Blech 15 mm zwischen Angebot und Auftrag verkauft. Angebot war freibleibend, also kein Vertrag und kein Lieferanspruch.</a:t>
            </a:r>
            <a:endParaRPr lang="en-US" sz="1000" dirty="0"/>
          </a:p>
        </p:txBody>
      </p:sp>
      <p:sp>
        <p:nvSpPr>
          <p:cNvPr id="14" name="Shape 12"/>
          <p:cNvSpPr/>
          <p:nvPr/>
        </p:nvSpPr>
        <p:spPr>
          <a:xfrm>
            <a:off x="566928" y="2651760"/>
            <a:ext cx="1051560" cy="548640"/>
          </a:xfrm>
          <a:prstGeom prst="roundRect">
            <a:avLst>
              <a:gd name="adj" fmla="val 8333"/>
            </a:avLst>
          </a:prstGeom>
          <a:solidFill>
            <a:srgbClr val="363F46"/>
          </a:solidFill>
          <a:ln w="12700">
            <a:solidFill>
              <a:srgbClr val="363F46"/>
            </a:solidFill>
            <a:prstDash val="solid"/>
          </a:ln>
        </p:spPr>
        <p:txBody>
          <a:bodyPr/>
          <a:p/>
        </p:txBody>
      </p:sp>
      <p:sp>
        <p:nvSpPr>
          <p:cNvPr id="15" name="Text 13"/>
          <p:cNvSpPr txBox="1"/>
          <p:nvPr/>
        </p:nvSpPr>
        <p:spPr>
          <a:xfrm>
            <a:off x="566928" y="2651760"/>
            <a:ext cx="105156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11.08.</a:t>
            </a:r>
            <a:endParaRPr lang="en-US" sz="1150" dirty="0"/>
          </a:p>
        </p:txBody>
      </p:sp>
      <p:sp>
        <p:nvSpPr>
          <p:cNvPr id="16" name="Text 14"/>
          <p:cNvSpPr txBox="1"/>
          <p:nvPr/>
        </p:nvSpPr>
        <p:spPr>
          <a:xfrm>
            <a:off x="1773936" y="2660904"/>
            <a:ext cx="2377440" cy="237744"/>
          </a:xfrm>
          <a:prstGeom prst="rect">
            <a:avLst/>
          </a:prstGeom>
          <a:noFill/>
          <a:ln/>
        </p:spPr>
        <p:txBody>
          <a:bodyPr wrap="square" lIns="0" tIns="0" rIns="0" bIns="0" rtlCol="0" anchor="ctr"/>
          <a:lstStyle/>
          <a:p>
            <a:pPr indent="0" marL="0">
              <a:buNone/>
            </a:pPr>
            <a:r>
              <a:rPr lang="en-US" sz="1200" b="1" dirty="0">
                <a:solidFill>
                  <a:srgbClr val="363F46"/>
                </a:solidFill>
                <a:latin typeface="Calibri" pitchFamily="34" charset="0"/>
                <a:ea typeface="Calibri" pitchFamily="34" charset="-122"/>
                <a:cs typeface="Calibri" pitchFamily="34" charset="-120"/>
              </a:rPr>
              <a:t>Ersatz und Verhandlung</a:t>
            </a:r>
            <a:endParaRPr lang="en-US" sz="1200" dirty="0"/>
          </a:p>
        </p:txBody>
      </p:sp>
      <p:sp>
        <p:nvSpPr>
          <p:cNvPr id="17" name="Text 15"/>
          <p:cNvSpPr txBox="1"/>
          <p:nvPr/>
        </p:nvSpPr>
        <p:spPr>
          <a:xfrm>
            <a:off x="1773936" y="2898648"/>
            <a:ext cx="6784848" cy="420624"/>
          </a:xfrm>
          <a:prstGeom prst="rect">
            <a:avLst/>
          </a:prstGeom>
          <a:noFill/>
          <a:ln/>
        </p:spPr>
        <p:txBody>
          <a:bodyPr wrap="square" lIns="0" tIns="0" rIns="0" bIns="0" rtlCol="0" anchor="ctr"/>
          <a:lstStyle/>
          <a:p>
            <a:pPr indent="0" marL="0">
              <a:lnSpc>
                <a:spcPct val="108000"/>
              </a:lnSpc>
              <a:buNone/>
            </a:pPr>
            <a:r>
              <a:rPr lang="en-US" sz="1000" dirty="0">
                <a:solidFill>
                  <a:srgbClr val="5E656B"/>
                </a:solidFill>
                <a:latin typeface="Calibri" pitchFamily="34" charset="0"/>
                <a:ea typeface="Calibri" pitchFamily="34" charset="-122"/>
                <a:cs typeface="Calibri" pitchFamily="34" charset="-120"/>
              </a:rPr>
              <a:t>Bucher telefonisch angefragt, sechs Tafeln ab Lager. Angebot 105 Euro je 100 kg, nach dem Gespräch 102 Euro, so auch in der Auftragsbestätigung.</a:t>
            </a:r>
            <a:endParaRPr lang="en-US" sz="1000" dirty="0"/>
          </a:p>
        </p:txBody>
      </p:sp>
      <p:sp>
        <p:nvSpPr>
          <p:cNvPr id="18" name="Shape 16"/>
          <p:cNvSpPr/>
          <p:nvPr/>
        </p:nvSpPr>
        <p:spPr>
          <a:xfrm>
            <a:off x="566928" y="3346704"/>
            <a:ext cx="1051560" cy="548640"/>
          </a:xfrm>
          <a:prstGeom prst="roundRect">
            <a:avLst>
              <a:gd name="adj" fmla="val 8333"/>
            </a:avLst>
          </a:prstGeom>
          <a:solidFill>
            <a:srgbClr val="363F46"/>
          </a:solidFill>
          <a:ln w="12700">
            <a:solidFill>
              <a:srgbClr val="363F46"/>
            </a:solidFill>
            <a:prstDash val="solid"/>
          </a:ln>
        </p:spPr>
        <p:txBody>
          <a:bodyPr/>
          <a:p/>
        </p:txBody>
      </p:sp>
      <p:sp>
        <p:nvSpPr>
          <p:cNvPr id="19" name="Text 17"/>
          <p:cNvSpPr txBox="1"/>
          <p:nvPr/>
        </p:nvSpPr>
        <p:spPr>
          <a:xfrm>
            <a:off x="566928" y="3346704"/>
            <a:ext cx="105156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11.08.</a:t>
            </a:r>
            <a:endParaRPr lang="en-US" sz="1150" dirty="0"/>
          </a:p>
        </p:txBody>
      </p:sp>
      <p:sp>
        <p:nvSpPr>
          <p:cNvPr id="20" name="Text 18"/>
          <p:cNvSpPr txBox="1"/>
          <p:nvPr/>
        </p:nvSpPr>
        <p:spPr>
          <a:xfrm>
            <a:off x="1773936" y="3355848"/>
            <a:ext cx="2377440" cy="237744"/>
          </a:xfrm>
          <a:prstGeom prst="rect">
            <a:avLst/>
          </a:prstGeom>
          <a:noFill/>
          <a:ln/>
        </p:spPr>
        <p:txBody>
          <a:bodyPr wrap="square" lIns="0" tIns="0" rIns="0" bIns="0" rtlCol="0" anchor="ctr"/>
          <a:lstStyle/>
          <a:p>
            <a:pPr indent="0" marL="0">
              <a:buNone/>
            </a:pPr>
            <a:r>
              <a:rPr lang="en-US" sz="1200" b="1" dirty="0">
                <a:solidFill>
                  <a:srgbClr val="363F46"/>
                </a:solidFill>
                <a:latin typeface="Calibri" pitchFamily="34" charset="0"/>
                <a:ea typeface="Calibri" pitchFamily="34" charset="-122"/>
                <a:cs typeface="Calibri" pitchFamily="34" charset="-120"/>
              </a:rPr>
              <a:t>Umdisposition</a:t>
            </a:r>
            <a:endParaRPr lang="en-US" sz="1200" dirty="0"/>
          </a:p>
        </p:txBody>
      </p:sp>
      <p:sp>
        <p:nvSpPr>
          <p:cNvPr id="21" name="Text 19"/>
          <p:cNvSpPr txBox="1"/>
          <p:nvPr/>
        </p:nvSpPr>
        <p:spPr>
          <a:xfrm>
            <a:off x="1773936" y="3593592"/>
            <a:ext cx="6784848" cy="420624"/>
          </a:xfrm>
          <a:prstGeom prst="rect">
            <a:avLst/>
          </a:prstGeom>
          <a:noFill/>
          <a:ln/>
        </p:spPr>
        <p:txBody>
          <a:bodyPr wrap="square" lIns="0" tIns="0" rIns="0" bIns="0" rtlCol="0" anchor="ctr"/>
          <a:lstStyle/>
          <a:p>
            <a:pPr indent="0" marL="0">
              <a:lnSpc>
                <a:spcPct val="108000"/>
              </a:lnSpc>
              <a:buNone/>
            </a:pPr>
            <a:r>
              <a:rPr lang="en-US" sz="1000" dirty="0">
                <a:solidFill>
                  <a:srgbClr val="5E656B"/>
                </a:solidFill>
                <a:latin typeface="Calibri" pitchFamily="34" charset="0"/>
                <a:ea typeface="Calibri" pitchFamily="34" charset="-122"/>
                <a:cs typeface="Calibri" pitchFamily="34" charset="-120"/>
              </a:rPr>
              <a:t>Blech 8 mm zu Klöckner: 850 statt 900 Euro je Tonne, in der Auftragsbestätigung mit Zeugnis 3.1 bestätigt, keine zusätzliche Fracht.</a:t>
            </a:r>
            <a:endParaRPr lang="en-US" sz="1000" dirty="0"/>
          </a:p>
        </p:txBody>
      </p:sp>
      <p:sp>
        <p:nvSpPr>
          <p:cNvPr id="22" name="Shape 20"/>
          <p:cNvSpPr/>
          <p:nvPr/>
        </p:nvSpPr>
        <p:spPr>
          <a:xfrm>
            <a:off x="566928" y="4041648"/>
            <a:ext cx="1051560" cy="548640"/>
          </a:xfrm>
          <a:prstGeom prst="roundRect">
            <a:avLst>
              <a:gd name="adj" fmla="val 8333"/>
            </a:avLst>
          </a:prstGeom>
          <a:solidFill>
            <a:srgbClr val="363F46"/>
          </a:solidFill>
          <a:ln w="12700">
            <a:solidFill>
              <a:srgbClr val="363F46"/>
            </a:solidFill>
            <a:prstDash val="solid"/>
          </a:ln>
        </p:spPr>
        <p:txBody>
          <a:bodyPr/>
          <a:p/>
        </p:txBody>
      </p:sp>
      <p:sp>
        <p:nvSpPr>
          <p:cNvPr id="23" name="Text 21"/>
          <p:cNvSpPr txBox="1"/>
          <p:nvPr/>
        </p:nvSpPr>
        <p:spPr>
          <a:xfrm>
            <a:off x="566928" y="4041648"/>
            <a:ext cx="105156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13. / 14.08.</a:t>
            </a:r>
            <a:endParaRPr lang="en-US" sz="1150" dirty="0"/>
          </a:p>
        </p:txBody>
      </p:sp>
      <p:sp>
        <p:nvSpPr>
          <p:cNvPr id="24" name="Text 22"/>
          <p:cNvSpPr txBox="1"/>
          <p:nvPr/>
        </p:nvSpPr>
        <p:spPr>
          <a:xfrm>
            <a:off x="1773936" y="4050792"/>
            <a:ext cx="2377440" cy="237744"/>
          </a:xfrm>
          <a:prstGeom prst="rect">
            <a:avLst/>
          </a:prstGeom>
          <a:noFill/>
          <a:ln/>
        </p:spPr>
        <p:txBody>
          <a:bodyPr wrap="square" lIns="0" tIns="0" rIns="0" bIns="0" rtlCol="0" anchor="ctr"/>
          <a:lstStyle/>
          <a:p>
            <a:pPr indent="0" marL="0">
              <a:buNone/>
            </a:pPr>
            <a:r>
              <a:rPr lang="en-US" sz="1200" b="1" dirty="0">
                <a:solidFill>
                  <a:srgbClr val="363F46"/>
                </a:solidFill>
                <a:latin typeface="Calibri" pitchFamily="34" charset="0"/>
                <a:ea typeface="Calibri" pitchFamily="34" charset="-122"/>
                <a:cs typeface="Calibri" pitchFamily="34" charset="-120"/>
              </a:rPr>
              <a:t>Wareneingang</a:t>
            </a:r>
            <a:endParaRPr lang="en-US" sz="1200" dirty="0"/>
          </a:p>
        </p:txBody>
      </p:sp>
      <p:sp>
        <p:nvSpPr>
          <p:cNvPr id="25" name="Text 23"/>
          <p:cNvSpPr txBox="1"/>
          <p:nvPr/>
        </p:nvSpPr>
        <p:spPr>
          <a:xfrm>
            <a:off x="1773936" y="4288536"/>
            <a:ext cx="6784848" cy="420624"/>
          </a:xfrm>
          <a:prstGeom prst="rect">
            <a:avLst/>
          </a:prstGeom>
          <a:noFill/>
          <a:ln/>
        </p:spPr>
        <p:txBody>
          <a:bodyPr wrap="square" lIns="0" tIns="0" rIns="0" bIns="0" rtlCol="0" anchor="ctr"/>
          <a:lstStyle/>
          <a:p>
            <a:pPr indent="0" marL="0">
              <a:lnSpc>
                <a:spcPct val="108000"/>
              </a:lnSpc>
              <a:buNone/>
            </a:pPr>
            <a:r>
              <a:rPr lang="en-US" sz="1000" dirty="0">
                <a:solidFill>
                  <a:srgbClr val="5E656B"/>
                </a:solidFill>
                <a:latin typeface="Calibri" pitchFamily="34" charset="0"/>
                <a:ea typeface="Calibri" pitchFamily="34" charset="-122"/>
                <a:cs typeface="Calibri" pitchFamily="34" charset="-120"/>
              </a:rPr>
              <a:t>Klöckner am 13.08., Bucher am 14.08. mit sechs Tafeln, 5.760 kg und den Abnahmeprüfzeugnissen 3.1 des Herstellers. Termin gehalten.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63F46"/>
        </a:solidFill>
      </p:bgPr>
    </p:bg>
    <p:spTree>
      <p:nvGrpSpPr>
        <p:cNvPr id="1" name=""/>
        <p:cNvGrpSpPr/>
        <p:nvPr/>
      </p:nvGrpSpPr>
      <p:grpSpPr>
        <a:xfrm>
          <a:off x="0" y="0"/>
          <a:ext cx="0" cy="0"/>
          <a:chOff x="0" y="0"/>
          <a:chExt cx="0" cy="0"/>
        </a:xfrm>
      </p:grpSpPr>
      <p:sp>
        <p:nvSpPr>
          <p:cNvPr id="2" name="Text 0"/>
          <p:cNvSpPr txBox="1"/>
          <p:nvPr/>
        </p:nvSpPr>
        <p:spPr>
          <a:xfrm>
            <a:off x="8275320" y="4718304"/>
            <a:ext cx="365760" cy="237744"/>
          </a:xfrm>
          <a:prstGeom prst="rect">
            <a:avLst/>
          </a:prstGeom>
          <a:noFill/>
          <a:ln/>
        </p:spPr>
        <p:txBody>
          <a:bodyPr wrap="square" lIns="0" tIns="0" rIns="0" bIns="0" rtlCol="0" anchor="ctr"/>
          <a:lstStyle/>
          <a:p>
            <a:pPr algn="r" indent="0" marL="0">
              <a:buNone/>
            </a:pPr>
            <a:r>
              <a:rPr lang="en-US" sz="1000" dirty="0">
                <a:solidFill>
                  <a:srgbClr val="AFB2B5"/>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66928" y="4718304"/>
            <a:ext cx="5943600" cy="237744"/>
          </a:xfrm>
          <a:prstGeom prst="rect">
            <a:avLst/>
          </a:prstGeom>
          <a:noFill/>
          <a:ln/>
        </p:spPr>
        <p:txBody>
          <a:bodyPr wrap="square" lIns="0" tIns="0" rIns="0" bIns="0" rtlCol="0" anchor="ctr"/>
          <a:lstStyle/>
          <a:p>
            <a:pPr indent="0" marL="0">
              <a:buNone/>
            </a:pPr>
            <a:r>
              <a:rPr lang="en-US" sz="900" dirty="0">
                <a:solidFill>
                  <a:srgbClr val="AFB2B5"/>
                </a:solidFill>
                <a:latin typeface="Calibri" pitchFamily="34" charset="0"/>
                <a:ea typeface="Calibri" pitchFamily="34" charset="-122"/>
                <a:cs typeface="Calibri" pitchFamily="34" charset="-120"/>
              </a:rPr>
              <a:t>METALLART Treppen GmbH  ·  Fachaufgabe im Einsatzgebiet  ·  Alex Urban</a:t>
            </a:r>
            <a:endParaRPr lang="en-US" sz="900" dirty="0"/>
          </a:p>
        </p:txBody>
      </p:sp>
      <p:sp>
        <p:nvSpPr>
          <p:cNvPr id="4" name="Text 2"/>
          <p:cNvSpPr txBox="1"/>
          <p:nvPr/>
        </p:nvSpPr>
        <p:spPr>
          <a:xfrm>
            <a:off x="566928" y="365760"/>
            <a:ext cx="8010144" cy="201168"/>
          </a:xfrm>
          <a:prstGeom prst="rect">
            <a:avLst/>
          </a:prstGeom>
          <a:noFill/>
          <a:ln/>
        </p:spPr>
        <p:txBody>
          <a:bodyPr wrap="square" lIns="0" tIns="0" rIns="0" bIns="0" rtlCol="0" anchor="ctr"/>
          <a:lstStyle/>
          <a:p>
            <a:pPr indent="0" marL="0">
              <a:buNone/>
            </a:pPr>
            <a:r>
              <a:rPr lang="en-US" sz="1000" b="1" spc="200" kern="0" dirty="0">
                <a:solidFill>
                  <a:srgbClr val="AD9467"/>
                </a:solidFill>
                <a:latin typeface="Calibri" pitchFamily="34" charset="0"/>
                <a:ea typeface="Calibri" pitchFamily="34" charset="-122"/>
                <a:cs typeface="Calibri" pitchFamily="34" charset="-120"/>
              </a:rPr>
              <a:t>ERGEBNIS</a:t>
            </a:r>
            <a:endParaRPr lang="en-US" sz="1000" dirty="0"/>
          </a:p>
        </p:txBody>
      </p:sp>
      <p:sp>
        <p:nvSpPr>
          <p:cNvPr id="5" name="Text 3"/>
          <p:cNvSpPr txBox="1"/>
          <p:nvPr/>
        </p:nvSpPr>
        <p:spPr>
          <a:xfrm>
            <a:off x="566928" y="566928"/>
            <a:ext cx="8010144" cy="914400"/>
          </a:xfrm>
          <a:prstGeom prst="rect">
            <a:avLst/>
          </a:prstGeom>
          <a:noFill/>
          <a:ln/>
        </p:spPr>
        <p:txBody>
          <a:bodyPr wrap="square" lIns="0" tIns="0" rIns="0" bIns="0" rtlCol="0" anchor="t"/>
          <a:lstStyle/>
          <a:p>
            <a:pPr indent="0" marL="0">
              <a:buNone/>
            </a:pPr>
            <a:r>
              <a:rPr lang="en-US" sz="3000" dirty="0">
                <a:solidFill>
                  <a:srgbClr val="FFFFFF"/>
                </a:solidFill>
                <a:latin typeface="Calibri Light" pitchFamily="34" charset="0"/>
                <a:ea typeface="Calibri Light" pitchFamily="34" charset="-122"/>
                <a:cs typeface="Calibri Light" pitchFamily="34" charset="-120"/>
              </a:rPr>
              <a:t>Wirtschaftliches Ergebnis des Vorgangs</a:t>
            </a:r>
            <a:endParaRPr lang="en-US" sz="3000" dirty="0"/>
          </a:p>
        </p:txBody>
      </p:sp>
      <p:sp>
        <p:nvSpPr>
          <p:cNvPr id="6" name="Shape 4"/>
          <p:cNvSpPr/>
          <p:nvPr/>
        </p:nvSpPr>
        <p:spPr>
          <a:xfrm>
            <a:off x="566913" y="1335024"/>
            <a:ext cx="1882475" cy="1700784"/>
          </a:xfrm>
          <a:prstGeom prst="roundRect">
            <a:avLst>
              <a:gd name="adj" fmla="val 2688"/>
            </a:avLst>
          </a:prstGeom>
          <a:solidFill>
            <a:srgbClr val="414A52"/>
          </a:solidFill>
          <a:ln w="12700">
            <a:solidFill>
              <a:srgbClr val="414A52"/>
            </a:solidFill>
            <a:prstDash val="solid"/>
          </a:ln>
        </p:spPr>
        <p:txBody>
          <a:bodyPr/>
          <a:p/>
        </p:txBody>
      </p:sp>
      <p:sp>
        <p:nvSpPr>
          <p:cNvPr id="7" name="Text 5"/>
          <p:cNvSpPr txBox="1"/>
          <p:nvPr/>
        </p:nvSpPr>
        <p:spPr>
          <a:xfrm>
            <a:off x="762264" y="1499616"/>
            <a:ext cx="1598327" cy="457200"/>
          </a:xfrm>
          <a:prstGeom prst="rect">
            <a:avLst/>
          </a:prstGeom>
          <a:noFill/>
          <a:ln/>
        </p:spPr>
        <p:txBody>
          <a:bodyPr wrap="square" lIns="0" tIns="0" rIns="0" bIns="0" rtlCol="0" anchor="ctr"/>
          <a:lstStyle/>
          <a:p>
            <a:pPr indent="0" marL="0">
              <a:buNone/>
            </a:pPr>
            <a:r>
              <a:rPr lang="en-US" sz="2300" dirty="0">
                <a:solidFill>
                  <a:srgbClr val="AD9467"/>
                </a:solidFill>
                <a:latin typeface="Calibri Light" pitchFamily="34" charset="0"/>
                <a:ea typeface="Calibri Light" pitchFamily="34" charset="-122"/>
                <a:cs typeface="Calibri Light" pitchFamily="34" charset="-120"/>
              </a:rPr>
              <a:t>359,49 €</a:t>
            </a:r>
            <a:endParaRPr lang="en-US" sz="2300" dirty="0"/>
          </a:p>
        </p:txBody>
      </p:sp>
      <p:sp>
        <p:nvSpPr>
          <p:cNvPr id="8" name="Text 6"/>
          <p:cNvSpPr txBox="1"/>
          <p:nvPr/>
        </p:nvSpPr>
        <p:spPr>
          <a:xfrm>
            <a:off x="762264" y="1975104"/>
            <a:ext cx="1553930" cy="457200"/>
          </a:xfrm>
          <a:prstGeom prst="rect">
            <a:avLst/>
          </a:prstGeom>
          <a:noFill/>
          <a:ln/>
        </p:spPr>
        <p:txBody>
          <a:bodyPr wrap="square" lIns="0" tIns="0" rIns="0" bIns="0" rtlCol="0" anchor="ctr"/>
          <a:lstStyle/>
          <a:p>
            <a:pPr indent="0" marL="0">
              <a:lnSpc>
                <a:spcPct val="110000"/>
              </a:lnSpc>
              <a:buNone/>
            </a:pPr>
            <a:r>
              <a:rPr lang="en-US" sz="1150" b="1" dirty="0">
                <a:solidFill>
                  <a:srgbClr val="FFFFFF"/>
                </a:solidFill>
                <a:latin typeface="Calibri" pitchFamily="34" charset="0"/>
                <a:ea typeface="Calibri" pitchFamily="34" charset="-122"/>
                <a:cs typeface="Calibri" pitchFamily="34" charset="-120"/>
              </a:rPr>
              <a:t>Vorteil bei der Vergabe</a:t>
            </a:r>
            <a:endParaRPr lang="en-US" sz="1150" dirty="0"/>
          </a:p>
        </p:txBody>
      </p:sp>
      <p:sp>
        <p:nvSpPr>
          <p:cNvPr id="9" name="Text 7"/>
          <p:cNvSpPr txBox="1"/>
          <p:nvPr/>
        </p:nvSpPr>
        <p:spPr>
          <a:xfrm>
            <a:off x="762264" y="2432304"/>
            <a:ext cx="1580568" cy="502920"/>
          </a:xfrm>
          <a:prstGeom prst="rect">
            <a:avLst/>
          </a:prstGeom>
          <a:noFill/>
          <a:ln/>
        </p:spPr>
        <p:txBody>
          <a:bodyPr wrap="square" lIns="0" tIns="0" rIns="0" bIns="0" rtlCol="0" anchor="ctr"/>
          <a:lstStyle/>
          <a:p>
            <a:pPr indent="0" marL="0">
              <a:lnSpc>
                <a:spcPct val="115000"/>
              </a:lnSpc>
              <a:buNone/>
            </a:pPr>
            <a:r>
              <a:rPr lang="en-US" sz="950" dirty="0">
                <a:solidFill>
                  <a:srgbClr val="BCC0C3"/>
                </a:solidFill>
                <a:latin typeface="Calibri" pitchFamily="34" charset="0"/>
                <a:ea typeface="Calibri" pitchFamily="34" charset="-122"/>
                <a:cs typeface="Calibri" pitchFamily="34" charset="-120"/>
              </a:rPr>
              <a:t>gegenüber dem zweitgünstigsten Angebot</a:t>
            </a:r>
            <a:endParaRPr lang="en-US" sz="950" dirty="0"/>
          </a:p>
        </p:txBody>
      </p:sp>
      <p:sp>
        <p:nvSpPr>
          <p:cNvPr id="10" name="Shape 8"/>
          <p:cNvSpPr/>
          <p:nvPr/>
        </p:nvSpPr>
        <p:spPr>
          <a:xfrm>
            <a:off x="2609221" y="1335024"/>
            <a:ext cx="1882475" cy="1700784"/>
          </a:xfrm>
          <a:prstGeom prst="roundRect">
            <a:avLst>
              <a:gd name="adj" fmla="val 2688"/>
            </a:avLst>
          </a:prstGeom>
          <a:solidFill>
            <a:srgbClr val="414A52"/>
          </a:solidFill>
          <a:ln w="12700">
            <a:solidFill>
              <a:srgbClr val="414A52"/>
            </a:solidFill>
            <a:prstDash val="solid"/>
          </a:ln>
        </p:spPr>
        <p:txBody>
          <a:bodyPr/>
          <a:p/>
        </p:txBody>
      </p:sp>
      <p:sp>
        <p:nvSpPr>
          <p:cNvPr id="11" name="Text 9"/>
          <p:cNvSpPr txBox="1"/>
          <p:nvPr/>
        </p:nvSpPr>
        <p:spPr>
          <a:xfrm>
            <a:off x="2804572" y="1499616"/>
            <a:ext cx="1598327" cy="457200"/>
          </a:xfrm>
          <a:prstGeom prst="rect">
            <a:avLst/>
          </a:prstGeom>
          <a:noFill/>
          <a:ln/>
        </p:spPr>
        <p:txBody>
          <a:bodyPr wrap="square" lIns="0" tIns="0" rIns="0" bIns="0" rtlCol="0" anchor="ctr"/>
          <a:lstStyle/>
          <a:p>
            <a:pPr indent="0" marL="0">
              <a:buNone/>
            </a:pPr>
            <a:r>
              <a:rPr lang="en-US" sz="2300" dirty="0">
                <a:solidFill>
                  <a:srgbClr val="AD9467"/>
                </a:solidFill>
                <a:latin typeface="Calibri Light" pitchFamily="34" charset="0"/>
                <a:ea typeface="Calibri Light" pitchFamily="34" charset="-122"/>
                <a:cs typeface="Calibri Light" pitchFamily="34" charset="-120"/>
              </a:rPr>
              <a:t>172,80 €</a:t>
            </a:r>
            <a:endParaRPr lang="en-US" sz="2300" dirty="0"/>
          </a:p>
        </p:txBody>
      </p:sp>
      <p:sp>
        <p:nvSpPr>
          <p:cNvPr id="12" name="Text 10"/>
          <p:cNvSpPr txBox="1"/>
          <p:nvPr/>
        </p:nvSpPr>
        <p:spPr>
          <a:xfrm>
            <a:off x="2804572" y="1975104"/>
            <a:ext cx="1553930" cy="457200"/>
          </a:xfrm>
          <a:prstGeom prst="rect">
            <a:avLst/>
          </a:prstGeom>
          <a:noFill/>
          <a:ln/>
        </p:spPr>
        <p:txBody>
          <a:bodyPr wrap="square" lIns="0" tIns="0" rIns="0" bIns="0" rtlCol="0" anchor="ctr"/>
          <a:lstStyle/>
          <a:p>
            <a:pPr indent="0" marL="0">
              <a:lnSpc>
                <a:spcPct val="110000"/>
              </a:lnSpc>
              <a:buNone/>
            </a:pPr>
            <a:r>
              <a:rPr lang="en-US" sz="1150" b="1" dirty="0">
                <a:solidFill>
                  <a:srgbClr val="FFFFFF"/>
                </a:solidFill>
                <a:latin typeface="Calibri" pitchFamily="34" charset="0"/>
                <a:ea typeface="Calibri" pitchFamily="34" charset="-122"/>
                <a:cs typeface="Calibri" pitchFamily="34" charset="-120"/>
              </a:rPr>
              <a:t>Verhandlungserfolg</a:t>
            </a:r>
            <a:endParaRPr lang="en-US" sz="1150" dirty="0"/>
          </a:p>
        </p:txBody>
      </p:sp>
      <p:sp>
        <p:nvSpPr>
          <p:cNvPr id="13" name="Text 11"/>
          <p:cNvSpPr txBox="1"/>
          <p:nvPr/>
        </p:nvSpPr>
        <p:spPr>
          <a:xfrm>
            <a:off x="2804572" y="2432304"/>
            <a:ext cx="1580568" cy="502920"/>
          </a:xfrm>
          <a:prstGeom prst="rect">
            <a:avLst/>
          </a:prstGeom>
          <a:noFill/>
          <a:ln/>
        </p:spPr>
        <p:txBody>
          <a:bodyPr wrap="square" lIns="0" tIns="0" rIns="0" bIns="0" rtlCol="0" anchor="ctr"/>
          <a:lstStyle/>
          <a:p>
            <a:pPr indent="0" marL="0">
              <a:lnSpc>
                <a:spcPct val="115000"/>
              </a:lnSpc>
              <a:buNone/>
            </a:pPr>
            <a:r>
              <a:rPr lang="en-US" sz="950" dirty="0">
                <a:solidFill>
                  <a:srgbClr val="BCC0C3"/>
                </a:solidFill>
                <a:latin typeface="Calibri" pitchFamily="34" charset="0"/>
                <a:ea typeface="Calibri" pitchFamily="34" charset="-122"/>
                <a:cs typeface="Calibri" pitchFamily="34" charset="-120"/>
              </a:rPr>
              <a:t>105,00 auf 102,00 Euro je 100 kg</a:t>
            </a:r>
            <a:endParaRPr lang="en-US" sz="950" dirty="0"/>
          </a:p>
        </p:txBody>
      </p:sp>
      <p:sp>
        <p:nvSpPr>
          <p:cNvPr id="14" name="Shape 12"/>
          <p:cNvSpPr/>
          <p:nvPr/>
        </p:nvSpPr>
        <p:spPr>
          <a:xfrm>
            <a:off x="4651528" y="1335024"/>
            <a:ext cx="1882475" cy="1700784"/>
          </a:xfrm>
          <a:prstGeom prst="roundRect">
            <a:avLst>
              <a:gd name="adj" fmla="val 2688"/>
            </a:avLst>
          </a:prstGeom>
          <a:solidFill>
            <a:srgbClr val="414A52"/>
          </a:solidFill>
          <a:ln w="12700">
            <a:solidFill>
              <a:srgbClr val="414A52"/>
            </a:solidFill>
            <a:prstDash val="solid"/>
          </a:ln>
        </p:spPr>
        <p:txBody>
          <a:bodyPr/>
          <a:p/>
        </p:txBody>
      </p:sp>
      <p:sp>
        <p:nvSpPr>
          <p:cNvPr id="15" name="Text 13"/>
          <p:cNvSpPr txBox="1"/>
          <p:nvPr/>
        </p:nvSpPr>
        <p:spPr>
          <a:xfrm>
            <a:off x="4846879" y="1499616"/>
            <a:ext cx="1598327" cy="457200"/>
          </a:xfrm>
          <a:prstGeom prst="rect">
            <a:avLst/>
          </a:prstGeom>
          <a:noFill/>
          <a:ln/>
        </p:spPr>
        <p:txBody>
          <a:bodyPr wrap="square" lIns="0" tIns="0" rIns="0" bIns="0" rtlCol="0" anchor="ctr"/>
          <a:lstStyle/>
          <a:p>
            <a:pPr indent="0" marL="0">
              <a:buNone/>
            </a:pPr>
            <a:r>
              <a:rPr lang="en-US" sz="2300" dirty="0">
                <a:solidFill>
                  <a:srgbClr val="AD9467"/>
                </a:solidFill>
                <a:latin typeface="Calibri Light" pitchFamily="34" charset="0"/>
                <a:ea typeface="Calibri Light" pitchFamily="34" charset="-122"/>
                <a:cs typeface="Calibri Light" pitchFamily="34" charset="-120"/>
              </a:rPr>
              <a:t>113,04 €</a:t>
            </a:r>
            <a:endParaRPr lang="en-US" sz="2300" dirty="0"/>
          </a:p>
        </p:txBody>
      </p:sp>
      <p:sp>
        <p:nvSpPr>
          <p:cNvPr id="16" name="Text 14"/>
          <p:cNvSpPr txBox="1"/>
          <p:nvPr/>
        </p:nvSpPr>
        <p:spPr>
          <a:xfrm>
            <a:off x="4846879" y="1975104"/>
            <a:ext cx="1553930" cy="457200"/>
          </a:xfrm>
          <a:prstGeom prst="rect">
            <a:avLst/>
          </a:prstGeom>
          <a:noFill/>
          <a:ln/>
        </p:spPr>
        <p:txBody>
          <a:bodyPr wrap="square" lIns="0" tIns="0" rIns="0" bIns="0" rtlCol="0" anchor="ctr"/>
          <a:lstStyle/>
          <a:p>
            <a:pPr indent="0" marL="0">
              <a:lnSpc>
                <a:spcPct val="110000"/>
              </a:lnSpc>
              <a:buNone/>
            </a:pPr>
            <a:r>
              <a:rPr lang="en-US" sz="1150" b="1" dirty="0">
                <a:solidFill>
                  <a:srgbClr val="FFFFFF"/>
                </a:solidFill>
                <a:latin typeface="Calibri" pitchFamily="34" charset="0"/>
                <a:ea typeface="Calibri" pitchFamily="34" charset="-122"/>
                <a:cs typeface="Calibri" pitchFamily="34" charset="-120"/>
              </a:rPr>
              <a:t>Umdisposition</a:t>
            </a:r>
            <a:endParaRPr lang="en-US" sz="1150" dirty="0"/>
          </a:p>
        </p:txBody>
      </p:sp>
      <p:sp>
        <p:nvSpPr>
          <p:cNvPr id="17" name="Text 15"/>
          <p:cNvSpPr txBox="1"/>
          <p:nvPr/>
        </p:nvSpPr>
        <p:spPr>
          <a:xfrm>
            <a:off x="4846879" y="2432304"/>
            <a:ext cx="1580568" cy="502920"/>
          </a:xfrm>
          <a:prstGeom prst="rect">
            <a:avLst/>
          </a:prstGeom>
          <a:noFill/>
          <a:ln/>
        </p:spPr>
        <p:txBody>
          <a:bodyPr wrap="square" lIns="0" tIns="0" rIns="0" bIns="0" rtlCol="0" anchor="ctr"/>
          <a:lstStyle/>
          <a:p>
            <a:pPr indent="0" marL="0">
              <a:lnSpc>
                <a:spcPct val="115000"/>
              </a:lnSpc>
              <a:buNone/>
            </a:pPr>
            <a:r>
              <a:rPr lang="en-US" sz="950" dirty="0">
                <a:solidFill>
                  <a:srgbClr val="BCC0C3"/>
                </a:solidFill>
                <a:latin typeface="Calibri" pitchFamily="34" charset="0"/>
                <a:ea typeface="Calibri" pitchFamily="34" charset="-122"/>
                <a:cs typeface="Calibri" pitchFamily="34" charset="-120"/>
              </a:rPr>
              <a:t>Blech 8 mm zu Klöckner statt Spaeter</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63F46"/>
        </a:solidFill>
      </p:bgPr>
    </p:bg>
    <p:spTree>
      <p:nvGrpSpPr>
        <p:cNvPr id="1" name=""/>
        <p:cNvGrpSpPr/>
        <p:nvPr/>
      </p:nvGrpSpPr>
      <p:grpSpPr>
        <a:xfrm>
          <a:off x="0" y="0"/>
          <a:ext cx="0" cy="0"/>
          <a:chOff x="0" y="0"/>
          <a:chExt cx="0" cy="0"/>
        </a:xfrm>
      </p:grpSpPr>
      <p:sp>
        <p:nvSpPr>
          <p:cNvPr id="2" name="Text 0"/>
          <p:cNvSpPr txBox="1"/>
          <p:nvPr/>
        </p:nvSpPr>
        <p:spPr>
          <a:xfrm>
            <a:off x="8275320" y="4718304"/>
            <a:ext cx="365760" cy="237744"/>
          </a:xfrm>
          <a:prstGeom prst="rect">
            <a:avLst/>
          </a:prstGeom>
          <a:noFill/>
          <a:ln/>
        </p:spPr>
        <p:txBody>
          <a:bodyPr wrap="square" lIns="0" tIns="0" rIns="0" bIns="0" rtlCol="0" anchor="ctr"/>
          <a:lstStyle/>
          <a:p>
            <a:pPr algn="r" indent="0" marL="0">
              <a:buNone/>
            </a:pPr>
            <a:r>
              <a:rPr lang="en-US" sz="1000" dirty="0">
                <a:solidFill>
                  <a:srgbClr val="AFB2B5"/>
                </a:solidFill>
                <a:latin typeface="Calibri" pitchFamily="34" charset="0"/>
                <a:ea typeface="Calibri" pitchFamily="34" charset="-122"/>
                <a:cs typeface="Calibri" pitchFamily="34" charset="-120"/>
              </a:rPr>
              <a:t>13</a:t>
            </a:r>
            <a:endParaRPr lang="en-US" sz="1000" dirty="0"/>
          </a:p>
        </p:txBody>
      </p:sp>
      <p:sp>
        <p:nvSpPr>
          <p:cNvPr id="3" name="Text 1"/>
          <p:cNvSpPr txBox="1"/>
          <p:nvPr/>
        </p:nvSpPr>
        <p:spPr>
          <a:xfrm>
            <a:off x="566928" y="4718304"/>
            <a:ext cx="5943600" cy="237744"/>
          </a:xfrm>
          <a:prstGeom prst="rect">
            <a:avLst/>
          </a:prstGeom>
          <a:noFill/>
          <a:ln/>
        </p:spPr>
        <p:txBody>
          <a:bodyPr wrap="square" lIns="0" tIns="0" rIns="0" bIns="0" rtlCol="0" anchor="ctr"/>
          <a:lstStyle/>
          <a:p>
            <a:pPr indent="0" marL="0">
              <a:buNone/>
            </a:pPr>
            <a:r>
              <a:rPr lang="en-US" sz="900" dirty="0">
                <a:solidFill>
                  <a:srgbClr val="AFB2B5"/>
                </a:solidFill>
                <a:latin typeface="Calibri" pitchFamily="34" charset="0"/>
                <a:ea typeface="Calibri" pitchFamily="34" charset="-122"/>
                <a:cs typeface="Calibri" pitchFamily="34" charset="-120"/>
              </a:rPr>
              <a:t>METALLART Treppen GmbH  ·  Fachaufgabe im Einsatzgebiet  ·  Alex Urban</a:t>
            </a:r>
            <a:endParaRPr lang="en-US" sz="900" dirty="0"/>
          </a:p>
        </p:txBody>
      </p:sp>
      <p:sp>
        <p:nvSpPr>
          <p:cNvPr id="4" name="Text 2"/>
          <p:cNvSpPr txBox="1"/>
          <p:nvPr/>
        </p:nvSpPr>
        <p:spPr>
          <a:xfrm>
            <a:off x="566928" y="365760"/>
            <a:ext cx="8010144" cy="201168"/>
          </a:xfrm>
          <a:prstGeom prst="rect">
            <a:avLst/>
          </a:prstGeom>
          <a:noFill/>
          <a:ln/>
        </p:spPr>
        <p:txBody>
          <a:bodyPr wrap="square" lIns="0" tIns="0" rIns="0" bIns="0" rtlCol="0" anchor="ctr"/>
          <a:lstStyle/>
          <a:p>
            <a:pPr indent="0" marL="0">
              <a:buNone/>
            </a:pPr>
            <a:r>
              <a:rPr lang="en-US" sz="1000" b="1" spc="200" kern="0" dirty="0">
                <a:solidFill>
                  <a:srgbClr val="AD9467"/>
                </a:solidFill>
                <a:latin typeface="Calibri" pitchFamily="34" charset="0"/>
                <a:ea typeface="Calibri" pitchFamily="34" charset="-122"/>
                <a:cs typeface="Calibri" pitchFamily="34" charset="-120"/>
              </a:rPr>
              <a:t>ERGEBNIS</a:t>
            </a:r>
            <a:endParaRPr lang="en-US" sz="1000" dirty="0"/>
          </a:p>
        </p:txBody>
      </p:sp>
      <p:sp>
        <p:nvSpPr>
          <p:cNvPr id="5" name="Text 3"/>
          <p:cNvSpPr txBox="1"/>
          <p:nvPr/>
        </p:nvSpPr>
        <p:spPr>
          <a:xfrm>
            <a:off x="566928" y="566928"/>
            <a:ext cx="8010144" cy="914400"/>
          </a:xfrm>
          <a:prstGeom prst="rect">
            <a:avLst/>
          </a:prstGeom>
          <a:noFill/>
          <a:ln/>
        </p:spPr>
        <p:txBody>
          <a:bodyPr wrap="square" lIns="0" tIns="0" rIns="0" bIns="0" rtlCol="0" anchor="t"/>
          <a:lstStyle/>
          <a:p>
            <a:pPr indent="0" marL="0">
              <a:buNone/>
            </a:pPr>
            <a:r>
              <a:rPr lang="en-US" sz="3000" dirty="0">
                <a:solidFill>
                  <a:srgbClr val="FFFFFF"/>
                </a:solidFill>
                <a:latin typeface="Calibri Light" pitchFamily="34" charset="0"/>
                <a:ea typeface="Calibri Light" pitchFamily="34" charset="-122"/>
                <a:cs typeface="Calibri Light" pitchFamily="34" charset="-120"/>
              </a:rPr>
              <a:t>Wirtschaftliches Ergebnis des Vorgangs</a:t>
            </a:r>
            <a:endParaRPr lang="en-US" sz="3000" dirty="0"/>
          </a:p>
        </p:txBody>
      </p:sp>
      <p:sp>
        <p:nvSpPr>
          <p:cNvPr id="6" name="Shape 4"/>
          <p:cNvSpPr/>
          <p:nvPr/>
        </p:nvSpPr>
        <p:spPr>
          <a:xfrm>
            <a:off x="566913" y="1335024"/>
            <a:ext cx="1882475" cy="1700784"/>
          </a:xfrm>
          <a:prstGeom prst="roundRect">
            <a:avLst>
              <a:gd name="adj" fmla="val 2688"/>
            </a:avLst>
          </a:prstGeom>
          <a:solidFill>
            <a:srgbClr val="414A52"/>
          </a:solidFill>
          <a:ln w="12700">
            <a:solidFill>
              <a:srgbClr val="414A52"/>
            </a:solidFill>
            <a:prstDash val="solid"/>
          </a:ln>
        </p:spPr>
        <p:txBody>
          <a:bodyPr/>
          <a:p/>
        </p:txBody>
      </p:sp>
      <p:sp>
        <p:nvSpPr>
          <p:cNvPr id="7" name="Text 5"/>
          <p:cNvSpPr txBox="1"/>
          <p:nvPr/>
        </p:nvSpPr>
        <p:spPr>
          <a:xfrm>
            <a:off x="762264" y="1499616"/>
            <a:ext cx="1598327" cy="457200"/>
          </a:xfrm>
          <a:prstGeom prst="rect">
            <a:avLst/>
          </a:prstGeom>
          <a:noFill/>
          <a:ln/>
        </p:spPr>
        <p:txBody>
          <a:bodyPr wrap="square" lIns="0" tIns="0" rIns="0" bIns="0" rtlCol="0" anchor="ctr"/>
          <a:lstStyle/>
          <a:p>
            <a:pPr indent="0" marL="0">
              <a:buNone/>
            </a:pPr>
            <a:r>
              <a:rPr lang="en-US" sz="2300" dirty="0">
                <a:solidFill>
                  <a:srgbClr val="AD9467"/>
                </a:solidFill>
                <a:latin typeface="Calibri Light" pitchFamily="34" charset="0"/>
                <a:ea typeface="Calibri Light" pitchFamily="34" charset="-122"/>
                <a:cs typeface="Calibri Light" pitchFamily="34" charset="-120"/>
              </a:rPr>
              <a:t>359,49 €</a:t>
            </a:r>
            <a:endParaRPr lang="en-US" sz="2300" dirty="0"/>
          </a:p>
        </p:txBody>
      </p:sp>
      <p:sp>
        <p:nvSpPr>
          <p:cNvPr id="8" name="Text 6"/>
          <p:cNvSpPr txBox="1"/>
          <p:nvPr/>
        </p:nvSpPr>
        <p:spPr>
          <a:xfrm>
            <a:off x="762264" y="1975104"/>
            <a:ext cx="1553930" cy="457200"/>
          </a:xfrm>
          <a:prstGeom prst="rect">
            <a:avLst/>
          </a:prstGeom>
          <a:noFill/>
          <a:ln/>
        </p:spPr>
        <p:txBody>
          <a:bodyPr wrap="square" lIns="0" tIns="0" rIns="0" bIns="0" rtlCol="0" anchor="ctr"/>
          <a:lstStyle/>
          <a:p>
            <a:pPr indent="0" marL="0">
              <a:lnSpc>
                <a:spcPct val="110000"/>
              </a:lnSpc>
              <a:buNone/>
            </a:pPr>
            <a:r>
              <a:rPr lang="en-US" sz="1150" b="1" dirty="0">
                <a:solidFill>
                  <a:srgbClr val="FFFFFF"/>
                </a:solidFill>
                <a:latin typeface="Calibri" pitchFamily="34" charset="0"/>
                <a:ea typeface="Calibri" pitchFamily="34" charset="-122"/>
                <a:cs typeface="Calibri" pitchFamily="34" charset="-120"/>
              </a:rPr>
              <a:t>Vorteil bei der Vergabe</a:t>
            </a:r>
            <a:endParaRPr lang="en-US" sz="1150" dirty="0"/>
          </a:p>
        </p:txBody>
      </p:sp>
      <p:sp>
        <p:nvSpPr>
          <p:cNvPr id="9" name="Text 7"/>
          <p:cNvSpPr txBox="1"/>
          <p:nvPr/>
        </p:nvSpPr>
        <p:spPr>
          <a:xfrm>
            <a:off x="762264" y="2432304"/>
            <a:ext cx="1580568" cy="502920"/>
          </a:xfrm>
          <a:prstGeom prst="rect">
            <a:avLst/>
          </a:prstGeom>
          <a:noFill/>
          <a:ln/>
        </p:spPr>
        <p:txBody>
          <a:bodyPr wrap="square" lIns="0" tIns="0" rIns="0" bIns="0" rtlCol="0" anchor="ctr"/>
          <a:lstStyle/>
          <a:p>
            <a:pPr indent="0" marL="0">
              <a:lnSpc>
                <a:spcPct val="115000"/>
              </a:lnSpc>
              <a:buNone/>
            </a:pPr>
            <a:r>
              <a:rPr lang="en-US" sz="950" dirty="0">
                <a:solidFill>
                  <a:srgbClr val="BCC0C3"/>
                </a:solidFill>
                <a:latin typeface="Calibri" pitchFamily="34" charset="0"/>
                <a:ea typeface="Calibri" pitchFamily="34" charset="-122"/>
                <a:cs typeface="Calibri" pitchFamily="34" charset="-120"/>
              </a:rPr>
              <a:t>gegenüber dem zweitgünstigsten Angebot</a:t>
            </a:r>
            <a:endParaRPr lang="en-US" sz="950" dirty="0"/>
          </a:p>
        </p:txBody>
      </p:sp>
      <p:sp>
        <p:nvSpPr>
          <p:cNvPr id="10" name="Shape 8"/>
          <p:cNvSpPr/>
          <p:nvPr/>
        </p:nvSpPr>
        <p:spPr>
          <a:xfrm>
            <a:off x="2609221" y="1335024"/>
            <a:ext cx="1882475" cy="1700784"/>
          </a:xfrm>
          <a:prstGeom prst="roundRect">
            <a:avLst>
              <a:gd name="adj" fmla="val 2688"/>
            </a:avLst>
          </a:prstGeom>
          <a:solidFill>
            <a:srgbClr val="414A52"/>
          </a:solidFill>
          <a:ln w="12700">
            <a:solidFill>
              <a:srgbClr val="414A52"/>
            </a:solidFill>
            <a:prstDash val="solid"/>
          </a:ln>
        </p:spPr>
        <p:txBody>
          <a:bodyPr/>
          <a:p/>
        </p:txBody>
      </p:sp>
      <p:sp>
        <p:nvSpPr>
          <p:cNvPr id="11" name="Text 9"/>
          <p:cNvSpPr txBox="1"/>
          <p:nvPr/>
        </p:nvSpPr>
        <p:spPr>
          <a:xfrm>
            <a:off x="2804572" y="1499616"/>
            <a:ext cx="1598327" cy="457200"/>
          </a:xfrm>
          <a:prstGeom prst="rect">
            <a:avLst/>
          </a:prstGeom>
          <a:noFill/>
          <a:ln/>
        </p:spPr>
        <p:txBody>
          <a:bodyPr wrap="square" lIns="0" tIns="0" rIns="0" bIns="0" rtlCol="0" anchor="ctr"/>
          <a:lstStyle/>
          <a:p>
            <a:pPr indent="0" marL="0">
              <a:buNone/>
            </a:pPr>
            <a:r>
              <a:rPr lang="en-US" sz="2300" dirty="0">
                <a:solidFill>
                  <a:srgbClr val="AD9467"/>
                </a:solidFill>
                <a:latin typeface="Calibri Light" pitchFamily="34" charset="0"/>
                <a:ea typeface="Calibri Light" pitchFamily="34" charset="-122"/>
                <a:cs typeface="Calibri Light" pitchFamily="34" charset="-120"/>
              </a:rPr>
              <a:t>172,80 €</a:t>
            </a:r>
            <a:endParaRPr lang="en-US" sz="2300" dirty="0"/>
          </a:p>
        </p:txBody>
      </p:sp>
      <p:sp>
        <p:nvSpPr>
          <p:cNvPr id="12" name="Text 10"/>
          <p:cNvSpPr txBox="1"/>
          <p:nvPr/>
        </p:nvSpPr>
        <p:spPr>
          <a:xfrm>
            <a:off x="2804572" y="1975104"/>
            <a:ext cx="1553930" cy="457200"/>
          </a:xfrm>
          <a:prstGeom prst="rect">
            <a:avLst/>
          </a:prstGeom>
          <a:noFill/>
          <a:ln/>
        </p:spPr>
        <p:txBody>
          <a:bodyPr wrap="square" lIns="0" tIns="0" rIns="0" bIns="0" rtlCol="0" anchor="ctr"/>
          <a:lstStyle/>
          <a:p>
            <a:pPr indent="0" marL="0">
              <a:lnSpc>
                <a:spcPct val="110000"/>
              </a:lnSpc>
              <a:buNone/>
            </a:pPr>
            <a:r>
              <a:rPr lang="en-US" sz="1150" b="1" dirty="0">
                <a:solidFill>
                  <a:srgbClr val="FFFFFF"/>
                </a:solidFill>
                <a:latin typeface="Calibri" pitchFamily="34" charset="0"/>
                <a:ea typeface="Calibri" pitchFamily="34" charset="-122"/>
                <a:cs typeface="Calibri" pitchFamily="34" charset="-120"/>
              </a:rPr>
              <a:t>Verhandlungserfolg</a:t>
            </a:r>
            <a:endParaRPr lang="en-US" sz="1150" dirty="0"/>
          </a:p>
        </p:txBody>
      </p:sp>
      <p:sp>
        <p:nvSpPr>
          <p:cNvPr id="13" name="Text 11"/>
          <p:cNvSpPr txBox="1"/>
          <p:nvPr/>
        </p:nvSpPr>
        <p:spPr>
          <a:xfrm>
            <a:off x="2804572" y="2432304"/>
            <a:ext cx="1580568" cy="502920"/>
          </a:xfrm>
          <a:prstGeom prst="rect">
            <a:avLst/>
          </a:prstGeom>
          <a:noFill/>
          <a:ln/>
        </p:spPr>
        <p:txBody>
          <a:bodyPr wrap="square" lIns="0" tIns="0" rIns="0" bIns="0" rtlCol="0" anchor="ctr"/>
          <a:lstStyle/>
          <a:p>
            <a:pPr indent="0" marL="0">
              <a:lnSpc>
                <a:spcPct val="115000"/>
              </a:lnSpc>
              <a:buNone/>
            </a:pPr>
            <a:r>
              <a:rPr lang="en-US" sz="950" dirty="0">
                <a:solidFill>
                  <a:srgbClr val="BCC0C3"/>
                </a:solidFill>
                <a:latin typeface="Calibri" pitchFamily="34" charset="0"/>
                <a:ea typeface="Calibri" pitchFamily="34" charset="-122"/>
                <a:cs typeface="Calibri" pitchFamily="34" charset="-120"/>
              </a:rPr>
              <a:t>105,00 auf 102,00 Euro je 100 kg</a:t>
            </a:r>
            <a:endParaRPr lang="en-US" sz="950" dirty="0"/>
          </a:p>
        </p:txBody>
      </p:sp>
      <p:sp>
        <p:nvSpPr>
          <p:cNvPr id="14" name="Shape 12"/>
          <p:cNvSpPr/>
          <p:nvPr/>
        </p:nvSpPr>
        <p:spPr>
          <a:xfrm>
            <a:off x="4651528" y="1335024"/>
            <a:ext cx="1882475" cy="1700784"/>
          </a:xfrm>
          <a:prstGeom prst="roundRect">
            <a:avLst>
              <a:gd name="adj" fmla="val 2688"/>
            </a:avLst>
          </a:prstGeom>
          <a:solidFill>
            <a:srgbClr val="414A52"/>
          </a:solidFill>
          <a:ln w="12700">
            <a:solidFill>
              <a:srgbClr val="414A52"/>
            </a:solidFill>
            <a:prstDash val="solid"/>
          </a:ln>
        </p:spPr>
        <p:txBody>
          <a:bodyPr/>
          <a:p/>
        </p:txBody>
      </p:sp>
      <p:sp>
        <p:nvSpPr>
          <p:cNvPr id="15" name="Text 13"/>
          <p:cNvSpPr txBox="1"/>
          <p:nvPr/>
        </p:nvSpPr>
        <p:spPr>
          <a:xfrm>
            <a:off x="4846879" y="1499616"/>
            <a:ext cx="1598327" cy="457200"/>
          </a:xfrm>
          <a:prstGeom prst="rect">
            <a:avLst/>
          </a:prstGeom>
          <a:noFill/>
          <a:ln/>
        </p:spPr>
        <p:txBody>
          <a:bodyPr wrap="square" lIns="0" tIns="0" rIns="0" bIns="0" rtlCol="0" anchor="ctr"/>
          <a:lstStyle/>
          <a:p>
            <a:pPr indent="0" marL="0">
              <a:buNone/>
            </a:pPr>
            <a:r>
              <a:rPr lang="en-US" sz="2300" dirty="0">
                <a:solidFill>
                  <a:srgbClr val="AD9467"/>
                </a:solidFill>
                <a:latin typeface="Calibri Light" pitchFamily="34" charset="0"/>
                <a:ea typeface="Calibri Light" pitchFamily="34" charset="-122"/>
                <a:cs typeface="Calibri Light" pitchFamily="34" charset="-120"/>
              </a:rPr>
              <a:t>113,04 €</a:t>
            </a:r>
            <a:endParaRPr lang="en-US" sz="2300" dirty="0"/>
          </a:p>
        </p:txBody>
      </p:sp>
      <p:sp>
        <p:nvSpPr>
          <p:cNvPr id="16" name="Text 14"/>
          <p:cNvSpPr txBox="1"/>
          <p:nvPr/>
        </p:nvSpPr>
        <p:spPr>
          <a:xfrm>
            <a:off x="4846879" y="1975104"/>
            <a:ext cx="1553930" cy="457200"/>
          </a:xfrm>
          <a:prstGeom prst="rect">
            <a:avLst/>
          </a:prstGeom>
          <a:noFill/>
          <a:ln/>
        </p:spPr>
        <p:txBody>
          <a:bodyPr wrap="square" lIns="0" tIns="0" rIns="0" bIns="0" rtlCol="0" anchor="ctr"/>
          <a:lstStyle/>
          <a:p>
            <a:pPr indent="0" marL="0">
              <a:lnSpc>
                <a:spcPct val="110000"/>
              </a:lnSpc>
              <a:buNone/>
            </a:pPr>
            <a:r>
              <a:rPr lang="en-US" sz="1150" b="1" dirty="0">
                <a:solidFill>
                  <a:srgbClr val="FFFFFF"/>
                </a:solidFill>
                <a:latin typeface="Calibri" pitchFamily="34" charset="0"/>
                <a:ea typeface="Calibri" pitchFamily="34" charset="-122"/>
                <a:cs typeface="Calibri" pitchFamily="34" charset="-120"/>
              </a:rPr>
              <a:t>Umdisposition</a:t>
            </a:r>
            <a:endParaRPr lang="en-US" sz="1150" dirty="0"/>
          </a:p>
        </p:txBody>
      </p:sp>
      <p:sp>
        <p:nvSpPr>
          <p:cNvPr id="17" name="Text 15"/>
          <p:cNvSpPr txBox="1"/>
          <p:nvPr/>
        </p:nvSpPr>
        <p:spPr>
          <a:xfrm>
            <a:off x="4846879" y="2432304"/>
            <a:ext cx="1580568" cy="502920"/>
          </a:xfrm>
          <a:prstGeom prst="rect">
            <a:avLst/>
          </a:prstGeom>
          <a:noFill/>
          <a:ln/>
        </p:spPr>
        <p:txBody>
          <a:bodyPr wrap="square" lIns="0" tIns="0" rIns="0" bIns="0" rtlCol="0" anchor="ctr"/>
          <a:lstStyle/>
          <a:p>
            <a:pPr indent="0" marL="0">
              <a:lnSpc>
                <a:spcPct val="115000"/>
              </a:lnSpc>
              <a:buNone/>
            </a:pPr>
            <a:r>
              <a:rPr lang="en-US" sz="950" dirty="0">
                <a:solidFill>
                  <a:srgbClr val="BCC0C3"/>
                </a:solidFill>
                <a:latin typeface="Calibri" pitchFamily="34" charset="0"/>
                <a:ea typeface="Calibri" pitchFamily="34" charset="-122"/>
                <a:cs typeface="Calibri" pitchFamily="34" charset="-120"/>
              </a:rPr>
              <a:t>Blech 8 mm zu Klöckner statt Spaeter</a:t>
            </a:r>
            <a:endParaRPr lang="en-US" sz="950" dirty="0"/>
          </a:p>
        </p:txBody>
      </p:sp>
      <p:sp>
        <p:nvSpPr>
          <p:cNvPr id="18" name="Shape 16"/>
          <p:cNvSpPr/>
          <p:nvPr/>
        </p:nvSpPr>
        <p:spPr>
          <a:xfrm>
            <a:off x="6693835" y="1335024"/>
            <a:ext cx="1882475" cy="1700784"/>
          </a:xfrm>
          <a:prstGeom prst="roundRect">
            <a:avLst>
              <a:gd name="adj" fmla="val 2688"/>
            </a:avLst>
          </a:prstGeom>
          <a:solidFill>
            <a:srgbClr val="00474F"/>
          </a:solidFill>
          <a:ln w="12700">
            <a:solidFill>
              <a:srgbClr val="00474F"/>
            </a:solidFill>
            <a:prstDash val="solid"/>
          </a:ln>
        </p:spPr>
        <p:txBody>
          <a:bodyPr/>
          <a:p/>
        </p:txBody>
      </p:sp>
      <p:sp>
        <p:nvSpPr>
          <p:cNvPr id="19" name="Text 17"/>
          <p:cNvSpPr txBox="1"/>
          <p:nvPr/>
        </p:nvSpPr>
        <p:spPr>
          <a:xfrm>
            <a:off x="6889187" y="1499616"/>
            <a:ext cx="1598327" cy="457200"/>
          </a:xfrm>
          <a:prstGeom prst="rect">
            <a:avLst/>
          </a:prstGeom>
          <a:noFill/>
          <a:ln/>
        </p:spPr>
        <p:txBody>
          <a:bodyPr wrap="square" lIns="0" tIns="0" rIns="0" bIns="0" rtlCol="0" anchor="ctr"/>
          <a:lstStyle/>
          <a:p>
            <a:pPr indent="0" marL="0">
              <a:buNone/>
            </a:pPr>
            <a:r>
              <a:rPr lang="en-US" sz="2300" dirty="0">
                <a:solidFill>
                  <a:srgbClr val="F9685D"/>
                </a:solidFill>
                <a:latin typeface="Calibri Light" pitchFamily="34" charset="0"/>
                <a:ea typeface="Calibri Light" pitchFamily="34" charset="-122"/>
                <a:cs typeface="Calibri Light" pitchFamily="34" charset="-120"/>
              </a:rPr>
              <a:t>– 146,32 €</a:t>
            </a:r>
            <a:endParaRPr lang="en-US" sz="2300" dirty="0"/>
          </a:p>
        </p:txBody>
      </p:sp>
      <p:sp>
        <p:nvSpPr>
          <p:cNvPr id="20" name="Text 18"/>
          <p:cNvSpPr txBox="1"/>
          <p:nvPr/>
        </p:nvSpPr>
        <p:spPr>
          <a:xfrm>
            <a:off x="6889187" y="1975104"/>
            <a:ext cx="1553930" cy="457200"/>
          </a:xfrm>
          <a:prstGeom prst="rect">
            <a:avLst/>
          </a:prstGeom>
          <a:noFill/>
          <a:ln/>
        </p:spPr>
        <p:txBody>
          <a:bodyPr wrap="square" lIns="0" tIns="0" rIns="0" bIns="0" rtlCol="0" anchor="ctr"/>
          <a:lstStyle/>
          <a:p>
            <a:pPr indent="0" marL="0">
              <a:lnSpc>
                <a:spcPct val="110000"/>
              </a:lnSpc>
              <a:buNone/>
            </a:pPr>
            <a:r>
              <a:rPr lang="en-US" sz="1150" b="1" dirty="0">
                <a:solidFill>
                  <a:srgbClr val="FFFFFF"/>
                </a:solidFill>
                <a:latin typeface="Calibri" pitchFamily="34" charset="0"/>
                <a:ea typeface="Calibri" pitchFamily="34" charset="-122"/>
                <a:cs typeface="Calibri" pitchFamily="34" charset="-120"/>
              </a:rPr>
              <a:t>Mehrkosten der Ersatzbeschaffung</a:t>
            </a:r>
            <a:endParaRPr lang="en-US" sz="1150" dirty="0"/>
          </a:p>
        </p:txBody>
      </p:sp>
      <p:sp>
        <p:nvSpPr>
          <p:cNvPr id="21" name="Text 19"/>
          <p:cNvSpPr txBox="1"/>
          <p:nvPr/>
        </p:nvSpPr>
        <p:spPr>
          <a:xfrm>
            <a:off x="6889187" y="2432304"/>
            <a:ext cx="1580568" cy="502920"/>
          </a:xfrm>
          <a:prstGeom prst="rect">
            <a:avLst/>
          </a:prstGeom>
          <a:noFill/>
          <a:ln/>
        </p:spPr>
        <p:txBody>
          <a:bodyPr wrap="square" lIns="0" tIns="0" rIns="0" bIns="0" rtlCol="0" anchor="ctr"/>
          <a:lstStyle/>
          <a:p>
            <a:pPr indent="0" marL="0">
              <a:lnSpc>
                <a:spcPct val="115000"/>
              </a:lnSpc>
              <a:buNone/>
            </a:pPr>
            <a:r>
              <a:rPr lang="en-US" sz="950" dirty="0">
                <a:solidFill>
                  <a:srgbClr val="AFB2B5"/>
                </a:solidFill>
                <a:latin typeface="Calibri" pitchFamily="34" charset="0"/>
                <a:ea typeface="Calibri" pitchFamily="34" charset="-122"/>
                <a:cs typeface="Calibri" pitchFamily="34" charset="-120"/>
              </a:rPr>
              <a:t>Blech 15 mm inklusive zweiter Fracht</a:t>
            </a:r>
            <a:endParaRPr lang="en-US" sz="950" dirty="0"/>
          </a:p>
        </p:txBody>
      </p:sp>
      <p:sp>
        <p:nvSpPr>
          <p:cNvPr id="22" name="Shape 20"/>
          <p:cNvSpPr/>
          <p:nvPr/>
        </p:nvSpPr>
        <p:spPr>
          <a:xfrm>
            <a:off x="566928" y="3255264"/>
            <a:ext cx="8010144" cy="932688"/>
          </a:xfrm>
          <a:prstGeom prst="roundRect">
            <a:avLst>
              <a:gd name="adj" fmla="val 4902"/>
            </a:avLst>
          </a:prstGeom>
          <a:solidFill>
            <a:srgbClr val="414A52"/>
          </a:solidFill>
          <a:ln w="12700">
            <a:solidFill>
              <a:srgbClr val="414A52"/>
            </a:solidFill>
            <a:prstDash val="solid"/>
          </a:ln>
        </p:spPr>
        <p:txBody>
          <a:bodyPr/>
          <a:p/>
        </p:txBody>
      </p:sp>
      <p:sp>
        <p:nvSpPr>
          <p:cNvPr id="23" name="Text 21"/>
          <p:cNvSpPr txBox="1"/>
          <p:nvPr/>
        </p:nvSpPr>
        <p:spPr>
          <a:xfrm>
            <a:off x="859536" y="3364992"/>
            <a:ext cx="2011680" cy="548640"/>
          </a:xfrm>
          <a:prstGeom prst="rect">
            <a:avLst/>
          </a:prstGeom>
          <a:noFill/>
          <a:ln/>
        </p:spPr>
        <p:txBody>
          <a:bodyPr wrap="square" lIns="0" tIns="0" rIns="0" bIns="0" rtlCol="0" anchor="ctr"/>
          <a:lstStyle/>
          <a:p>
            <a:pPr indent="0" marL="0">
              <a:buNone/>
            </a:pPr>
            <a:r>
              <a:rPr lang="en-US" sz="3000" dirty="0">
                <a:solidFill>
                  <a:srgbClr val="FFFFFF"/>
                </a:solidFill>
                <a:latin typeface="Calibri Light" pitchFamily="34" charset="0"/>
                <a:ea typeface="Calibri Light" pitchFamily="34" charset="-122"/>
                <a:cs typeface="Calibri Light" pitchFamily="34" charset="-120"/>
              </a:rPr>
              <a:t>33,28 €</a:t>
            </a:r>
            <a:endParaRPr lang="en-US" sz="3000" dirty="0"/>
          </a:p>
        </p:txBody>
      </p:sp>
      <p:sp>
        <p:nvSpPr>
          <p:cNvPr id="24" name="Text 22"/>
          <p:cNvSpPr txBox="1"/>
          <p:nvPr/>
        </p:nvSpPr>
        <p:spPr>
          <a:xfrm>
            <a:off x="2944368" y="3474720"/>
            <a:ext cx="5394960" cy="457200"/>
          </a:xfrm>
          <a:prstGeom prst="rect">
            <a:avLst/>
          </a:prstGeom>
          <a:noFill/>
          <a:ln/>
        </p:spPr>
        <p:txBody>
          <a:bodyPr wrap="square" lIns="0" tIns="0" rIns="0" bIns="0" rtlCol="0" anchor="ctr"/>
          <a:lstStyle/>
          <a:p>
            <a:pPr indent="0" marL="0">
              <a:lnSpc>
                <a:spcPct val="120000"/>
              </a:lnSpc>
              <a:buNone/>
            </a:pPr>
            <a:r>
              <a:rPr lang="en-US" sz="1250" dirty="0">
                <a:solidFill>
                  <a:srgbClr val="BCC0C3"/>
                </a:solidFill>
                <a:latin typeface="Calibri" pitchFamily="34" charset="0"/>
                <a:ea typeface="Calibri" pitchFamily="34" charset="-122"/>
                <a:cs typeface="Calibri" pitchFamily="34" charset="-120"/>
              </a:rPr>
              <a:t>Mehrkosten unter dem Strich, bei gehaltenem Fertigungstermin in KW 34</a:t>
            </a:r>
            <a:endParaRPr lang="en-US" sz="1250" dirty="0"/>
          </a:p>
        </p:txBody>
      </p:sp>
      <p:sp>
        <p:nvSpPr>
          <p:cNvPr id="25" name="Text 23"/>
          <p:cNvSpPr txBox="1"/>
          <p:nvPr/>
        </p:nvSpPr>
        <p:spPr>
          <a:xfrm>
            <a:off x="566928" y="4315968"/>
            <a:ext cx="8010144" cy="365760"/>
          </a:xfrm>
          <a:prstGeom prst="rect">
            <a:avLst/>
          </a:prstGeom>
          <a:noFill/>
          <a:ln/>
        </p:spPr>
        <p:txBody>
          <a:bodyPr wrap="square" lIns="0" tIns="0" rIns="0" bIns="0" rtlCol="0" anchor="ctr"/>
          <a:lstStyle/>
          <a:p>
            <a:pPr indent="0" marL="0">
              <a:lnSpc>
                <a:spcPct val="115000"/>
              </a:lnSpc>
              <a:buNone/>
            </a:pPr>
            <a:r>
              <a:rPr lang="en-US" sz="1050" dirty="0">
                <a:solidFill>
                  <a:srgbClr val="AFB2B5"/>
                </a:solidFill>
                <a:latin typeface="Calibri" pitchFamily="34" charset="0"/>
                <a:ea typeface="Calibri" pitchFamily="34" charset="-122"/>
                <a:cs typeface="Calibri" pitchFamily="34" charset="-120"/>
              </a:rPr>
              <a:t>Ein Stillstand am Laser hätte ein Vielfaches gekostet. Die vier Werte oben haben unterschiedliche Bezugsgrößen und sind nicht direkt addierbar.</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63F46"/>
        </a:solidFill>
      </p:bgPr>
    </p:bg>
    <p:spTree>
      <p:nvGrpSpPr>
        <p:cNvPr id="1" name=""/>
        <p:cNvGrpSpPr/>
        <p:nvPr/>
      </p:nvGrpSpPr>
      <p:grpSpPr>
        <a:xfrm>
          <a:off x="0" y="0"/>
          <a:ext cx="0" cy="0"/>
          <a:chOff x="0" y="0"/>
          <a:chExt cx="0" cy="0"/>
        </a:xfrm>
      </p:grpSpPr>
      <p:sp>
        <p:nvSpPr>
          <p:cNvPr id="2" name="Text 0"/>
          <p:cNvSpPr txBox="1"/>
          <p:nvPr/>
        </p:nvSpPr>
        <p:spPr>
          <a:xfrm>
            <a:off x="8275320" y="4718304"/>
            <a:ext cx="365760" cy="237744"/>
          </a:xfrm>
          <a:prstGeom prst="rect">
            <a:avLst/>
          </a:prstGeom>
          <a:noFill/>
          <a:ln/>
        </p:spPr>
        <p:txBody>
          <a:bodyPr wrap="square" lIns="0" tIns="0" rIns="0" bIns="0" rtlCol="0" anchor="ctr"/>
          <a:lstStyle/>
          <a:p>
            <a:pPr algn="r" indent="0" marL="0">
              <a:buNone/>
            </a:pPr>
            <a:r>
              <a:rPr lang="en-US" sz="1000" dirty="0">
                <a:solidFill>
                  <a:srgbClr val="AFB2B5"/>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566928" y="4718304"/>
            <a:ext cx="5943600" cy="237744"/>
          </a:xfrm>
          <a:prstGeom prst="rect">
            <a:avLst/>
          </a:prstGeom>
          <a:noFill/>
          <a:ln/>
        </p:spPr>
        <p:txBody>
          <a:bodyPr wrap="square" lIns="0" tIns="0" rIns="0" bIns="0" rtlCol="0" anchor="ctr"/>
          <a:lstStyle/>
          <a:p>
            <a:pPr indent="0" marL="0">
              <a:buNone/>
            </a:pPr>
            <a:r>
              <a:rPr lang="en-US" sz="900" dirty="0">
                <a:solidFill>
                  <a:srgbClr val="AFB2B5"/>
                </a:solidFill>
                <a:latin typeface="Calibri" pitchFamily="34" charset="0"/>
                <a:ea typeface="Calibri" pitchFamily="34" charset="-122"/>
                <a:cs typeface="Calibri" pitchFamily="34" charset="-120"/>
              </a:rPr>
              <a:t>METALLART Treppen GmbH  ·  Fachaufgabe im Einsatzgebiet  ·  Alex Urban</a:t>
            </a:r>
            <a:endParaRPr lang="en-US" sz="900" dirty="0"/>
          </a:p>
        </p:txBody>
      </p:sp>
      <p:sp>
        <p:nvSpPr>
          <p:cNvPr id="4" name="Text 2"/>
          <p:cNvSpPr txBox="1"/>
          <p:nvPr/>
        </p:nvSpPr>
        <p:spPr>
          <a:xfrm>
            <a:off x="566928" y="365760"/>
            <a:ext cx="8010144" cy="201168"/>
          </a:xfrm>
          <a:prstGeom prst="rect">
            <a:avLst/>
          </a:prstGeom>
          <a:noFill/>
          <a:ln/>
        </p:spPr>
        <p:txBody>
          <a:bodyPr wrap="square" lIns="0" tIns="0" rIns="0" bIns="0" rtlCol="0" anchor="ctr"/>
          <a:lstStyle/>
          <a:p>
            <a:pPr indent="0" marL="0">
              <a:buNone/>
            </a:pPr>
            <a:r>
              <a:rPr lang="en-US" sz="1000" b="1" spc="200" kern="0" dirty="0">
                <a:solidFill>
                  <a:srgbClr val="AD9467"/>
                </a:solidFill>
                <a:latin typeface="Calibri" pitchFamily="34" charset="0"/>
                <a:ea typeface="Calibri" pitchFamily="34" charset="-122"/>
                <a:cs typeface="Calibri" pitchFamily="34" charset="-120"/>
              </a:rPr>
              <a:t>FAZIT</a:t>
            </a:r>
            <a:endParaRPr lang="en-US" sz="1000" dirty="0"/>
          </a:p>
        </p:txBody>
      </p:sp>
      <p:sp>
        <p:nvSpPr>
          <p:cNvPr id="5" name="Text 3"/>
          <p:cNvSpPr txBox="1"/>
          <p:nvPr/>
        </p:nvSpPr>
        <p:spPr>
          <a:xfrm>
            <a:off x="566928" y="566928"/>
            <a:ext cx="8010144" cy="914400"/>
          </a:xfrm>
          <a:prstGeom prst="rect">
            <a:avLst/>
          </a:prstGeom>
          <a:noFill/>
          <a:ln/>
        </p:spPr>
        <p:txBody>
          <a:bodyPr wrap="square" lIns="0" tIns="0" rIns="0" bIns="0" rtlCol="0" anchor="t"/>
          <a:lstStyle/>
          <a:p>
            <a:pPr indent="0" marL="0">
              <a:buNone/>
            </a:pPr>
            <a:r>
              <a:rPr lang="en-US" sz="3000" dirty="0">
                <a:solidFill>
                  <a:srgbClr val="FFFFFF"/>
                </a:solidFill>
                <a:latin typeface="Calibri Light" pitchFamily="34" charset="0"/>
                <a:ea typeface="Calibri Light" pitchFamily="34" charset="-122"/>
                <a:cs typeface="Calibri Light" pitchFamily="34" charset="-120"/>
              </a:rPr>
              <a:t>Was ich aus dem Vorgang mitnehme</a:t>
            </a:r>
            <a:endParaRPr lang="en-US" sz="3000" dirty="0"/>
          </a:p>
        </p:txBody>
      </p:sp>
      <p:sp>
        <p:nvSpPr>
          <p:cNvPr id="6" name="Shape 4"/>
          <p:cNvSpPr/>
          <p:nvPr/>
        </p:nvSpPr>
        <p:spPr>
          <a:xfrm>
            <a:off x="566921" y="1335024"/>
            <a:ext cx="2549671" cy="1755648"/>
          </a:xfrm>
          <a:prstGeom prst="roundRect">
            <a:avLst>
              <a:gd name="adj" fmla="val 2604"/>
            </a:avLst>
          </a:prstGeom>
          <a:solidFill>
            <a:srgbClr val="414A52"/>
          </a:solidFill>
          <a:ln w="12700">
            <a:solidFill>
              <a:srgbClr val="414A52"/>
            </a:solidFill>
            <a:prstDash val="solid"/>
          </a:ln>
        </p:spPr>
        <p:txBody>
          <a:bodyPr/>
          <a:p/>
        </p:txBody>
      </p:sp>
      <p:sp>
        <p:nvSpPr>
          <p:cNvPr id="7" name="Shape 5"/>
          <p:cNvSpPr/>
          <p:nvPr/>
        </p:nvSpPr>
        <p:spPr>
          <a:xfrm>
            <a:off x="819185" y="1536192"/>
            <a:ext cx="324340" cy="18288"/>
          </a:xfrm>
          <a:prstGeom prst="rect">
            <a:avLst/>
          </a:prstGeom>
          <a:solidFill>
            <a:srgbClr val="AD9467"/>
          </a:solidFill>
          <a:ln w="12700">
            <a:solidFill>
              <a:srgbClr val="AD9467"/>
            </a:solidFill>
            <a:prstDash val="solid"/>
          </a:ln>
        </p:spPr>
        <p:txBody>
          <a:bodyPr/>
          <a:p/>
        </p:txBody>
      </p:sp>
      <p:sp>
        <p:nvSpPr>
          <p:cNvPr id="8" name="Text 6"/>
          <p:cNvSpPr txBox="1"/>
          <p:nvPr/>
        </p:nvSpPr>
        <p:spPr>
          <a:xfrm>
            <a:off x="819185" y="1682496"/>
            <a:ext cx="2072171" cy="548640"/>
          </a:xfrm>
          <a:prstGeom prst="rect">
            <a:avLst/>
          </a:prstGeom>
          <a:noFill/>
          <a:ln/>
        </p:spPr>
        <p:txBody>
          <a:bodyPr wrap="square" lIns="0" tIns="0" rIns="0" bIns="0" rtlCol="0" anchor="ctr"/>
          <a:lstStyle/>
          <a:p>
            <a:pPr indent="0" marL="0">
              <a:lnSpc>
                <a:spcPct val="110000"/>
              </a:lnSpc>
              <a:buNone/>
            </a:pPr>
            <a:r>
              <a:rPr lang="en-US" sz="1300" b="1" dirty="0">
                <a:solidFill>
                  <a:srgbClr val="AD9467"/>
                </a:solidFill>
                <a:latin typeface="Calibri" pitchFamily="34" charset="0"/>
                <a:ea typeface="Calibri" pitchFamily="34" charset="-122"/>
                <a:cs typeface="Calibri" pitchFamily="34" charset="-120"/>
              </a:rPr>
              <a:t>Preis ist nicht gleich Angebot</a:t>
            </a:r>
            <a:endParaRPr lang="en-US" sz="1300" dirty="0"/>
          </a:p>
        </p:txBody>
      </p:sp>
      <p:sp>
        <p:nvSpPr>
          <p:cNvPr id="9" name="Text 7"/>
          <p:cNvSpPr txBox="1"/>
          <p:nvPr/>
        </p:nvSpPr>
        <p:spPr>
          <a:xfrm>
            <a:off x="819185" y="2267712"/>
            <a:ext cx="2117218" cy="786384"/>
          </a:xfrm>
          <a:prstGeom prst="rect">
            <a:avLst/>
          </a:prstGeom>
          <a:noFill/>
          <a:ln/>
        </p:spPr>
        <p:txBody>
          <a:bodyPr wrap="square" lIns="0" tIns="0" rIns="0" bIns="0" rtlCol="0" anchor="ctr"/>
          <a:lstStyle/>
          <a:p>
            <a:pPr indent="0" marL="0">
              <a:lnSpc>
                <a:spcPct val="120000"/>
              </a:lnSpc>
              <a:buNone/>
            </a:pPr>
            <a:r>
              <a:rPr lang="en-US" sz="1100" dirty="0">
                <a:solidFill>
                  <a:srgbClr val="BCC0C3"/>
                </a:solidFill>
                <a:latin typeface="Calibri" pitchFamily="34" charset="0"/>
                <a:ea typeface="Calibri" pitchFamily="34" charset="-122"/>
                <a:cs typeface="Calibri" pitchFamily="34" charset="-120"/>
              </a:rPr>
              <a:t>Erst die Prüfung, ob ein Angebot der Anfrage entspricht, macht aus einer Preisliste einen echten Vergleich.</a:t>
            </a:r>
            <a:endParaRPr lang="en-US" sz="1100" dirty="0"/>
          </a:p>
        </p:txBody>
      </p:sp>
      <p:sp>
        <p:nvSpPr>
          <p:cNvPr id="10" name="Shape 8"/>
          <p:cNvSpPr/>
          <p:nvPr/>
        </p:nvSpPr>
        <p:spPr>
          <a:xfrm>
            <a:off x="3296780" y="1335024"/>
            <a:ext cx="2549671" cy="1755648"/>
          </a:xfrm>
          <a:prstGeom prst="roundRect">
            <a:avLst>
              <a:gd name="adj" fmla="val 2604"/>
            </a:avLst>
          </a:prstGeom>
          <a:solidFill>
            <a:srgbClr val="414A52"/>
          </a:solidFill>
          <a:ln w="12700">
            <a:solidFill>
              <a:srgbClr val="414A52"/>
            </a:solidFill>
            <a:prstDash val="solid"/>
          </a:ln>
        </p:spPr>
        <p:txBody>
          <a:bodyPr/>
          <a:p/>
        </p:txBody>
      </p:sp>
      <p:sp>
        <p:nvSpPr>
          <p:cNvPr id="11" name="Shape 9"/>
          <p:cNvSpPr/>
          <p:nvPr/>
        </p:nvSpPr>
        <p:spPr>
          <a:xfrm>
            <a:off x="3549044" y="1536192"/>
            <a:ext cx="324340" cy="18288"/>
          </a:xfrm>
          <a:prstGeom prst="rect">
            <a:avLst/>
          </a:prstGeom>
          <a:solidFill>
            <a:srgbClr val="AD9467"/>
          </a:solidFill>
          <a:ln w="12700">
            <a:solidFill>
              <a:srgbClr val="AD9467"/>
            </a:solidFill>
            <a:prstDash val="solid"/>
          </a:ln>
        </p:spPr>
        <p:txBody>
          <a:bodyPr/>
          <a:p/>
        </p:txBody>
      </p:sp>
      <p:sp>
        <p:nvSpPr>
          <p:cNvPr id="12" name="Text 10"/>
          <p:cNvSpPr txBox="1"/>
          <p:nvPr/>
        </p:nvSpPr>
        <p:spPr>
          <a:xfrm>
            <a:off x="3549044" y="1682496"/>
            <a:ext cx="2072171" cy="548640"/>
          </a:xfrm>
          <a:prstGeom prst="rect">
            <a:avLst/>
          </a:prstGeom>
          <a:noFill/>
          <a:ln/>
        </p:spPr>
        <p:txBody>
          <a:bodyPr wrap="square" lIns="0" tIns="0" rIns="0" bIns="0" rtlCol="0" anchor="ctr"/>
          <a:lstStyle/>
          <a:p>
            <a:pPr indent="0" marL="0">
              <a:lnSpc>
                <a:spcPct val="110000"/>
              </a:lnSpc>
              <a:buNone/>
            </a:pPr>
            <a:r>
              <a:rPr lang="en-US" sz="1300" b="1" dirty="0">
                <a:solidFill>
                  <a:srgbClr val="AD9467"/>
                </a:solidFill>
                <a:latin typeface="Calibri" pitchFamily="34" charset="0"/>
                <a:ea typeface="Calibri" pitchFamily="34" charset="-122"/>
                <a:cs typeface="Calibri" pitchFamily="34" charset="-120"/>
              </a:rPr>
              <a:t>Freibleibend heißt ohne Garantie</a:t>
            </a:r>
            <a:endParaRPr lang="en-US" sz="1300" dirty="0"/>
          </a:p>
        </p:txBody>
      </p:sp>
      <p:sp>
        <p:nvSpPr>
          <p:cNvPr id="13" name="Text 11"/>
          <p:cNvSpPr txBox="1"/>
          <p:nvPr/>
        </p:nvSpPr>
        <p:spPr>
          <a:xfrm>
            <a:off x="3549044" y="2267712"/>
            <a:ext cx="2117218" cy="786384"/>
          </a:xfrm>
          <a:prstGeom prst="rect">
            <a:avLst/>
          </a:prstGeom>
          <a:noFill/>
          <a:ln/>
        </p:spPr>
        <p:txBody>
          <a:bodyPr wrap="square" lIns="0" tIns="0" rIns="0" bIns="0" rtlCol="0" anchor="ctr"/>
          <a:lstStyle/>
          <a:p>
            <a:pPr indent="0" marL="0">
              <a:lnSpc>
                <a:spcPct val="120000"/>
              </a:lnSpc>
              <a:buNone/>
            </a:pPr>
            <a:r>
              <a:rPr lang="en-US" sz="1100" dirty="0">
                <a:solidFill>
                  <a:srgbClr val="BCC0C3"/>
                </a:solidFill>
                <a:latin typeface="Calibri" pitchFamily="34" charset="0"/>
                <a:ea typeface="Calibri" pitchFamily="34" charset="-122"/>
                <a:cs typeface="Calibri" pitchFamily="34" charset="-120"/>
              </a:rPr>
              <a:t>Bei knappen Positionen sollte die Verfügbarkeit vor der Bestellung bestätigt werden.</a:t>
            </a:r>
            <a:endParaRPr lang="en-US" sz="1100" dirty="0"/>
          </a:p>
        </p:txBody>
      </p:sp>
      <p:sp>
        <p:nvSpPr>
          <p:cNvPr id="14" name="Shape 12"/>
          <p:cNvSpPr/>
          <p:nvPr/>
        </p:nvSpPr>
        <p:spPr>
          <a:xfrm>
            <a:off x="6026639" y="1335024"/>
            <a:ext cx="2549671" cy="1755648"/>
          </a:xfrm>
          <a:prstGeom prst="roundRect">
            <a:avLst>
              <a:gd name="adj" fmla="val 2604"/>
            </a:avLst>
          </a:prstGeom>
          <a:solidFill>
            <a:srgbClr val="414A52"/>
          </a:solidFill>
          <a:ln w="12700">
            <a:solidFill>
              <a:srgbClr val="414A52"/>
            </a:solidFill>
            <a:prstDash val="solid"/>
          </a:ln>
        </p:spPr>
        <p:txBody>
          <a:bodyPr/>
          <a:p/>
        </p:txBody>
      </p:sp>
      <p:sp>
        <p:nvSpPr>
          <p:cNvPr id="15" name="Shape 13"/>
          <p:cNvSpPr/>
          <p:nvPr/>
        </p:nvSpPr>
        <p:spPr>
          <a:xfrm>
            <a:off x="6278904" y="1536192"/>
            <a:ext cx="324340" cy="18288"/>
          </a:xfrm>
          <a:prstGeom prst="rect">
            <a:avLst/>
          </a:prstGeom>
          <a:solidFill>
            <a:srgbClr val="AD9467"/>
          </a:solidFill>
          <a:ln w="12700">
            <a:solidFill>
              <a:srgbClr val="AD9467"/>
            </a:solidFill>
            <a:prstDash val="solid"/>
          </a:ln>
        </p:spPr>
        <p:txBody>
          <a:bodyPr/>
          <a:p/>
        </p:txBody>
      </p:sp>
      <p:sp>
        <p:nvSpPr>
          <p:cNvPr id="16" name="Text 14"/>
          <p:cNvSpPr txBox="1"/>
          <p:nvPr/>
        </p:nvSpPr>
        <p:spPr>
          <a:xfrm>
            <a:off x="6278904" y="1682496"/>
            <a:ext cx="2072171" cy="548640"/>
          </a:xfrm>
          <a:prstGeom prst="rect">
            <a:avLst/>
          </a:prstGeom>
          <a:noFill/>
          <a:ln/>
        </p:spPr>
        <p:txBody>
          <a:bodyPr wrap="square" lIns="0" tIns="0" rIns="0" bIns="0" rtlCol="0" anchor="ctr"/>
          <a:lstStyle/>
          <a:p>
            <a:pPr indent="0" marL="0">
              <a:lnSpc>
                <a:spcPct val="110000"/>
              </a:lnSpc>
              <a:buNone/>
            </a:pPr>
            <a:r>
              <a:rPr lang="en-US" sz="1300" b="1" dirty="0">
                <a:solidFill>
                  <a:srgbClr val="AD9467"/>
                </a:solidFill>
                <a:latin typeface="Calibri" pitchFamily="34" charset="0"/>
                <a:ea typeface="Calibri" pitchFamily="34" charset="-122"/>
                <a:cs typeface="Calibri" pitchFamily="34" charset="-120"/>
              </a:rPr>
              <a:t>Gesamtkosten der Lieferung zählen</a:t>
            </a:r>
            <a:endParaRPr lang="en-US" sz="1300" dirty="0"/>
          </a:p>
        </p:txBody>
      </p:sp>
      <p:sp>
        <p:nvSpPr>
          <p:cNvPr id="17" name="Text 15"/>
          <p:cNvSpPr txBox="1"/>
          <p:nvPr/>
        </p:nvSpPr>
        <p:spPr>
          <a:xfrm>
            <a:off x="6278904" y="2267712"/>
            <a:ext cx="2117218" cy="786384"/>
          </a:xfrm>
          <a:prstGeom prst="rect">
            <a:avLst/>
          </a:prstGeom>
          <a:noFill/>
          <a:ln/>
        </p:spPr>
        <p:txBody>
          <a:bodyPr wrap="square" lIns="0" tIns="0" rIns="0" bIns="0" rtlCol="0" anchor="ctr"/>
          <a:lstStyle/>
          <a:p>
            <a:pPr indent="0" marL="0">
              <a:lnSpc>
                <a:spcPct val="120000"/>
              </a:lnSpc>
              <a:buNone/>
            </a:pPr>
            <a:r>
              <a:rPr lang="en-US" sz="1100" dirty="0">
                <a:solidFill>
                  <a:srgbClr val="BCC0C3"/>
                </a:solidFill>
                <a:latin typeface="Calibri" pitchFamily="34" charset="0"/>
                <a:ea typeface="Calibri" pitchFamily="34" charset="-122"/>
                <a:cs typeface="Calibri" pitchFamily="34" charset="-120"/>
              </a:rPr>
              <a:t>Zeugnis- und Versandkosten wirken je Lieferung, nicht nur der Blechpreis je Position.</a:t>
            </a:r>
            <a:endParaRPr lang="en-US" sz="1100" dirty="0"/>
          </a:p>
        </p:txBody>
      </p:sp>
      <p:sp>
        <p:nvSpPr>
          <p:cNvPr id="18" name="Text 16"/>
          <p:cNvSpPr txBox="1"/>
          <p:nvPr/>
        </p:nvSpPr>
        <p:spPr>
          <a:xfrm>
            <a:off x="566928" y="3310128"/>
            <a:ext cx="8010144"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Zwei Verbesserungsvorschläge</a:t>
            </a:r>
            <a:endParaRPr lang="en-US" sz="1300" dirty="0"/>
          </a:p>
        </p:txBody>
      </p:sp>
      <p:sp>
        <p:nvSpPr>
          <p:cNvPr id="19" name="Text 17"/>
          <p:cNvSpPr txBox="1"/>
          <p:nvPr/>
        </p:nvSpPr>
        <p:spPr>
          <a:xfrm>
            <a:off x="713232" y="3621024"/>
            <a:ext cx="7772400" cy="8229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AFB2B5"/>
                </a:solidFill>
                <a:latin typeface="Calibri" pitchFamily="34" charset="0"/>
                <a:ea typeface="Calibri" pitchFamily="34" charset="-122"/>
                <a:cs typeface="Calibri" pitchFamily="34" charset="-120"/>
              </a:rPr>
              <a:t>Eine zusätzliche Spalte im Preisspiegel für Ausführung, Zeugnisart sowie Zeugnis- und Versandkosten.</a:t>
            </a:r>
            <a:endParaRPr lang="en-US" sz="1200" dirty="0"/>
          </a:p>
          <a:p>
            <a:pPr marL="342900" indent="-342900">
              <a:spcAft>
                <a:spcPts val="600"/>
              </a:spcAft>
              <a:buSzPct val="100000"/>
              <a:buChar char="•"/>
            </a:pPr>
            <a:r>
              <a:rPr lang="en-US" sz="1200" dirty="0">
                <a:solidFill>
                  <a:srgbClr val="AFB2B5"/>
                </a:solidFill>
                <a:latin typeface="Calibri" pitchFamily="34" charset="0"/>
                <a:ea typeface="Calibri" pitchFamily="34" charset="-122"/>
                <a:cs typeface="Calibri" pitchFamily="34" charset="-120"/>
              </a:rPr>
              <a:t>Meldebestände, die sich am Verbrauch während der Wiederbeschaffungszeit orientieren, statt durchgängig null.</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63F46"/>
        </a:solidFill>
      </p:bgPr>
    </p:bg>
    <p:spTree>
      <p:nvGrpSpPr>
        <p:cNvPr id="1" name=""/>
        <p:cNvGrpSpPr/>
        <p:nvPr/>
      </p:nvGrpSpPr>
      <p:grpSpPr>
        <a:xfrm>
          <a:off x="0" y="0"/>
          <a:ext cx="0" cy="0"/>
          <a:chOff x="0" y="0"/>
          <a:chExt cx="0" cy="0"/>
        </a:xfrm>
      </p:grpSpPr>
      <p:sp>
        <p:nvSpPr>
          <p:cNvPr id="2" name="Text 0"/>
          <p:cNvSpPr txBox="1"/>
          <p:nvPr/>
        </p:nvSpPr>
        <p:spPr>
          <a:xfrm>
            <a:off x="8275320" y="4718304"/>
            <a:ext cx="365760" cy="237744"/>
          </a:xfrm>
          <a:prstGeom prst="rect">
            <a:avLst/>
          </a:prstGeom>
          <a:noFill/>
          <a:ln/>
        </p:spPr>
        <p:txBody>
          <a:bodyPr wrap="square" lIns="0" tIns="0" rIns="0" bIns="0" rtlCol="0" anchor="ctr"/>
          <a:lstStyle/>
          <a:p>
            <a:pPr algn="r" indent="0" marL="0">
              <a:buNone/>
            </a:pPr>
            <a:r>
              <a:rPr lang="en-US" sz="1000" dirty="0">
                <a:solidFill>
                  <a:srgbClr val="AFB2B5"/>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566928" y="4718304"/>
            <a:ext cx="5943600" cy="237744"/>
          </a:xfrm>
          <a:prstGeom prst="rect">
            <a:avLst/>
          </a:prstGeom>
          <a:noFill/>
          <a:ln/>
        </p:spPr>
        <p:txBody>
          <a:bodyPr wrap="square" lIns="0" tIns="0" rIns="0" bIns="0" rtlCol="0" anchor="ctr"/>
          <a:lstStyle/>
          <a:p>
            <a:pPr indent="0" marL="0">
              <a:buNone/>
            </a:pPr>
            <a:r>
              <a:rPr lang="en-US" sz="900" dirty="0">
                <a:solidFill>
                  <a:srgbClr val="AFB2B5"/>
                </a:solidFill>
                <a:latin typeface="Calibri" pitchFamily="34" charset="0"/>
                <a:ea typeface="Calibri" pitchFamily="34" charset="-122"/>
                <a:cs typeface="Calibri" pitchFamily="34" charset="-120"/>
              </a:rPr>
              <a:t>METALLART Treppen GmbH  ·  Fachaufgabe im Einsatzgebiet  ·  Alex Urban</a:t>
            </a:r>
            <a:endParaRPr lang="en-US" sz="900" dirty="0"/>
          </a:p>
        </p:txBody>
      </p:sp>
      <p:pic>
        <p:nvPicPr>
          <p:cNvPr id="4" name="Image 0" descr="/home/claude/fachaufgabe/logo.png">    </p:cNvPr>
          <p:cNvPicPr>
            <a:picLocks noChangeAspect="1"/>
          </p:cNvPicPr>
          <p:nvPr/>
        </p:nvPicPr>
        <p:blipFill>
          <a:blip r:embed="rId1"/>
          <a:stretch>
            <a:fillRect/>
          </a:stretch>
        </p:blipFill>
        <p:spPr>
          <a:xfrm>
            <a:off x="566928" y="566928"/>
            <a:ext cx="2011680" cy="502006"/>
          </a:xfrm>
          <a:prstGeom prst="rect">
            <a:avLst/>
          </a:prstGeom>
        </p:spPr>
      </p:pic>
      <p:sp>
        <p:nvSpPr>
          <p:cNvPr id="5" name="Text 2"/>
          <p:cNvSpPr txBox="1"/>
          <p:nvPr/>
        </p:nvSpPr>
        <p:spPr>
          <a:xfrm>
            <a:off x="566928" y="1645920"/>
            <a:ext cx="8010144" cy="548640"/>
          </a:xfrm>
          <a:prstGeom prst="rect">
            <a:avLst/>
          </a:prstGeom>
          <a:noFill/>
          <a:ln/>
        </p:spPr>
        <p:txBody>
          <a:bodyPr wrap="square" lIns="0" tIns="0" rIns="0" bIns="0" rtlCol="0" anchor="ctr"/>
          <a:lstStyle/>
          <a:p>
            <a:pPr indent="0" marL="0">
              <a:buNone/>
            </a:pPr>
            <a:r>
              <a:rPr lang="en-US" sz="3000" dirty="0">
                <a:solidFill>
                  <a:srgbClr val="FFFFFF"/>
                </a:solidFill>
                <a:latin typeface="Calibri Light" pitchFamily="34" charset="0"/>
                <a:ea typeface="Calibri Light" pitchFamily="34" charset="-122"/>
                <a:cs typeface="Calibri Light" pitchFamily="34" charset="-120"/>
              </a:rPr>
              <a:t>Vielen Dank für Ihre Aufmerksamkeit</a:t>
            </a:r>
            <a:endParaRPr lang="en-US" sz="3000" dirty="0"/>
          </a:p>
        </p:txBody>
      </p:sp>
      <p:sp>
        <p:nvSpPr>
          <p:cNvPr id="6" name="Text 3"/>
          <p:cNvSpPr txBox="1"/>
          <p:nvPr/>
        </p:nvSpPr>
        <p:spPr>
          <a:xfrm>
            <a:off x="566928" y="2249424"/>
            <a:ext cx="8010144" cy="320040"/>
          </a:xfrm>
          <a:prstGeom prst="rect">
            <a:avLst/>
          </a:prstGeom>
          <a:noFill/>
          <a:ln/>
        </p:spPr>
        <p:txBody>
          <a:bodyPr wrap="square" lIns="0" tIns="0" rIns="0" bIns="0" rtlCol="0" anchor="ctr"/>
          <a:lstStyle/>
          <a:p>
            <a:pPr indent="0" marL="0">
              <a:buNone/>
            </a:pPr>
            <a:r>
              <a:rPr lang="en-US" sz="1400" dirty="0">
                <a:solidFill>
                  <a:srgbClr val="AFB2B5"/>
                </a:solidFill>
                <a:latin typeface="Calibri" pitchFamily="34" charset="0"/>
                <a:ea typeface="Calibri" pitchFamily="34" charset="-122"/>
                <a:cs typeface="Calibri" pitchFamily="34" charset="-120"/>
              </a:rPr>
              <a:t>Gerne beantworte ich Ihre Fragen.</a:t>
            </a:r>
            <a:endParaRPr lang="en-US" sz="1400" dirty="0"/>
          </a:p>
        </p:txBody>
      </p:sp>
      <p:sp>
        <p:nvSpPr>
          <p:cNvPr id="7" name="Shape 4"/>
          <p:cNvSpPr/>
          <p:nvPr/>
        </p:nvSpPr>
        <p:spPr>
          <a:xfrm>
            <a:off x="566928" y="2871216"/>
            <a:ext cx="8010144" cy="1389888"/>
          </a:xfrm>
          <a:prstGeom prst="roundRect">
            <a:avLst>
              <a:gd name="adj" fmla="val 3289"/>
            </a:avLst>
          </a:prstGeom>
          <a:solidFill>
            <a:srgbClr val="414A52"/>
          </a:solidFill>
          <a:ln w="12700">
            <a:solidFill>
              <a:srgbClr val="414A52"/>
            </a:solidFill>
            <a:prstDash val="solid"/>
          </a:ln>
        </p:spPr>
        <p:txBody>
          <a:bodyPr/>
          <a:p/>
        </p:txBody>
      </p:sp>
      <p:sp>
        <p:nvSpPr>
          <p:cNvPr id="8" name="Text 5"/>
          <p:cNvSpPr txBox="1"/>
          <p:nvPr/>
        </p:nvSpPr>
        <p:spPr>
          <a:xfrm>
            <a:off x="841248" y="3035808"/>
            <a:ext cx="7498080" cy="274320"/>
          </a:xfrm>
          <a:prstGeom prst="rect">
            <a:avLst/>
          </a:prstGeom>
          <a:noFill/>
          <a:ln/>
        </p:spPr>
        <p:txBody>
          <a:bodyPr wrap="square" lIns="0" tIns="0" rIns="0" bIns="0" rtlCol="0" anchor="ctr"/>
          <a:lstStyle/>
          <a:p>
            <a:pPr indent="0" marL="0">
              <a:buNone/>
            </a:pPr>
            <a:r>
              <a:rPr lang="en-US" sz="1300" b="1" dirty="0">
                <a:solidFill>
                  <a:srgbClr val="AD9467"/>
                </a:solidFill>
                <a:latin typeface="Calibri" pitchFamily="34" charset="0"/>
                <a:ea typeface="Calibri" pitchFamily="34" charset="-122"/>
                <a:cs typeface="Calibri" pitchFamily="34" charset="-120"/>
              </a:rPr>
              <a:t>Quellenverzeichnis zur KI-Nutzung</a:t>
            </a:r>
            <a:endParaRPr lang="en-US" sz="1300" dirty="0"/>
          </a:p>
        </p:txBody>
      </p:sp>
      <p:sp>
        <p:nvSpPr>
          <p:cNvPr id="9" name="Text 6"/>
          <p:cNvSpPr txBox="1"/>
          <p:nvPr/>
        </p:nvSpPr>
        <p:spPr>
          <a:xfrm>
            <a:off x="841248" y="3346704"/>
            <a:ext cx="7461504" cy="822960"/>
          </a:xfrm>
          <a:prstGeom prst="rect">
            <a:avLst/>
          </a:prstGeom>
          <a:noFill/>
          <a:ln/>
        </p:spPr>
        <p:txBody>
          <a:bodyPr wrap="square" lIns="0" tIns="0" rIns="0" bIns="0" rtlCol="0" anchor="ctr"/>
          <a:lstStyle/>
          <a:p>
            <a:pPr indent="0" marL="0">
              <a:lnSpc>
                <a:spcPct val="120000"/>
              </a:lnSpc>
              <a:buNone/>
            </a:pPr>
            <a:r>
              <a:rPr lang="en-US" sz="1150" dirty="0">
                <a:solidFill>
                  <a:srgbClr val="BCC0C3"/>
                </a:solidFill>
                <a:latin typeface="Calibri" pitchFamily="34" charset="0"/>
                <a:ea typeface="Calibri" pitchFamily="34" charset="-122"/>
                <a:cs typeface="Calibri" pitchFamily="34" charset="-120"/>
              </a:rPr>
              <a:t>Für die sprachliche Überarbeitung der Texte und die grafische Gestaltung dieser Präsentation wurde das KI-Tool Claude (Anthropic) eingesetzt. Der Vorgang selbst sowie alle Zahlen, Entscheidungen und Bewertungen stammen aus meiner Tätigkeit im Einkauf und aus den betrieblichen Unterlagen zum Vorgang AF-103134-2000.</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63F46"/>
      </a:dk2>
      <a:lt2>
        <a:srgbClr val="F2F2F2"/>
      </a:lt2>
      <a:accent1>
        <a:srgbClr val="AD9467"/>
      </a:accent1>
      <a:accent2>
        <a:srgbClr val="B93A2E"/>
      </a:accent2>
      <a:accent3>
        <a:srgbClr val="5E656B"/>
      </a:accent3>
      <a:accent4>
        <a:srgbClr val="414A52"/>
      </a:accent4>
      <a:accent5>
        <a:srgbClr val="636A70"/>
      </a:accent5>
      <a:accent6>
        <a:srgbClr val="8FA0A8"/>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METALLART Treppen GmbH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Beschaffung von Grobblechen für die Fertigung</dc:title>
  <dc:subject>PptxGenJS Presentation</dc:subject>
  <dc:creator>Alex Urban</dc:creator>
  <cp:lastModifiedBy>Alex Urban</cp:lastModifiedBy>
  <cp:revision>1</cp:revision>
  <dcterms:created xsi:type="dcterms:W3CDTF">2026-09-02T15:49:33Z</dcterms:created>
  <dcterms:modified xsi:type="dcterms:W3CDTF">2026-09-02T15:49:33Z</dcterms:modified>
</cp:coreProperties>
</file>